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Welcome students. Say: Today we talk about hobbies and abilities. We will say what we like and what we can or can’t do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Ask students to repeat the mission. Gesture: heart for like, strong arms for can, hands open for 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Keep this slide quick. Say: We will warm up, listen, learn hobby words, practice can/can’t, role-play, and present.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Model with one student. Students stand and ask two friends. Accept one-word answers first, then push for a full sentence.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Ask 2 or 3 students as a model, then students ask partners. Collect favorite hobbies on the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Students point to a feeling first. Then they say one ability. Encourage shy students to speak slowly.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 each hobby word with a gesture. Keep repetition fast and fun.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Teacher reads sentences in random order. Students point or act. Round 2 is faster. Round 3: a student leads.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call and response. Teach stress: I LIKE drawing. I CAN swim. CAN you dance?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Students point to a hobby/action and build the sentence. Stronger students add: Can you ___?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Listening script 1. Read twice. Maya: Hello. I like painting. I can sing. I can’t swim yet. I feel happy when I paint. Answer: painting, sing, can’t swim, happy.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Students answer with fingers. Then say full answers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Give each pair hobby cards. Student A says a hobby. Student B asks an ability question. Then switch roles.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Model with one confident student. Then pairs repeat line by line. Finally pairs act with different feelings.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Assign each pair one role-play. Give 3 minutes to prepare and 5-7 minutes for quick performances.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Put four picture cards in the classroom corners. Students move to a corner and tell one friend one sentence.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Students ask four friends and record short answers. For low-level students, allow drawing in the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Listening script 2. Lily likes dance and can dance, but can’t play guitar. Ben likes soccer and can play soccer, but can’t swim. Sara likes reading and can ride a bike, but can’t cook.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the picture as a speaking prompt. Students choose one child and make a sentence with can or likes.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Make 2-4 teams. Keep it positive. Award bonus points for helping shy classmates speak.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final speaking task. Let students present in pairs or small groups if whole-class speaking is stressful.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Have students repeat the class chant. Ask students to show thumbs up if they agree.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Students self-assess. Ask students to choose one sentence they can say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Students must say one hobby line before leaving. Keep it positive and fast.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teacher-only slide to identify who can use hobby words and can/can’t.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Print and cut. Use for pair interviews, memory games, and hobby conversations.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Print and cut. Students match a question card with an answer card to make a dialogue.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Print and cut. Give each pair four cards. Students ask and answer, then swap cards.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Optional homework. Students ask a family member or friend three questions and bring one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Relationship Id="rId4" Type="http://schemas.openxmlformats.org/officeDocument/2006/relationships/image" Target="../media/image4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Relationship Id="rId4" Type="http://schemas.openxmlformats.org/officeDocument/2006/relationships/image" Target="../media/image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day7_crop_slide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685800"/>
            <a:ext cx="6583680" cy="5212080"/>
          </a:xfrm>
          <a:prstGeom prst="roundRect">
            <a:avLst>
              <a:gd name="adj" fmla="val 2105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841248" y="1024128"/>
            <a:ext cx="2057400" cy="411480"/>
          </a:xfrm>
          <a:prstGeom prst="roundRect">
            <a:avLst>
              <a:gd name="adj" fmla="val 15556"/>
            </a:avLst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841248" y="1143000"/>
            <a:ext cx="2057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DAY 7 · 90 MINUTES</a:t>
            </a:r>
          </a:p>
        </p:txBody>
      </p:sp>
      <p:sp>
        <p:nvSpPr>
          <p:cNvPr id="6" name="Text 3"/>
          <p:cNvSpPr/>
          <p:nvPr/>
        </p:nvSpPr>
        <p:spPr>
          <a:xfrm>
            <a:off x="841248" y="177393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Hobbies &amp; Abilities</a:t>
            </a:r>
          </a:p>
        </p:txBody>
      </p:sp>
      <p:sp>
        <p:nvSpPr>
          <p:cNvPr id="7" name="Text 4"/>
          <p:cNvSpPr/>
          <p:nvPr/>
        </p:nvSpPr>
        <p:spPr>
          <a:xfrm>
            <a:off x="841248" y="260604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Talk about hobbies and what you can do.</a:t>
            </a:r>
          </a:p>
        </p:txBody>
      </p:sp>
      <p:sp>
        <p:nvSpPr>
          <p:cNvPr id="8" name="Shape 5"/>
          <p:cNvSpPr/>
          <p:nvPr/>
        </p:nvSpPr>
        <p:spPr>
          <a:xfrm>
            <a:off x="841248" y="2926080"/>
            <a:ext cx="4846320" cy="0"/>
          </a:xfrm>
          <a:prstGeom prst="line">
            <a:avLst/>
          </a:prstGeom>
          <a:noFill/>
          <a:ln w="15240">
            <a:solidFill>
              <a:srgbClr val="83D7E7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841248" y="4169664"/>
            <a:ext cx="2423160" cy="850392"/>
          </a:xfrm>
          <a:prstGeom prst="roundRect">
            <a:avLst>
              <a:gd name="adj" fmla="val 8602"/>
            </a:avLst>
          </a:prstGeom>
          <a:solidFill>
            <a:srgbClr val="E8F7FC"/>
          </a:solidFill>
          <a:ln w="17780">
            <a:solidFill>
              <a:srgbClr val="00A8C8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042416" y="43342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🎨</a:t>
            </a:r>
          </a:p>
        </p:txBody>
      </p:sp>
      <p:sp>
        <p:nvSpPr>
          <p:cNvPr id="11" name="Text 8"/>
          <p:cNvSpPr/>
          <p:nvPr/>
        </p:nvSpPr>
        <p:spPr>
          <a:xfrm>
            <a:off x="1554480" y="4334256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I can say…</a:t>
            </a:r>
          </a:p>
        </p:txBody>
      </p:sp>
      <p:sp>
        <p:nvSpPr>
          <p:cNvPr id="12" name="Text 9"/>
          <p:cNvSpPr/>
          <p:nvPr/>
        </p:nvSpPr>
        <p:spPr>
          <a:xfrm>
            <a:off x="1554480" y="4645152"/>
            <a:ext cx="150876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“I like painting.”</a:t>
            </a:r>
          </a:p>
        </p:txBody>
      </p:sp>
      <p:sp>
        <p:nvSpPr>
          <p:cNvPr id="13" name="Shape 10"/>
          <p:cNvSpPr/>
          <p:nvPr/>
        </p:nvSpPr>
        <p:spPr>
          <a:xfrm>
            <a:off x="3456432" y="4169664"/>
            <a:ext cx="2423160" cy="850392"/>
          </a:xfrm>
          <a:prstGeom prst="roundRect">
            <a:avLst>
              <a:gd name="adj" fmla="val 8602"/>
            </a:avLst>
          </a:prstGeom>
          <a:solidFill>
            <a:srgbClr val="FFF3C4"/>
          </a:solidFill>
          <a:ln w="17780">
            <a:solidFill>
              <a:srgbClr val="FF8A00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3657600" y="43342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💪</a:t>
            </a:r>
          </a:p>
        </p:txBody>
      </p:sp>
      <p:sp>
        <p:nvSpPr>
          <p:cNvPr id="15" name="Text 12"/>
          <p:cNvSpPr/>
          <p:nvPr/>
        </p:nvSpPr>
        <p:spPr>
          <a:xfrm>
            <a:off x="4169664" y="4334256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I can do…</a:t>
            </a:r>
          </a:p>
        </p:txBody>
      </p:sp>
      <p:sp>
        <p:nvSpPr>
          <p:cNvPr id="16" name="Text 13"/>
          <p:cNvSpPr/>
          <p:nvPr/>
        </p:nvSpPr>
        <p:spPr>
          <a:xfrm>
            <a:off x="4169664" y="4645152"/>
            <a:ext cx="150876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“I can swim.”</a:t>
            </a:r>
          </a:p>
        </p:txBody>
      </p:sp>
      <p:sp>
        <p:nvSpPr>
          <p:cNvPr id="17" name="Shape 14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12700">
            <a:solidFill>
              <a:srgbClr val="83D7E7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512064" y="6656832"/>
            <a:ext cx="4389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Hobbies &amp; Abilities · Day 7 · Speaking &amp; Listening</a:t>
            </a:r>
          </a:p>
        </p:txBody>
      </p:sp>
      <p:sp>
        <p:nvSpPr>
          <p:cNvPr id="19" name="Text 16"/>
          <p:cNvSpPr/>
          <p:nvPr/>
        </p:nvSpPr>
        <p:spPr>
          <a:xfrm>
            <a:off x="11841480" y="6656832"/>
            <a:ext cx="219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50292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Today’s Mission</a:t>
            </a:r>
          </a:p>
        </p:txBody>
      </p:sp>
      <p:sp>
        <p:nvSpPr>
          <p:cNvPr id="3" name="Text 1"/>
          <p:cNvSpPr/>
          <p:nvPr/>
        </p:nvSpPr>
        <p:spPr>
          <a:xfrm>
            <a:off x="713232" y="960120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Students learn to talk about hobbies and abilities.</a:t>
            </a:r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12700">
            <a:solidFill>
              <a:srgbClr val="83D7E7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12064" y="6656832"/>
            <a:ext cx="4389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Hobbies &amp; Abilities · Day 7 · Speaking &amp; Listening</a:t>
            </a:r>
          </a:p>
        </p:txBody>
      </p:sp>
      <p:sp>
        <p:nvSpPr>
          <p:cNvPr id="6" name="Text 4"/>
          <p:cNvSpPr/>
          <p:nvPr/>
        </p:nvSpPr>
        <p:spPr>
          <a:xfrm>
            <a:off x="11841480" y="6656832"/>
            <a:ext cx="219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02</a:t>
            </a:r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By the end of class, I can say my hobbies and ask what a friend can do.</a:t>
            </a:r>
          </a:p>
        </p:txBody>
      </p:sp>
      <p:sp>
        <p:nvSpPr>
          <p:cNvPr id="8" name="Shape 6"/>
          <p:cNvSpPr/>
          <p:nvPr/>
        </p:nvSpPr>
        <p:spPr>
          <a:xfrm>
            <a:off x="868680" y="2057400"/>
            <a:ext cx="3154680" cy="1051560"/>
          </a:xfrm>
          <a:prstGeom prst="roundRect">
            <a:avLst>
              <a:gd name="adj" fmla="val 6957"/>
            </a:avLst>
          </a:prstGeom>
          <a:solidFill>
            <a:srgbClr val="E8F7FC"/>
          </a:solidFill>
          <a:ln w="17780">
            <a:solidFill>
              <a:srgbClr val="00A8C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69848" y="2221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👂</a:t>
            </a:r>
          </a:p>
        </p:txBody>
      </p:sp>
      <p:sp>
        <p:nvSpPr>
          <p:cNvPr id="10" name="Text 8"/>
          <p:cNvSpPr/>
          <p:nvPr/>
        </p:nvSpPr>
        <p:spPr>
          <a:xfrm>
            <a:off x="1581912" y="222199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Listen</a:t>
            </a:r>
          </a:p>
        </p:txBody>
      </p:sp>
      <p:sp>
        <p:nvSpPr>
          <p:cNvPr id="11" name="Text 9"/>
          <p:cNvSpPr/>
          <p:nvPr/>
        </p:nvSpPr>
        <p:spPr>
          <a:xfrm>
            <a:off x="1581912" y="2532888"/>
            <a:ext cx="2240280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I can hear hobby words and can / can’t.</a:t>
            </a:r>
          </a:p>
        </p:txBody>
      </p:sp>
      <p:sp>
        <p:nvSpPr>
          <p:cNvPr id="12" name="Shape 10"/>
          <p:cNvSpPr/>
          <p:nvPr/>
        </p:nvSpPr>
        <p:spPr>
          <a:xfrm>
            <a:off x="4526280" y="2057400"/>
            <a:ext cx="3154680" cy="1051560"/>
          </a:xfrm>
          <a:prstGeom prst="roundRect">
            <a:avLst>
              <a:gd name="adj" fmla="val 6957"/>
            </a:avLst>
          </a:prstGeom>
          <a:solidFill>
            <a:srgbClr val="FFEAF2"/>
          </a:solidFill>
          <a:ln w="17780">
            <a:solidFill>
              <a:srgbClr val="FF4F8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727448" y="2221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🗣️</a:t>
            </a:r>
          </a:p>
        </p:txBody>
      </p:sp>
      <p:sp>
        <p:nvSpPr>
          <p:cNvPr id="14" name="Text 12"/>
          <p:cNvSpPr/>
          <p:nvPr/>
        </p:nvSpPr>
        <p:spPr>
          <a:xfrm>
            <a:off x="5239512" y="222199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Speak</a:t>
            </a:r>
          </a:p>
        </p:txBody>
      </p:sp>
      <p:sp>
        <p:nvSpPr>
          <p:cNvPr id="15" name="Text 13"/>
          <p:cNvSpPr/>
          <p:nvPr/>
        </p:nvSpPr>
        <p:spPr>
          <a:xfrm>
            <a:off x="5239512" y="2532888"/>
            <a:ext cx="2240280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I can say: I like drawing. I can sing.</a:t>
            </a:r>
          </a:p>
        </p:txBody>
      </p:sp>
      <p:sp>
        <p:nvSpPr>
          <p:cNvPr id="16" name="Shape 14"/>
          <p:cNvSpPr/>
          <p:nvPr/>
        </p:nvSpPr>
        <p:spPr>
          <a:xfrm>
            <a:off x="8183880" y="2057400"/>
            <a:ext cx="3154680" cy="1051560"/>
          </a:xfrm>
          <a:prstGeom prst="roundRect">
            <a:avLst>
              <a:gd name="adj" fmla="val 6957"/>
            </a:avLst>
          </a:prstGeom>
          <a:solidFill>
            <a:srgbClr val="EAF9F2"/>
          </a:solidFill>
          <a:ln w="17780">
            <a:solidFill>
              <a:srgbClr val="0B7F8D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385048" y="2221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🤝</a:t>
            </a:r>
          </a:p>
        </p:txBody>
      </p:sp>
      <p:sp>
        <p:nvSpPr>
          <p:cNvPr id="18" name="Text 16"/>
          <p:cNvSpPr/>
          <p:nvPr/>
        </p:nvSpPr>
        <p:spPr>
          <a:xfrm>
            <a:off x="8897112" y="222199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Connect</a:t>
            </a:r>
          </a:p>
        </p:txBody>
      </p:sp>
      <p:sp>
        <p:nvSpPr>
          <p:cNvPr id="19" name="Text 17"/>
          <p:cNvSpPr/>
          <p:nvPr/>
        </p:nvSpPr>
        <p:spPr>
          <a:xfrm>
            <a:off x="8897112" y="2532888"/>
            <a:ext cx="2240280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I can ask a friend: Can you dance?</a:t>
            </a:r>
          </a:p>
        </p:txBody>
      </p:sp>
      <p:sp>
        <p:nvSpPr>
          <p:cNvPr id="20" name="Text 18"/>
          <p:cNvSpPr/>
          <p:nvPr/>
        </p:nvSpPr>
        <p:spPr>
          <a:xfrm>
            <a:off x="868680" y="4937760"/>
            <a:ext cx="1060704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t>Class promise: Try every sentence. Use kind words. Help your partner speak.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50292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90-Minute Class Map</a:t>
            </a:r>
          </a:p>
        </p:txBody>
      </p:sp>
      <p:sp>
        <p:nvSpPr>
          <p:cNvPr id="3" name="Text 1"/>
          <p:cNvSpPr/>
          <p:nvPr/>
        </p:nvSpPr>
        <p:spPr>
          <a:xfrm>
            <a:off x="713232" y="960120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Use this slide to tell students what will happen today.</a:t>
            </a:r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12700">
            <a:solidFill>
              <a:srgbClr val="83D7E7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12064" y="6656832"/>
            <a:ext cx="4389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Hobbies &amp; Abilities · Day 7 · Speaking &amp; Listening</a:t>
            </a:r>
          </a:p>
        </p:txBody>
      </p:sp>
      <p:sp>
        <p:nvSpPr>
          <p:cNvPr id="6" name="Text 4"/>
          <p:cNvSpPr/>
          <p:nvPr/>
        </p:nvSpPr>
        <p:spPr>
          <a:xfrm>
            <a:off x="11841480" y="6656832"/>
            <a:ext cx="219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03</a:t>
            </a:r>
          </a:p>
        </p:txBody>
      </p:sp>
      <p:sp>
        <p:nvSpPr>
          <p:cNvPr id="7" name="Shape 5"/>
          <p:cNvSpPr/>
          <p:nvPr/>
        </p:nvSpPr>
        <p:spPr>
          <a:xfrm>
            <a:off x="685800" y="1920240"/>
            <a:ext cx="1691640" cy="2057400"/>
          </a:xfrm>
          <a:prstGeom prst="roundRect">
            <a:avLst>
              <a:gd name="adj" fmla="val 3243"/>
            </a:avLst>
          </a:prstGeom>
          <a:solidFill>
            <a:srgbClr val="E8F7FC"/>
          </a:solidFill>
          <a:ln w="15240">
            <a:solidFill>
              <a:srgbClr val="00A8C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20299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☕</a:t>
            </a:r>
          </a:p>
        </p:txBody>
      </p:sp>
      <p:sp>
        <p:nvSpPr>
          <p:cNvPr id="9" name="Text 7"/>
          <p:cNvSpPr/>
          <p:nvPr/>
        </p:nvSpPr>
        <p:spPr>
          <a:xfrm>
            <a:off x="1188720" y="202996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Hobby Warm-up</a:t>
            </a:r>
          </a:p>
        </p:txBody>
      </p:sp>
      <p:sp>
        <p:nvSpPr>
          <p:cNvPr id="10" name="Text 8"/>
          <p:cNvSpPr/>
          <p:nvPr/>
        </p:nvSpPr>
        <p:spPr>
          <a:xfrm>
            <a:off x="1188720" y="2267712"/>
            <a:ext cx="1051560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0–10</a:t>
            </a:r>
          </a:p>
          <a:p>
            <a:r>
              <a:t>quick sharing</a:t>
            </a:r>
          </a:p>
        </p:txBody>
      </p:sp>
      <p:sp>
        <p:nvSpPr>
          <p:cNvPr id="11" name="Shape 9"/>
          <p:cNvSpPr/>
          <p:nvPr/>
        </p:nvSpPr>
        <p:spPr>
          <a:xfrm>
            <a:off x="2560320" y="1920240"/>
            <a:ext cx="1691640" cy="2057400"/>
          </a:xfrm>
          <a:prstGeom prst="roundRect">
            <a:avLst>
              <a:gd name="adj" fmla="val 3243"/>
            </a:avLst>
          </a:prstGeom>
          <a:solidFill>
            <a:srgbClr val="FFF3C4"/>
          </a:solidFill>
          <a:ln w="15240">
            <a:solidFill>
              <a:srgbClr val="FF8A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697480" y="20299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👂</a:t>
            </a:r>
          </a:p>
        </p:txBody>
      </p:sp>
      <p:sp>
        <p:nvSpPr>
          <p:cNvPr id="13" name="Text 11"/>
          <p:cNvSpPr/>
          <p:nvPr/>
        </p:nvSpPr>
        <p:spPr>
          <a:xfrm>
            <a:off x="3063240" y="202996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Listen &amp; Point</a:t>
            </a:r>
          </a:p>
        </p:txBody>
      </p:sp>
      <p:sp>
        <p:nvSpPr>
          <p:cNvPr id="14" name="Text 12"/>
          <p:cNvSpPr/>
          <p:nvPr/>
        </p:nvSpPr>
        <p:spPr>
          <a:xfrm>
            <a:off x="3063240" y="2267712"/>
            <a:ext cx="1051560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10–25</a:t>
            </a:r>
          </a:p>
          <a:p>
            <a:r>
              <a:t>hear hobbies</a:t>
            </a:r>
          </a:p>
        </p:txBody>
      </p:sp>
      <p:sp>
        <p:nvSpPr>
          <p:cNvPr id="15" name="Shape 13"/>
          <p:cNvSpPr/>
          <p:nvPr/>
        </p:nvSpPr>
        <p:spPr>
          <a:xfrm>
            <a:off x="4434840" y="1920240"/>
            <a:ext cx="1691640" cy="2057400"/>
          </a:xfrm>
          <a:prstGeom prst="roundRect">
            <a:avLst>
              <a:gd name="adj" fmla="val 3243"/>
            </a:avLst>
          </a:prstGeom>
          <a:solidFill>
            <a:srgbClr val="E8F7FC"/>
          </a:solidFill>
          <a:ln w="15240">
            <a:solidFill>
              <a:srgbClr val="00A8C8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572000" y="20299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📋</a:t>
            </a:r>
          </a:p>
        </p:txBody>
      </p:sp>
      <p:sp>
        <p:nvSpPr>
          <p:cNvPr id="17" name="Text 15"/>
          <p:cNvSpPr/>
          <p:nvPr/>
        </p:nvSpPr>
        <p:spPr>
          <a:xfrm>
            <a:off x="4937760" y="202996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Hobby Words</a:t>
            </a:r>
          </a:p>
        </p:txBody>
      </p:sp>
      <p:sp>
        <p:nvSpPr>
          <p:cNvPr id="18" name="Text 16"/>
          <p:cNvSpPr/>
          <p:nvPr/>
        </p:nvSpPr>
        <p:spPr>
          <a:xfrm>
            <a:off x="4937760" y="2267712"/>
            <a:ext cx="1051560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25–40</a:t>
            </a:r>
          </a:p>
          <a:p>
            <a:r>
              <a:t>12 key words</a:t>
            </a:r>
          </a:p>
        </p:txBody>
      </p:sp>
      <p:sp>
        <p:nvSpPr>
          <p:cNvPr id="19" name="Shape 17"/>
          <p:cNvSpPr/>
          <p:nvPr/>
        </p:nvSpPr>
        <p:spPr>
          <a:xfrm>
            <a:off x="6309360" y="1920240"/>
            <a:ext cx="1691640" cy="2057400"/>
          </a:xfrm>
          <a:prstGeom prst="roundRect">
            <a:avLst>
              <a:gd name="adj" fmla="val 3243"/>
            </a:avLst>
          </a:prstGeom>
          <a:solidFill>
            <a:srgbClr val="FFF3C4"/>
          </a:solidFill>
          <a:ln w="15240">
            <a:solidFill>
              <a:srgbClr val="FF8A0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46520" y="20299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💵</a:t>
            </a:r>
          </a:p>
        </p:txBody>
      </p:sp>
      <p:sp>
        <p:nvSpPr>
          <p:cNvPr id="21" name="Text 19"/>
          <p:cNvSpPr/>
          <p:nvPr/>
        </p:nvSpPr>
        <p:spPr>
          <a:xfrm>
            <a:off x="6812280" y="202996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Can / Can’t</a:t>
            </a:r>
          </a:p>
        </p:txBody>
      </p:sp>
      <p:sp>
        <p:nvSpPr>
          <p:cNvPr id="22" name="Text 20"/>
          <p:cNvSpPr/>
          <p:nvPr/>
        </p:nvSpPr>
        <p:spPr>
          <a:xfrm>
            <a:off x="6812280" y="2267712"/>
            <a:ext cx="1051560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40–55</a:t>
            </a:r>
          </a:p>
          <a:p>
            <a:r>
              <a:t>ability practice</a:t>
            </a:r>
          </a:p>
        </p:txBody>
      </p:sp>
      <p:sp>
        <p:nvSpPr>
          <p:cNvPr id="23" name="Shape 21"/>
          <p:cNvSpPr/>
          <p:nvPr/>
        </p:nvSpPr>
        <p:spPr>
          <a:xfrm>
            <a:off x="8183880" y="1920240"/>
            <a:ext cx="1691640" cy="2057400"/>
          </a:xfrm>
          <a:prstGeom prst="roundRect">
            <a:avLst>
              <a:gd name="adj" fmla="val 3243"/>
            </a:avLst>
          </a:prstGeom>
          <a:solidFill>
            <a:srgbClr val="E8F7FC"/>
          </a:solidFill>
          <a:ln w="15240">
            <a:solidFill>
              <a:srgbClr val="00A8C8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321040" y="20299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🎭</a:t>
            </a:r>
          </a:p>
        </p:txBody>
      </p:sp>
      <p:sp>
        <p:nvSpPr>
          <p:cNvPr id="25" name="Text 23"/>
          <p:cNvSpPr/>
          <p:nvPr/>
        </p:nvSpPr>
        <p:spPr>
          <a:xfrm>
            <a:off x="8686800" y="202996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Hobby Club</a:t>
            </a:r>
          </a:p>
        </p:txBody>
      </p:sp>
      <p:sp>
        <p:nvSpPr>
          <p:cNvPr id="26" name="Text 24"/>
          <p:cNvSpPr/>
          <p:nvPr/>
        </p:nvSpPr>
        <p:spPr>
          <a:xfrm>
            <a:off x="8686800" y="2267712"/>
            <a:ext cx="1051560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55–75</a:t>
            </a:r>
          </a:p>
          <a:p>
            <a:r>
              <a:t>ask + answer</a:t>
            </a:r>
          </a:p>
        </p:txBody>
      </p:sp>
      <p:sp>
        <p:nvSpPr>
          <p:cNvPr id="27" name="Shape 25"/>
          <p:cNvSpPr/>
          <p:nvPr/>
        </p:nvSpPr>
        <p:spPr>
          <a:xfrm>
            <a:off x="10058400" y="1920240"/>
            <a:ext cx="1691640" cy="2057400"/>
          </a:xfrm>
          <a:prstGeom prst="roundRect">
            <a:avLst>
              <a:gd name="adj" fmla="val 3243"/>
            </a:avLst>
          </a:prstGeom>
          <a:solidFill>
            <a:srgbClr val="FFF3C4"/>
          </a:solidFill>
          <a:ln w="15240">
            <a:solidFill>
              <a:srgbClr val="FF8A00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0195560" y="20299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⭐</a:t>
            </a:r>
          </a:p>
        </p:txBody>
      </p:sp>
      <p:sp>
        <p:nvSpPr>
          <p:cNvPr id="29" name="Text 27"/>
          <p:cNvSpPr/>
          <p:nvPr/>
        </p:nvSpPr>
        <p:spPr>
          <a:xfrm>
            <a:off x="10561320" y="202996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Show &amp; Reflect</a:t>
            </a:r>
          </a:p>
        </p:txBody>
      </p:sp>
      <p:sp>
        <p:nvSpPr>
          <p:cNvPr id="30" name="Text 28"/>
          <p:cNvSpPr/>
          <p:nvPr/>
        </p:nvSpPr>
        <p:spPr>
          <a:xfrm>
            <a:off x="10561320" y="2267712"/>
            <a:ext cx="1051560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75–90</a:t>
            </a:r>
          </a:p>
          <a:p>
            <a:r>
              <a:t>mini talk</a:t>
            </a:r>
          </a:p>
        </p:txBody>
      </p:sp>
      <p:sp>
        <p:nvSpPr>
          <p:cNvPr id="31" name="Text 29"/>
          <p:cNvSpPr/>
          <p:nvPr/>
        </p:nvSpPr>
        <p:spPr>
          <a:xfrm>
            <a:off x="868680" y="512064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Teacher tip: Students should say “I like…” and “I can…” many times today.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50292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Quick Hobby Warm-up</a:t>
            </a:r>
          </a:p>
        </p:txBody>
      </p:sp>
      <p:sp>
        <p:nvSpPr>
          <p:cNvPr id="3" name="Text 1"/>
          <p:cNvSpPr/>
          <p:nvPr/>
        </p:nvSpPr>
        <p:spPr>
          <a:xfrm>
            <a:off x="713232" y="960120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Start speaking in the first 5 minutes.</a:t>
            </a:r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12700">
            <a:solidFill>
              <a:srgbClr val="83D7E7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12064" y="6656832"/>
            <a:ext cx="4389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Hobbies &amp; Abilities · Day 7 · Speaking &amp; Listening</a:t>
            </a:r>
          </a:p>
        </p:txBody>
      </p:sp>
      <p:sp>
        <p:nvSpPr>
          <p:cNvPr id="6" name="Text 4"/>
          <p:cNvSpPr/>
          <p:nvPr/>
        </p:nvSpPr>
        <p:spPr>
          <a:xfrm>
            <a:off x="11841480" y="6656832"/>
            <a:ext cx="219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04</a:t>
            </a:r>
          </a:p>
        </p:txBody>
      </p:sp>
      <p:pic>
        <p:nvPicPr>
          <p:cNvPr id="19" name="Picture 18" descr="day7_crop_slide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417320"/>
            <a:ext cx="4800600" cy="4069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1417320"/>
            <a:ext cx="4800600" cy="4069080"/>
          </a:xfrm>
          <a:prstGeom prst="roundRect">
            <a:avLst>
              <a:gd name="adj" fmla="val 1798"/>
            </a:avLst>
          </a:prstGeom>
          <a:solidFill>
            <a:srgbClr val="FFFFFF">
              <a:alpha val="0"/>
            </a:srgbClr>
          </a:solidFill>
          <a:ln w="25400">
            <a:solidFill>
              <a:srgbClr val="FFFFFF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5806440" y="1554480"/>
            <a:ext cx="5394960" cy="1325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t>Teacher: What do you like to do?</a:t>
            </a:r>
          </a:p>
          <a:p>
            <a:r>
              <a:t>Student: I like _____.</a:t>
            </a:r>
          </a:p>
          <a:p>
            <a:r>
              <a:t>Teacher: Can you _____?</a:t>
            </a:r>
          </a:p>
          <a:p>
            <a:r>
              <a:t>Student: Yes, I can. / No, I can’t.</a:t>
            </a:r>
          </a:p>
        </p:txBody>
      </p:sp>
      <p:sp>
        <p:nvSpPr>
          <p:cNvPr id="10" name="Shape 7"/>
          <p:cNvSpPr/>
          <p:nvPr/>
        </p:nvSpPr>
        <p:spPr>
          <a:xfrm>
            <a:off x="5989320" y="333756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E8F7FC"/>
          </a:solidFill>
          <a:ln w="17780">
            <a:solidFill>
              <a:srgbClr val="00A8C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190488" y="3502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🎨</a:t>
            </a:r>
          </a:p>
        </p:txBody>
      </p:sp>
      <p:sp>
        <p:nvSpPr>
          <p:cNvPr id="12" name="Text 9"/>
          <p:cNvSpPr/>
          <p:nvPr/>
        </p:nvSpPr>
        <p:spPr>
          <a:xfrm>
            <a:off x="6702552" y="350215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Creative</a:t>
            </a:r>
          </a:p>
        </p:txBody>
      </p:sp>
      <p:sp>
        <p:nvSpPr>
          <p:cNvPr id="13" name="Text 10"/>
          <p:cNvSpPr/>
          <p:nvPr/>
        </p:nvSpPr>
        <p:spPr>
          <a:xfrm>
            <a:off x="6702552" y="3813048"/>
            <a:ext cx="146304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draw · paint · sing</a:t>
            </a:r>
          </a:p>
        </p:txBody>
      </p:sp>
      <p:sp>
        <p:nvSpPr>
          <p:cNvPr id="14" name="Shape 11"/>
          <p:cNvSpPr/>
          <p:nvPr/>
        </p:nvSpPr>
        <p:spPr>
          <a:xfrm>
            <a:off x="8732520" y="333756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FFF3C4"/>
          </a:solidFill>
          <a:ln w="17780">
            <a:solidFill>
              <a:srgbClr val="FF8A00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8933688" y="3502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⚽</a:t>
            </a:r>
          </a:p>
        </p:txBody>
      </p:sp>
      <p:sp>
        <p:nvSpPr>
          <p:cNvPr id="16" name="Text 13"/>
          <p:cNvSpPr/>
          <p:nvPr/>
        </p:nvSpPr>
        <p:spPr>
          <a:xfrm>
            <a:off x="9445752" y="350215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Active</a:t>
            </a:r>
          </a:p>
        </p:txBody>
      </p:sp>
      <p:sp>
        <p:nvSpPr>
          <p:cNvPr id="17" name="Text 14"/>
          <p:cNvSpPr/>
          <p:nvPr/>
        </p:nvSpPr>
        <p:spPr>
          <a:xfrm>
            <a:off x="9445752" y="3813048"/>
            <a:ext cx="146304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swim · dance · play soccer</a:t>
            </a:r>
          </a:p>
        </p:txBody>
      </p:sp>
      <p:sp>
        <p:nvSpPr>
          <p:cNvPr id="18" name="Text 15"/>
          <p:cNvSpPr/>
          <p:nvPr/>
        </p:nvSpPr>
        <p:spPr>
          <a:xfrm>
            <a:off x="5943600" y="489204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Action: Ask 2 classmates and remember one hobby.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50292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Teacher Wants to Know You</a:t>
            </a:r>
          </a:p>
        </p:txBody>
      </p:sp>
      <p:sp>
        <p:nvSpPr>
          <p:cNvPr id="3" name="Text 1"/>
          <p:cNvSpPr/>
          <p:nvPr/>
        </p:nvSpPr>
        <p:spPr>
          <a:xfrm>
            <a:off x="713232" y="960120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Ask slowly. Students can answer with one word or a full sentence.</a:t>
            </a:r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12700">
            <a:solidFill>
              <a:srgbClr val="83D7E7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12064" y="6656832"/>
            <a:ext cx="4389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Hobbies &amp; Abilities · Day 7 · Speaking &amp; Listening</a:t>
            </a:r>
          </a:p>
        </p:txBody>
      </p:sp>
      <p:sp>
        <p:nvSpPr>
          <p:cNvPr id="6" name="Text 4"/>
          <p:cNvSpPr/>
          <p:nvPr/>
        </p:nvSpPr>
        <p:spPr>
          <a:xfrm>
            <a:off x="11841480" y="6656832"/>
            <a:ext cx="219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05</a:t>
            </a:r>
          </a:p>
        </p:txBody>
      </p:sp>
      <p:sp>
        <p:nvSpPr>
          <p:cNvPr id="7" name="Shape 5"/>
          <p:cNvSpPr/>
          <p:nvPr/>
        </p:nvSpPr>
        <p:spPr>
          <a:xfrm>
            <a:off x="822960" y="1444752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E8F7FC"/>
          </a:solidFill>
          <a:ln w="17780">
            <a:solidFill>
              <a:srgbClr val="00A8C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24128" y="16093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🎨</a:t>
            </a:r>
          </a:p>
        </p:txBody>
      </p:sp>
      <p:sp>
        <p:nvSpPr>
          <p:cNvPr id="9" name="Text 7"/>
          <p:cNvSpPr/>
          <p:nvPr/>
        </p:nvSpPr>
        <p:spPr>
          <a:xfrm>
            <a:off x="1536192" y="160934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What hobby do you like?</a:t>
            </a:r>
          </a:p>
        </p:txBody>
      </p:sp>
      <p:sp>
        <p:nvSpPr>
          <p:cNvPr id="10" name="Text 8"/>
          <p:cNvSpPr/>
          <p:nvPr/>
        </p:nvSpPr>
        <p:spPr>
          <a:xfrm>
            <a:off x="1536192" y="1920240"/>
            <a:ext cx="42062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I like _____.</a:t>
            </a:r>
          </a:p>
        </p:txBody>
      </p:sp>
      <p:sp>
        <p:nvSpPr>
          <p:cNvPr id="11" name="Shape 9"/>
          <p:cNvSpPr/>
          <p:nvPr/>
        </p:nvSpPr>
        <p:spPr>
          <a:xfrm>
            <a:off x="6446520" y="1444752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FF3C4"/>
          </a:solidFill>
          <a:ln w="17780">
            <a:solidFill>
              <a:srgbClr val="FF8A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47688" y="16093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⚽</a:t>
            </a:r>
          </a:p>
        </p:txBody>
      </p:sp>
      <p:sp>
        <p:nvSpPr>
          <p:cNvPr id="13" name="Text 11"/>
          <p:cNvSpPr/>
          <p:nvPr/>
        </p:nvSpPr>
        <p:spPr>
          <a:xfrm>
            <a:off x="7159752" y="160934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Do you like sports?</a:t>
            </a:r>
          </a:p>
        </p:txBody>
      </p:sp>
      <p:sp>
        <p:nvSpPr>
          <p:cNvPr id="14" name="Text 12"/>
          <p:cNvSpPr/>
          <p:nvPr/>
        </p:nvSpPr>
        <p:spPr>
          <a:xfrm>
            <a:off x="7159752" y="1920240"/>
            <a:ext cx="42062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Yes, I do. / No, I don’t.</a:t>
            </a:r>
          </a:p>
        </p:txBody>
      </p:sp>
      <p:sp>
        <p:nvSpPr>
          <p:cNvPr id="15" name="Shape 13"/>
          <p:cNvSpPr/>
          <p:nvPr/>
        </p:nvSpPr>
        <p:spPr>
          <a:xfrm>
            <a:off x="822960" y="2679192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E8F7FC"/>
          </a:solidFill>
          <a:ln w="17780">
            <a:solidFill>
              <a:srgbClr val="00A8C8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024128" y="28437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🎵</a:t>
            </a:r>
          </a:p>
        </p:txBody>
      </p:sp>
      <p:sp>
        <p:nvSpPr>
          <p:cNvPr id="17" name="Text 15"/>
          <p:cNvSpPr/>
          <p:nvPr/>
        </p:nvSpPr>
        <p:spPr>
          <a:xfrm>
            <a:off x="1536192" y="284378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Can you sing?</a:t>
            </a:r>
          </a:p>
        </p:txBody>
      </p:sp>
      <p:sp>
        <p:nvSpPr>
          <p:cNvPr id="18" name="Text 16"/>
          <p:cNvSpPr/>
          <p:nvPr/>
        </p:nvSpPr>
        <p:spPr>
          <a:xfrm>
            <a:off x="1536192" y="3154680"/>
            <a:ext cx="42062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Yes, I can. / No, I can’t.</a:t>
            </a:r>
          </a:p>
        </p:txBody>
      </p:sp>
      <p:sp>
        <p:nvSpPr>
          <p:cNvPr id="19" name="Shape 17"/>
          <p:cNvSpPr/>
          <p:nvPr/>
        </p:nvSpPr>
        <p:spPr>
          <a:xfrm>
            <a:off x="6446520" y="2679192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FF3C4"/>
          </a:solidFill>
          <a:ln w="17780">
            <a:solidFill>
              <a:srgbClr val="FF8A0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647688" y="28437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🚲</a:t>
            </a:r>
          </a:p>
        </p:txBody>
      </p:sp>
      <p:sp>
        <p:nvSpPr>
          <p:cNvPr id="21" name="Text 19"/>
          <p:cNvSpPr/>
          <p:nvPr/>
        </p:nvSpPr>
        <p:spPr>
          <a:xfrm>
            <a:off x="7159752" y="284378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Can you ride a bike?</a:t>
            </a:r>
          </a:p>
        </p:txBody>
      </p:sp>
      <p:sp>
        <p:nvSpPr>
          <p:cNvPr id="22" name="Text 20"/>
          <p:cNvSpPr/>
          <p:nvPr/>
        </p:nvSpPr>
        <p:spPr>
          <a:xfrm>
            <a:off x="7159752" y="3154680"/>
            <a:ext cx="42062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Yes, I can.</a:t>
            </a:r>
          </a:p>
        </p:txBody>
      </p:sp>
      <p:sp>
        <p:nvSpPr>
          <p:cNvPr id="23" name="Shape 21"/>
          <p:cNvSpPr/>
          <p:nvPr/>
        </p:nvSpPr>
        <p:spPr>
          <a:xfrm>
            <a:off x="822960" y="3913632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E8F7FC"/>
          </a:solidFill>
          <a:ln w="17780">
            <a:solidFill>
              <a:srgbClr val="00A8C8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024128" y="40782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🤝</a:t>
            </a:r>
          </a:p>
        </p:txBody>
      </p:sp>
      <p:sp>
        <p:nvSpPr>
          <p:cNvPr id="25" name="Text 23"/>
          <p:cNvSpPr/>
          <p:nvPr/>
        </p:nvSpPr>
        <p:spPr>
          <a:xfrm>
            <a:off x="1536192" y="407822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Can you ask a friend?</a:t>
            </a:r>
          </a:p>
        </p:txBody>
      </p:sp>
      <p:sp>
        <p:nvSpPr>
          <p:cNvPr id="26" name="Text 24"/>
          <p:cNvSpPr/>
          <p:nvPr/>
        </p:nvSpPr>
        <p:spPr>
          <a:xfrm>
            <a:off x="1536192" y="4389120"/>
            <a:ext cx="42062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Can you _____?</a:t>
            </a:r>
          </a:p>
        </p:txBody>
      </p:sp>
      <p:sp>
        <p:nvSpPr>
          <p:cNvPr id="27" name="Shape 25"/>
          <p:cNvSpPr/>
          <p:nvPr/>
        </p:nvSpPr>
        <p:spPr>
          <a:xfrm>
            <a:off x="6446520" y="3913632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FF3C4"/>
          </a:solidFill>
          <a:ln w="17780">
            <a:solidFill>
              <a:srgbClr val="FF8A00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647688" y="40782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⭐</a:t>
            </a:r>
          </a:p>
        </p:txBody>
      </p:sp>
      <p:sp>
        <p:nvSpPr>
          <p:cNvPr id="29" name="Text 27"/>
          <p:cNvSpPr/>
          <p:nvPr/>
        </p:nvSpPr>
        <p:spPr>
          <a:xfrm>
            <a:off x="7159752" y="407822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Can you share proudly?</a:t>
            </a:r>
          </a:p>
        </p:txBody>
      </p:sp>
      <p:sp>
        <p:nvSpPr>
          <p:cNvPr id="30" name="Text 28"/>
          <p:cNvSpPr/>
          <p:nvPr/>
        </p:nvSpPr>
        <p:spPr>
          <a:xfrm>
            <a:off x="7159752" y="4389120"/>
            <a:ext cx="42062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I can _____.</a:t>
            </a:r>
          </a:p>
        </p:txBody>
      </p:sp>
      <p:sp>
        <p:nvSpPr>
          <p:cNvPr id="31" name="Text 29"/>
          <p:cNvSpPr/>
          <p:nvPr/>
        </p:nvSpPr>
        <p:spPr>
          <a:xfrm>
            <a:off x="868680" y="55778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Teacher note: Write one “class hobby list” on the board.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50292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How Do You Feel Trying a Hobby?</a:t>
            </a:r>
          </a:p>
        </p:txBody>
      </p:sp>
      <p:sp>
        <p:nvSpPr>
          <p:cNvPr id="3" name="Text 1"/>
          <p:cNvSpPr/>
          <p:nvPr/>
        </p:nvSpPr>
        <p:spPr>
          <a:xfrm>
            <a:off x="713232" y="960120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Students choose a feeling before speaking.</a:t>
            </a:r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12700">
            <a:solidFill>
              <a:srgbClr val="83D7E7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12064" y="6656832"/>
            <a:ext cx="4389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Hobbies &amp; Abilities · Day 7 · Speaking &amp; Listening</a:t>
            </a:r>
          </a:p>
        </p:txBody>
      </p:sp>
      <p:sp>
        <p:nvSpPr>
          <p:cNvPr id="6" name="Text 4"/>
          <p:cNvSpPr/>
          <p:nvPr/>
        </p:nvSpPr>
        <p:spPr>
          <a:xfrm>
            <a:off x="11841480" y="6656832"/>
            <a:ext cx="219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06</a:t>
            </a:r>
          </a:p>
        </p:txBody>
      </p:sp>
      <p:sp>
        <p:nvSpPr>
          <p:cNvPr id="7" name="Shape 5"/>
          <p:cNvSpPr/>
          <p:nvPr/>
        </p:nvSpPr>
        <p:spPr>
          <a:xfrm>
            <a:off x="777240" y="1828800"/>
            <a:ext cx="1993392" cy="1874520"/>
          </a:xfrm>
          <a:prstGeom prst="roundRect">
            <a:avLst>
              <a:gd name="adj" fmla="val 2927"/>
            </a:avLst>
          </a:prstGeom>
          <a:solidFill>
            <a:srgbClr val="FFEAF2"/>
          </a:solidFill>
          <a:ln w="15240">
            <a:solidFill>
              <a:srgbClr val="FF4F8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19385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😊</a:t>
            </a:r>
          </a:p>
        </p:txBody>
      </p:sp>
      <p:sp>
        <p:nvSpPr>
          <p:cNvPr id="9" name="Text 7"/>
          <p:cNvSpPr/>
          <p:nvPr/>
        </p:nvSpPr>
        <p:spPr>
          <a:xfrm>
            <a:off x="1280160" y="1938528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happy</a:t>
            </a:r>
          </a:p>
        </p:txBody>
      </p:sp>
      <p:sp>
        <p:nvSpPr>
          <p:cNvPr id="10" name="Text 8"/>
          <p:cNvSpPr/>
          <p:nvPr/>
        </p:nvSpPr>
        <p:spPr>
          <a:xfrm>
            <a:off x="1280160" y="2176272"/>
            <a:ext cx="1353312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I am happy when I draw.</a:t>
            </a:r>
          </a:p>
        </p:txBody>
      </p:sp>
      <p:sp>
        <p:nvSpPr>
          <p:cNvPr id="11" name="Shape 9"/>
          <p:cNvSpPr/>
          <p:nvPr/>
        </p:nvSpPr>
        <p:spPr>
          <a:xfrm>
            <a:off x="3044952" y="1828800"/>
            <a:ext cx="1993392" cy="1874520"/>
          </a:xfrm>
          <a:prstGeom prst="roundRect">
            <a:avLst>
              <a:gd name="adj" fmla="val 2927"/>
            </a:avLst>
          </a:prstGeom>
          <a:solidFill>
            <a:srgbClr val="FFF3C4"/>
          </a:solidFill>
          <a:ln w="15240">
            <a:solidFill>
              <a:srgbClr val="FF8A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182112" y="19385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💪</a:t>
            </a:r>
          </a:p>
        </p:txBody>
      </p:sp>
      <p:sp>
        <p:nvSpPr>
          <p:cNvPr id="13" name="Text 11"/>
          <p:cNvSpPr/>
          <p:nvPr/>
        </p:nvSpPr>
        <p:spPr>
          <a:xfrm>
            <a:off x="3547872" y="1938528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brave</a:t>
            </a:r>
          </a:p>
        </p:txBody>
      </p:sp>
      <p:sp>
        <p:nvSpPr>
          <p:cNvPr id="14" name="Text 12"/>
          <p:cNvSpPr/>
          <p:nvPr/>
        </p:nvSpPr>
        <p:spPr>
          <a:xfrm>
            <a:off x="3547872" y="2176272"/>
            <a:ext cx="1353312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I can try a new hobby.</a:t>
            </a:r>
          </a:p>
        </p:txBody>
      </p:sp>
      <p:sp>
        <p:nvSpPr>
          <p:cNvPr id="15" name="Shape 13"/>
          <p:cNvSpPr/>
          <p:nvPr/>
        </p:nvSpPr>
        <p:spPr>
          <a:xfrm>
            <a:off x="5312664" y="1828800"/>
            <a:ext cx="1993392" cy="1874520"/>
          </a:xfrm>
          <a:prstGeom prst="roundRect">
            <a:avLst>
              <a:gd name="adj" fmla="val 2927"/>
            </a:avLst>
          </a:prstGeom>
          <a:solidFill>
            <a:srgbClr val="FFEAF2"/>
          </a:solidFill>
          <a:ln w="15240">
            <a:solidFill>
              <a:srgbClr val="FF4F8B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449824" y="19385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🌟</a:t>
            </a:r>
          </a:p>
        </p:txBody>
      </p:sp>
      <p:sp>
        <p:nvSpPr>
          <p:cNvPr id="17" name="Text 15"/>
          <p:cNvSpPr/>
          <p:nvPr/>
        </p:nvSpPr>
        <p:spPr>
          <a:xfrm>
            <a:off x="5815584" y="1938528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proud</a:t>
            </a:r>
          </a:p>
        </p:txBody>
      </p:sp>
      <p:sp>
        <p:nvSpPr>
          <p:cNvPr id="18" name="Text 16"/>
          <p:cNvSpPr/>
          <p:nvPr/>
        </p:nvSpPr>
        <p:spPr>
          <a:xfrm>
            <a:off x="5815584" y="2176272"/>
            <a:ext cx="1353312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I can do it!</a:t>
            </a:r>
          </a:p>
        </p:txBody>
      </p:sp>
      <p:sp>
        <p:nvSpPr>
          <p:cNvPr id="19" name="Shape 17"/>
          <p:cNvSpPr/>
          <p:nvPr/>
        </p:nvSpPr>
        <p:spPr>
          <a:xfrm>
            <a:off x="7580376" y="1828800"/>
            <a:ext cx="1993392" cy="1874520"/>
          </a:xfrm>
          <a:prstGeom prst="roundRect">
            <a:avLst>
              <a:gd name="adj" fmla="val 2927"/>
            </a:avLst>
          </a:prstGeom>
          <a:solidFill>
            <a:srgbClr val="FFF3C4"/>
          </a:solidFill>
          <a:ln w="15240">
            <a:solidFill>
              <a:srgbClr val="FF8A0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717536" y="19385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😳</a:t>
            </a:r>
          </a:p>
        </p:txBody>
      </p:sp>
      <p:sp>
        <p:nvSpPr>
          <p:cNvPr id="21" name="Text 19"/>
          <p:cNvSpPr/>
          <p:nvPr/>
        </p:nvSpPr>
        <p:spPr>
          <a:xfrm>
            <a:off x="8083296" y="1938528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shy</a:t>
            </a:r>
          </a:p>
        </p:txBody>
      </p:sp>
      <p:sp>
        <p:nvSpPr>
          <p:cNvPr id="22" name="Text 20"/>
          <p:cNvSpPr/>
          <p:nvPr/>
        </p:nvSpPr>
        <p:spPr>
          <a:xfrm>
            <a:off x="8083296" y="2176272"/>
            <a:ext cx="1353312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I can speak slowly.</a:t>
            </a:r>
          </a:p>
        </p:txBody>
      </p:sp>
      <p:sp>
        <p:nvSpPr>
          <p:cNvPr id="23" name="Shape 21"/>
          <p:cNvSpPr/>
          <p:nvPr/>
        </p:nvSpPr>
        <p:spPr>
          <a:xfrm>
            <a:off x="9848088" y="1828800"/>
            <a:ext cx="1993392" cy="1874520"/>
          </a:xfrm>
          <a:prstGeom prst="roundRect">
            <a:avLst>
              <a:gd name="adj" fmla="val 2927"/>
            </a:avLst>
          </a:prstGeom>
          <a:solidFill>
            <a:srgbClr val="FFEAF2"/>
          </a:solidFill>
          <a:ln w="15240">
            <a:solidFill>
              <a:srgbClr val="FF4F8B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985248" y="19385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🤩</a:t>
            </a:r>
          </a:p>
        </p:txBody>
      </p:sp>
      <p:sp>
        <p:nvSpPr>
          <p:cNvPr id="25" name="Text 23"/>
          <p:cNvSpPr/>
          <p:nvPr/>
        </p:nvSpPr>
        <p:spPr>
          <a:xfrm>
            <a:off x="10351008" y="1938528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excited</a:t>
            </a:r>
          </a:p>
        </p:txBody>
      </p:sp>
      <p:sp>
        <p:nvSpPr>
          <p:cNvPr id="26" name="Text 24"/>
          <p:cNvSpPr/>
          <p:nvPr/>
        </p:nvSpPr>
        <p:spPr>
          <a:xfrm>
            <a:off x="10351008" y="2176272"/>
            <a:ext cx="1353312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Hobbies are fun!</a:t>
            </a:r>
          </a:p>
        </p:txBody>
      </p:sp>
      <p:sp>
        <p:nvSpPr>
          <p:cNvPr id="27" name="Shape 25"/>
          <p:cNvSpPr/>
          <p:nvPr/>
        </p:nvSpPr>
        <p:spPr>
          <a:xfrm>
            <a:off x="1005840" y="4754880"/>
            <a:ext cx="1014984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83D7E7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188720" y="4974336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Speak with your partner: “I feel _____. I can _____.”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50292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12 Useful Hobby Words</a:t>
            </a:r>
          </a:p>
        </p:txBody>
      </p:sp>
      <p:sp>
        <p:nvSpPr>
          <p:cNvPr id="3" name="Text 1"/>
          <p:cNvSpPr/>
          <p:nvPr/>
        </p:nvSpPr>
        <p:spPr>
          <a:xfrm>
            <a:off x="713232" y="960120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Use gestures and quick repetition.</a:t>
            </a:r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12700">
            <a:solidFill>
              <a:srgbClr val="83D7E7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12064" y="6656832"/>
            <a:ext cx="4389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Hobbies &amp; Abilities · Day 7 · Speaking &amp; Listening</a:t>
            </a:r>
          </a:p>
        </p:txBody>
      </p:sp>
      <p:sp>
        <p:nvSpPr>
          <p:cNvPr id="6" name="Text 4"/>
          <p:cNvSpPr/>
          <p:nvPr/>
        </p:nvSpPr>
        <p:spPr>
          <a:xfrm>
            <a:off x="11841480" y="6656832"/>
            <a:ext cx="219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07</a:t>
            </a:r>
          </a:p>
        </p:txBody>
      </p:sp>
      <p:sp>
        <p:nvSpPr>
          <p:cNvPr id="7" name="Shape 5"/>
          <p:cNvSpPr/>
          <p:nvPr/>
        </p:nvSpPr>
        <p:spPr>
          <a:xfrm>
            <a:off x="658368" y="1417320"/>
            <a:ext cx="2578608" cy="1078992"/>
          </a:xfrm>
          <a:prstGeom prst="roundRect">
            <a:avLst>
              <a:gd name="adj" fmla="val 5085"/>
            </a:avLst>
          </a:prstGeom>
          <a:solidFill>
            <a:srgbClr val="E8F7FC"/>
          </a:solidFill>
          <a:ln w="15240">
            <a:solidFill>
              <a:srgbClr val="00A8C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95528" y="15270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🎨</a:t>
            </a:r>
          </a:p>
        </p:txBody>
      </p:sp>
      <p:sp>
        <p:nvSpPr>
          <p:cNvPr id="9" name="Text 7"/>
          <p:cNvSpPr/>
          <p:nvPr/>
        </p:nvSpPr>
        <p:spPr>
          <a:xfrm>
            <a:off x="1161288" y="1527048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draw</a:t>
            </a:r>
          </a:p>
        </p:txBody>
      </p:sp>
      <p:sp>
        <p:nvSpPr>
          <p:cNvPr id="10" name="Text 8"/>
          <p:cNvSpPr/>
          <p:nvPr/>
        </p:nvSpPr>
        <p:spPr>
          <a:xfrm>
            <a:off x="1161288" y="1764792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make pictures</a:t>
            </a:r>
          </a:p>
        </p:txBody>
      </p:sp>
      <p:sp>
        <p:nvSpPr>
          <p:cNvPr id="11" name="Shape 9"/>
          <p:cNvSpPr/>
          <p:nvPr/>
        </p:nvSpPr>
        <p:spPr>
          <a:xfrm>
            <a:off x="3511296" y="1417320"/>
            <a:ext cx="2578608" cy="1078992"/>
          </a:xfrm>
          <a:prstGeom prst="roundRect">
            <a:avLst>
              <a:gd name="adj" fmla="val 5085"/>
            </a:avLst>
          </a:prstGeom>
          <a:solidFill>
            <a:srgbClr val="FFF3C4"/>
          </a:solidFill>
          <a:ln w="15240">
            <a:solidFill>
              <a:srgbClr val="FF8A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648456" y="15270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🖌️</a:t>
            </a:r>
          </a:p>
        </p:txBody>
      </p:sp>
      <p:sp>
        <p:nvSpPr>
          <p:cNvPr id="13" name="Text 11"/>
          <p:cNvSpPr/>
          <p:nvPr/>
        </p:nvSpPr>
        <p:spPr>
          <a:xfrm>
            <a:off x="4014216" y="1527048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paint</a:t>
            </a:r>
          </a:p>
        </p:txBody>
      </p:sp>
      <p:sp>
        <p:nvSpPr>
          <p:cNvPr id="14" name="Text 12"/>
          <p:cNvSpPr/>
          <p:nvPr/>
        </p:nvSpPr>
        <p:spPr>
          <a:xfrm>
            <a:off x="4014216" y="1764792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use colors</a:t>
            </a:r>
          </a:p>
        </p:txBody>
      </p:sp>
      <p:sp>
        <p:nvSpPr>
          <p:cNvPr id="15" name="Shape 13"/>
          <p:cNvSpPr/>
          <p:nvPr/>
        </p:nvSpPr>
        <p:spPr>
          <a:xfrm>
            <a:off x="6364224" y="1417320"/>
            <a:ext cx="2578608" cy="1078992"/>
          </a:xfrm>
          <a:prstGeom prst="roundRect">
            <a:avLst>
              <a:gd name="adj" fmla="val 5085"/>
            </a:avLst>
          </a:prstGeom>
          <a:solidFill>
            <a:srgbClr val="E8F7FC"/>
          </a:solidFill>
          <a:ln w="15240">
            <a:solidFill>
              <a:srgbClr val="00A8C8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501384" y="15270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📚</a:t>
            </a:r>
          </a:p>
        </p:txBody>
      </p:sp>
      <p:sp>
        <p:nvSpPr>
          <p:cNvPr id="17" name="Text 15"/>
          <p:cNvSpPr/>
          <p:nvPr/>
        </p:nvSpPr>
        <p:spPr>
          <a:xfrm>
            <a:off x="6867144" y="1527048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read</a:t>
            </a:r>
          </a:p>
        </p:txBody>
      </p:sp>
      <p:sp>
        <p:nvSpPr>
          <p:cNvPr id="18" name="Text 16"/>
          <p:cNvSpPr/>
          <p:nvPr/>
        </p:nvSpPr>
        <p:spPr>
          <a:xfrm>
            <a:off x="6867144" y="1764792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open a book</a:t>
            </a:r>
          </a:p>
        </p:txBody>
      </p:sp>
      <p:sp>
        <p:nvSpPr>
          <p:cNvPr id="19" name="Shape 17"/>
          <p:cNvSpPr/>
          <p:nvPr/>
        </p:nvSpPr>
        <p:spPr>
          <a:xfrm>
            <a:off x="9217152" y="1417320"/>
            <a:ext cx="2578608" cy="1078992"/>
          </a:xfrm>
          <a:prstGeom prst="roundRect">
            <a:avLst>
              <a:gd name="adj" fmla="val 5085"/>
            </a:avLst>
          </a:prstGeom>
          <a:solidFill>
            <a:srgbClr val="FFF3C4"/>
          </a:solidFill>
          <a:ln w="15240">
            <a:solidFill>
              <a:srgbClr val="FF8A0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354312" y="15270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🎤</a:t>
            </a:r>
          </a:p>
        </p:txBody>
      </p:sp>
      <p:sp>
        <p:nvSpPr>
          <p:cNvPr id="21" name="Text 19"/>
          <p:cNvSpPr/>
          <p:nvPr/>
        </p:nvSpPr>
        <p:spPr>
          <a:xfrm>
            <a:off x="9720072" y="1527048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sing</a:t>
            </a:r>
          </a:p>
        </p:txBody>
      </p:sp>
      <p:sp>
        <p:nvSpPr>
          <p:cNvPr id="22" name="Text 20"/>
          <p:cNvSpPr/>
          <p:nvPr/>
        </p:nvSpPr>
        <p:spPr>
          <a:xfrm>
            <a:off x="9720072" y="1764792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use your voice</a:t>
            </a:r>
          </a:p>
        </p:txBody>
      </p:sp>
      <p:sp>
        <p:nvSpPr>
          <p:cNvPr id="23" name="Shape 21"/>
          <p:cNvSpPr/>
          <p:nvPr/>
        </p:nvSpPr>
        <p:spPr>
          <a:xfrm>
            <a:off x="658368" y="2834640"/>
            <a:ext cx="2578608" cy="1078992"/>
          </a:xfrm>
          <a:prstGeom prst="roundRect">
            <a:avLst>
              <a:gd name="adj" fmla="val 5085"/>
            </a:avLst>
          </a:prstGeom>
          <a:solidFill>
            <a:srgbClr val="FFF3C4"/>
          </a:solidFill>
          <a:ln w="15240">
            <a:solidFill>
              <a:srgbClr val="FF8A00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95528" y="29443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💃</a:t>
            </a:r>
          </a:p>
        </p:txBody>
      </p:sp>
      <p:sp>
        <p:nvSpPr>
          <p:cNvPr id="25" name="Text 23"/>
          <p:cNvSpPr/>
          <p:nvPr/>
        </p:nvSpPr>
        <p:spPr>
          <a:xfrm>
            <a:off x="1161288" y="2944368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dance</a:t>
            </a:r>
          </a:p>
        </p:txBody>
      </p:sp>
      <p:sp>
        <p:nvSpPr>
          <p:cNvPr id="26" name="Text 24"/>
          <p:cNvSpPr/>
          <p:nvPr/>
        </p:nvSpPr>
        <p:spPr>
          <a:xfrm>
            <a:off x="1161288" y="3182112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move to music</a:t>
            </a:r>
          </a:p>
        </p:txBody>
      </p:sp>
      <p:sp>
        <p:nvSpPr>
          <p:cNvPr id="27" name="Shape 25"/>
          <p:cNvSpPr/>
          <p:nvPr/>
        </p:nvSpPr>
        <p:spPr>
          <a:xfrm>
            <a:off x="3511296" y="2834640"/>
            <a:ext cx="2578608" cy="1078992"/>
          </a:xfrm>
          <a:prstGeom prst="roundRect">
            <a:avLst>
              <a:gd name="adj" fmla="val 5085"/>
            </a:avLst>
          </a:prstGeom>
          <a:solidFill>
            <a:srgbClr val="E8F7FC"/>
          </a:solidFill>
          <a:ln w="15240">
            <a:solidFill>
              <a:srgbClr val="00A8C8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3648456" y="29443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🏊</a:t>
            </a:r>
          </a:p>
        </p:txBody>
      </p:sp>
      <p:sp>
        <p:nvSpPr>
          <p:cNvPr id="29" name="Text 27"/>
          <p:cNvSpPr/>
          <p:nvPr/>
        </p:nvSpPr>
        <p:spPr>
          <a:xfrm>
            <a:off x="4014216" y="2944368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swim</a:t>
            </a:r>
          </a:p>
        </p:txBody>
      </p:sp>
      <p:sp>
        <p:nvSpPr>
          <p:cNvPr id="30" name="Text 28"/>
          <p:cNvSpPr/>
          <p:nvPr/>
        </p:nvSpPr>
        <p:spPr>
          <a:xfrm>
            <a:off x="4014216" y="3182112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move in water</a:t>
            </a:r>
          </a:p>
        </p:txBody>
      </p:sp>
      <p:sp>
        <p:nvSpPr>
          <p:cNvPr id="31" name="Shape 29"/>
          <p:cNvSpPr/>
          <p:nvPr/>
        </p:nvSpPr>
        <p:spPr>
          <a:xfrm>
            <a:off x="6364224" y="2834640"/>
            <a:ext cx="2578608" cy="1078992"/>
          </a:xfrm>
          <a:prstGeom prst="roundRect">
            <a:avLst>
              <a:gd name="adj" fmla="val 5085"/>
            </a:avLst>
          </a:prstGeom>
          <a:solidFill>
            <a:srgbClr val="FFF3C4"/>
          </a:solidFill>
          <a:ln w="15240">
            <a:solidFill>
              <a:srgbClr val="FF8A00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501384" y="29443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⚽</a:t>
            </a:r>
          </a:p>
        </p:txBody>
      </p:sp>
      <p:sp>
        <p:nvSpPr>
          <p:cNvPr id="33" name="Text 31"/>
          <p:cNvSpPr/>
          <p:nvPr/>
        </p:nvSpPr>
        <p:spPr>
          <a:xfrm>
            <a:off x="6867144" y="2944368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play soccer</a:t>
            </a:r>
          </a:p>
        </p:txBody>
      </p:sp>
      <p:sp>
        <p:nvSpPr>
          <p:cNvPr id="34" name="Text 32"/>
          <p:cNvSpPr/>
          <p:nvPr/>
        </p:nvSpPr>
        <p:spPr>
          <a:xfrm>
            <a:off x="6867144" y="3182112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kick a ball</a:t>
            </a:r>
          </a:p>
        </p:txBody>
      </p:sp>
      <p:sp>
        <p:nvSpPr>
          <p:cNvPr id="35" name="Shape 33"/>
          <p:cNvSpPr/>
          <p:nvPr/>
        </p:nvSpPr>
        <p:spPr>
          <a:xfrm>
            <a:off x="9217152" y="2834640"/>
            <a:ext cx="2578608" cy="1078992"/>
          </a:xfrm>
          <a:prstGeom prst="roundRect">
            <a:avLst>
              <a:gd name="adj" fmla="val 5085"/>
            </a:avLst>
          </a:prstGeom>
          <a:solidFill>
            <a:srgbClr val="E8F7FC"/>
          </a:solidFill>
          <a:ln w="15240">
            <a:solidFill>
              <a:srgbClr val="00A8C8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9354312" y="29443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🏀</a:t>
            </a:r>
          </a:p>
        </p:txBody>
      </p:sp>
      <p:sp>
        <p:nvSpPr>
          <p:cNvPr id="37" name="Text 35"/>
          <p:cNvSpPr/>
          <p:nvPr/>
        </p:nvSpPr>
        <p:spPr>
          <a:xfrm>
            <a:off x="9720072" y="2944368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play basketball</a:t>
            </a:r>
          </a:p>
        </p:txBody>
      </p:sp>
      <p:sp>
        <p:nvSpPr>
          <p:cNvPr id="38" name="Text 36"/>
          <p:cNvSpPr/>
          <p:nvPr/>
        </p:nvSpPr>
        <p:spPr>
          <a:xfrm>
            <a:off x="9720072" y="3182112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bounce a ball</a:t>
            </a:r>
          </a:p>
        </p:txBody>
      </p:sp>
      <p:sp>
        <p:nvSpPr>
          <p:cNvPr id="39" name="Shape 37"/>
          <p:cNvSpPr/>
          <p:nvPr/>
        </p:nvSpPr>
        <p:spPr>
          <a:xfrm>
            <a:off x="658368" y="4251960"/>
            <a:ext cx="2578608" cy="1078992"/>
          </a:xfrm>
          <a:prstGeom prst="roundRect">
            <a:avLst>
              <a:gd name="adj" fmla="val 5085"/>
            </a:avLst>
          </a:prstGeom>
          <a:solidFill>
            <a:srgbClr val="E8F7FC"/>
          </a:solidFill>
          <a:ln w="15240">
            <a:solidFill>
              <a:srgbClr val="00A8C8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795528" y="43616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🎸</a:t>
            </a:r>
          </a:p>
        </p:txBody>
      </p:sp>
      <p:sp>
        <p:nvSpPr>
          <p:cNvPr id="41" name="Text 39"/>
          <p:cNvSpPr/>
          <p:nvPr/>
        </p:nvSpPr>
        <p:spPr>
          <a:xfrm>
            <a:off x="1161288" y="4361688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play guitar</a:t>
            </a:r>
          </a:p>
        </p:txBody>
      </p:sp>
      <p:sp>
        <p:nvSpPr>
          <p:cNvPr id="42" name="Text 40"/>
          <p:cNvSpPr/>
          <p:nvPr/>
        </p:nvSpPr>
        <p:spPr>
          <a:xfrm>
            <a:off x="1161288" y="4599432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music hobby</a:t>
            </a:r>
          </a:p>
        </p:txBody>
      </p:sp>
      <p:sp>
        <p:nvSpPr>
          <p:cNvPr id="43" name="Shape 41"/>
          <p:cNvSpPr/>
          <p:nvPr/>
        </p:nvSpPr>
        <p:spPr>
          <a:xfrm>
            <a:off x="3511296" y="4251960"/>
            <a:ext cx="2578608" cy="1078992"/>
          </a:xfrm>
          <a:prstGeom prst="roundRect">
            <a:avLst>
              <a:gd name="adj" fmla="val 5085"/>
            </a:avLst>
          </a:prstGeom>
          <a:solidFill>
            <a:srgbClr val="FFF3C4"/>
          </a:solidFill>
          <a:ln w="15240">
            <a:solidFill>
              <a:srgbClr val="FF8A00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3648456" y="43616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🎹</a:t>
            </a:r>
          </a:p>
        </p:txBody>
      </p:sp>
      <p:sp>
        <p:nvSpPr>
          <p:cNvPr id="45" name="Text 43"/>
          <p:cNvSpPr/>
          <p:nvPr/>
        </p:nvSpPr>
        <p:spPr>
          <a:xfrm>
            <a:off x="4014216" y="4361688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play piano</a:t>
            </a:r>
          </a:p>
        </p:txBody>
      </p:sp>
      <p:sp>
        <p:nvSpPr>
          <p:cNvPr id="46" name="Text 44"/>
          <p:cNvSpPr/>
          <p:nvPr/>
        </p:nvSpPr>
        <p:spPr>
          <a:xfrm>
            <a:off x="4014216" y="4599432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music skill</a:t>
            </a:r>
          </a:p>
        </p:txBody>
      </p:sp>
      <p:sp>
        <p:nvSpPr>
          <p:cNvPr id="47" name="Shape 45"/>
          <p:cNvSpPr/>
          <p:nvPr/>
        </p:nvSpPr>
        <p:spPr>
          <a:xfrm>
            <a:off x="6364224" y="4251960"/>
            <a:ext cx="2578608" cy="1078992"/>
          </a:xfrm>
          <a:prstGeom prst="roundRect">
            <a:avLst>
              <a:gd name="adj" fmla="val 5085"/>
            </a:avLst>
          </a:prstGeom>
          <a:solidFill>
            <a:srgbClr val="E8F7FC"/>
          </a:solidFill>
          <a:ln w="15240">
            <a:solidFill>
              <a:srgbClr val="00A8C8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6501384" y="43616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🚲</a:t>
            </a:r>
          </a:p>
        </p:txBody>
      </p:sp>
      <p:sp>
        <p:nvSpPr>
          <p:cNvPr id="49" name="Text 47"/>
          <p:cNvSpPr/>
          <p:nvPr/>
        </p:nvSpPr>
        <p:spPr>
          <a:xfrm>
            <a:off x="6867144" y="4361688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ride a bike</a:t>
            </a:r>
          </a:p>
        </p:txBody>
      </p:sp>
      <p:sp>
        <p:nvSpPr>
          <p:cNvPr id="50" name="Text 48"/>
          <p:cNvSpPr/>
          <p:nvPr/>
        </p:nvSpPr>
        <p:spPr>
          <a:xfrm>
            <a:off x="6867144" y="4599432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two wheels</a:t>
            </a:r>
          </a:p>
        </p:txBody>
      </p:sp>
      <p:sp>
        <p:nvSpPr>
          <p:cNvPr id="51" name="Shape 49"/>
          <p:cNvSpPr/>
          <p:nvPr/>
        </p:nvSpPr>
        <p:spPr>
          <a:xfrm>
            <a:off x="9217152" y="4251960"/>
            <a:ext cx="2578608" cy="1078992"/>
          </a:xfrm>
          <a:prstGeom prst="roundRect">
            <a:avLst>
              <a:gd name="adj" fmla="val 5085"/>
            </a:avLst>
          </a:prstGeom>
          <a:solidFill>
            <a:srgbClr val="FFF3C4"/>
          </a:solidFill>
          <a:ln w="15240">
            <a:solidFill>
              <a:srgbClr val="FF8A00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9354312" y="43616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🧑‍🍳</a:t>
            </a:r>
          </a:p>
        </p:txBody>
      </p:sp>
      <p:sp>
        <p:nvSpPr>
          <p:cNvPr id="53" name="Text 51"/>
          <p:cNvSpPr/>
          <p:nvPr/>
        </p:nvSpPr>
        <p:spPr>
          <a:xfrm>
            <a:off x="9720072" y="4361688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cook</a:t>
            </a:r>
          </a:p>
        </p:txBody>
      </p:sp>
      <p:sp>
        <p:nvSpPr>
          <p:cNvPr id="54" name="Text 52"/>
          <p:cNvSpPr/>
          <p:nvPr/>
        </p:nvSpPr>
        <p:spPr>
          <a:xfrm>
            <a:off x="9720072" y="4599432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make food</a:t>
            </a:r>
          </a:p>
        </p:txBody>
      </p:sp>
      <p:sp>
        <p:nvSpPr>
          <p:cNvPr id="55" name="Text 53"/>
          <p:cNvSpPr/>
          <p:nvPr/>
        </p:nvSpPr>
        <p:spPr>
          <a:xfrm>
            <a:off x="822960" y="58064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Mini-drill: Teacher says the word → students point, act, or say the word.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50292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Listen &amp; Point</a:t>
            </a:r>
          </a:p>
        </p:txBody>
      </p:sp>
      <p:sp>
        <p:nvSpPr>
          <p:cNvPr id="3" name="Text 1"/>
          <p:cNvSpPr/>
          <p:nvPr/>
        </p:nvSpPr>
        <p:spPr>
          <a:xfrm>
            <a:off x="713232" y="960120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When you hear the hobby, point to the picture or do the action.</a:t>
            </a:r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12700">
            <a:solidFill>
              <a:srgbClr val="83D7E7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12064" y="6656832"/>
            <a:ext cx="4389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Hobbies &amp; Abilities · Day 7 · Speaking &amp; Listening</a:t>
            </a:r>
          </a:p>
        </p:txBody>
      </p:sp>
      <p:sp>
        <p:nvSpPr>
          <p:cNvPr id="6" name="Text 4"/>
          <p:cNvSpPr/>
          <p:nvPr/>
        </p:nvSpPr>
        <p:spPr>
          <a:xfrm>
            <a:off x="11841480" y="6656832"/>
            <a:ext cx="219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08</a:t>
            </a:r>
          </a:p>
        </p:txBody>
      </p:sp>
      <p:sp>
        <p:nvSpPr>
          <p:cNvPr id="7" name="Shape 5"/>
          <p:cNvSpPr/>
          <p:nvPr/>
        </p:nvSpPr>
        <p:spPr>
          <a:xfrm>
            <a:off x="914400" y="1645920"/>
            <a:ext cx="3154680" cy="1143000"/>
          </a:xfrm>
          <a:prstGeom prst="roundRect">
            <a:avLst>
              <a:gd name="adj" fmla="val 6400"/>
            </a:avLst>
          </a:prstGeom>
          <a:solidFill>
            <a:srgbClr val="E8F7FC"/>
          </a:solidFill>
          <a:ln w="17780">
            <a:solidFill>
              <a:srgbClr val="00A8C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115568" y="18105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🎨</a:t>
            </a:r>
          </a:p>
        </p:txBody>
      </p:sp>
      <p:sp>
        <p:nvSpPr>
          <p:cNvPr id="9" name="Text 7"/>
          <p:cNvSpPr/>
          <p:nvPr/>
        </p:nvSpPr>
        <p:spPr>
          <a:xfrm>
            <a:off x="1627632" y="181051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I like drawing.</a:t>
            </a:r>
          </a:p>
        </p:txBody>
      </p:sp>
      <p:sp>
        <p:nvSpPr>
          <p:cNvPr id="10" name="Text 8"/>
          <p:cNvSpPr/>
          <p:nvPr/>
        </p:nvSpPr>
        <p:spPr>
          <a:xfrm>
            <a:off x="1627632" y="2121408"/>
            <a:ext cx="2240280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draw gesture</a:t>
            </a:r>
          </a:p>
        </p:txBody>
      </p:sp>
      <p:sp>
        <p:nvSpPr>
          <p:cNvPr id="11" name="Shape 9"/>
          <p:cNvSpPr/>
          <p:nvPr/>
        </p:nvSpPr>
        <p:spPr>
          <a:xfrm>
            <a:off x="4617720" y="1645920"/>
            <a:ext cx="3154680" cy="1143000"/>
          </a:xfrm>
          <a:prstGeom prst="roundRect">
            <a:avLst>
              <a:gd name="adj" fmla="val 6400"/>
            </a:avLst>
          </a:prstGeom>
          <a:solidFill>
            <a:srgbClr val="E8F7FC"/>
          </a:solidFill>
          <a:ln w="17780">
            <a:solidFill>
              <a:srgbClr val="00A8C8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818888" y="18105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🎤</a:t>
            </a:r>
          </a:p>
        </p:txBody>
      </p:sp>
      <p:sp>
        <p:nvSpPr>
          <p:cNvPr id="13" name="Text 11"/>
          <p:cNvSpPr/>
          <p:nvPr/>
        </p:nvSpPr>
        <p:spPr>
          <a:xfrm>
            <a:off x="5330952" y="181051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I can sing.</a:t>
            </a:r>
          </a:p>
        </p:txBody>
      </p:sp>
      <p:sp>
        <p:nvSpPr>
          <p:cNvPr id="14" name="Text 12"/>
          <p:cNvSpPr/>
          <p:nvPr/>
        </p:nvSpPr>
        <p:spPr>
          <a:xfrm>
            <a:off x="5330952" y="2121408"/>
            <a:ext cx="2240280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sing gesture</a:t>
            </a:r>
          </a:p>
        </p:txBody>
      </p:sp>
      <p:sp>
        <p:nvSpPr>
          <p:cNvPr id="15" name="Shape 13"/>
          <p:cNvSpPr/>
          <p:nvPr/>
        </p:nvSpPr>
        <p:spPr>
          <a:xfrm>
            <a:off x="8321040" y="1645920"/>
            <a:ext cx="3154680" cy="1143000"/>
          </a:xfrm>
          <a:prstGeom prst="roundRect">
            <a:avLst>
              <a:gd name="adj" fmla="val 6400"/>
            </a:avLst>
          </a:prstGeom>
          <a:solidFill>
            <a:srgbClr val="E8F7FC"/>
          </a:solidFill>
          <a:ln w="17780">
            <a:solidFill>
              <a:srgbClr val="00A8C8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522208" y="18105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⚽</a:t>
            </a:r>
          </a:p>
        </p:txBody>
      </p:sp>
      <p:sp>
        <p:nvSpPr>
          <p:cNvPr id="17" name="Text 15"/>
          <p:cNvSpPr/>
          <p:nvPr/>
        </p:nvSpPr>
        <p:spPr>
          <a:xfrm>
            <a:off x="9034272" y="181051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I play soccer.</a:t>
            </a:r>
          </a:p>
        </p:txBody>
      </p:sp>
      <p:sp>
        <p:nvSpPr>
          <p:cNvPr id="18" name="Text 16"/>
          <p:cNvSpPr/>
          <p:nvPr/>
        </p:nvSpPr>
        <p:spPr>
          <a:xfrm>
            <a:off x="9034272" y="2121408"/>
            <a:ext cx="2240280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kick gesture</a:t>
            </a:r>
          </a:p>
        </p:txBody>
      </p:sp>
      <p:sp>
        <p:nvSpPr>
          <p:cNvPr id="19" name="Shape 17"/>
          <p:cNvSpPr/>
          <p:nvPr/>
        </p:nvSpPr>
        <p:spPr>
          <a:xfrm>
            <a:off x="914400" y="3246120"/>
            <a:ext cx="3154680" cy="1143000"/>
          </a:xfrm>
          <a:prstGeom prst="roundRect">
            <a:avLst>
              <a:gd name="adj" fmla="val 6400"/>
            </a:avLst>
          </a:prstGeom>
          <a:solidFill>
            <a:srgbClr val="FFF3C4"/>
          </a:solidFill>
          <a:ln w="17780">
            <a:solidFill>
              <a:srgbClr val="FF8A0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115568" y="3410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💃</a:t>
            </a:r>
          </a:p>
        </p:txBody>
      </p:sp>
      <p:sp>
        <p:nvSpPr>
          <p:cNvPr id="21" name="Text 19"/>
          <p:cNvSpPr/>
          <p:nvPr/>
        </p:nvSpPr>
        <p:spPr>
          <a:xfrm>
            <a:off x="1627632" y="341071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I can dance.</a:t>
            </a:r>
          </a:p>
        </p:txBody>
      </p:sp>
      <p:sp>
        <p:nvSpPr>
          <p:cNvPr id="22" name="Text 20"/>
          <p:cNvSpPr/>
          <p:nvPr/>
        </p:nvSpPr>
        <p:spPr>
          <a:xfrm>
            <a:off x="1627632" y="3721608"/>
            <a:ext cx="2240280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dance move</a:t>
            </a:r>
          </a:p>
        </p:txBody>
      </p:sp>
      <p:sp>
        <p:nvSpPr>
          <p:cNvPr id="23" name="Shape 21"/>
          <p:cNvSpPr/>
          <p:nvPr/>
        </p:nvSpPr>
        <p:spPr>
          <a:xfrm>
            <a:off x="4617720" y="3246120"/>
            <a:ext cx="3154680" cy="1143000"/>
          </a:xfrm>
          <a:prstGeom prst="roundRect">
            <a:avLst>
              <a:gd name="adj" fmla="val 6400"/>
            </a:avLst>
          </a:prstGeom>
          <a:solidFill>
            <a:srgbClr val="FFF3C4"/>
          </a:solidFill>
          <a:ln w="17780">
            <a:solidFill>
              <a:srgbClr val="FF8A00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818888" y="3410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🚲</a:t>
            </a:r>
          </a:p>
        </p:txBody>
      </p:sp>
      <p:sp>
        <p:nvSpPr>
          <p:cNvPr id="25" name="Text 23"/>
          <p:cNvSpPr/>
          <p:nvPr/>
        </p:nvSpPr>
        <p:spPr>
          <a:xfrm>
            <a:off x="5330952" y="341071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I ride a bike.</a:t>
            </a:r>
          </a:p>
        </p:txBody>
      </p:sp>
      <p:sp>
        <p:nvSpPr>
          <p:cNvPr id="26" name="Text 24"/>
          <p:cNvSpPr/>
          <p:nvPr/>
        </p:nvSpPr>
        <p:spPr>
          <a:xfrm>
            <a:off x="5330952" y="3721608"/>
            <a:ext cx="2240280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hold handles</a:t>
            </a:r>
          </a:p>
        </p:txBody>
      </p:sp>
      <p:sp>
        <p:nvSpPr>
          <p:cNvPr id="27" name="Shape 25"/>
          <p:cNvSpPr/>
          <p:nvPr/>
        </p:nvSpPr>
        <p:spPr>
          <a:xfrm>
            <a:off x="8321040" y="3246120"/>
            <a:ext cx="3154680" cy="1143000"/>
          </a:xfrm>
          <a:prstGeom prst="roundRect">
            <a:avLst>
              <a:gd name="adj" fmla="val 6400"/>
            </a:avLst>
          </a:prstGeom>
          <a:solidFill>
            <a:srgbClr val="FFF3C4"/>
          </a:solidFill>
          <a:ln w="17780">
            <a:solidFill>
              <a:srgbClr val="FF8A00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522208" y="3410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📚</a:t>
            </a:r>
          </a:p>
        </p:txBody>
      </p:sp>
      <p:sp>
        <p:nvSpPr>
          <p:cNvPr id="29" name="Text 27"/>
          <p:cNvSpPr/>
          <p:nvPr/>
        </p:nvSpPr>
        <p:spPr>
          <a:xfrm>
            <a:off x="9034272" y="341071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I like reading.</a:t>
            </a:r>
          </a:p>
        </p:txBody>
      </p:sp>
      <p:sp>
        <p:nvSpPr>
          <p:cNvPr id="30" name="Text 28"/>
          <p:cNvSpPr/>
          <p:nvPr/>
        </p:nvSpPr>
        <p:spPr>
          <a:xfrm>
            <a:off x="9034272" y="3721608"/>
            <a:ext cx="2240280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open book</a:t>
            </a:r>
          </a:p>
        </p:txBody>
      </p:sp>
      <p:sp>
        <p:nvSpPr>
          <p:cNvPr id="31" name="Text 29"/>
          <p:cNvSpPr/>
          <p:nvPr/>
        </p:nvSpPr>
        <p:spPr>
          <a:xfrm>
            <a:off x="868680" y="53949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Challenge: Can your team do all six actions without speaking your first language?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50292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Hobby Phrases</a:t>
            </a:r>
          </a:p>
        </p:txBody>
      </p:sp>
      <p:sp>
        <p:nvSpPr>
          <p:cNvPr id="3" name="Text 1"/>
          <p:cNvSpPr/>
          <p:nvPr/>
        </p:nvSpPr>
        <p:spPr>
          <a:xfrm>
            <a:off x="713232" y="960120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These phrases help students speak longer.</a:t>
            </a:r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12700">
            <a:solidFill>
              <a:srgbClr val="83D7E7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12064" y="6656832"/>
            <a:ext cx="4389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Hobbies &amp; Abilities · Day 7 · Speaking &amp; Listening</a:t>
            </a:r>
          </a:p>
        </p:txBody>
      </p:sp>
      <p:sp>
        <p:nvSpPr>
          <p:cNvPr id="6" name="Text 4"/>
          <p:cNvSpPr/>
          <p:nvPr/>
        </p:nvSpPr>
        <p:spPr>
          <a:xfrm>
            <a:off x="11841480" y="6656832"/>
            <a:ext cx="219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09</a:t>
            </a:r>
          </a:p>
        </p:txBody>
      </p:sp>
      <p:sp>
        <p:nvSpPr>
          <p:cNvPr id="7" name="Shape 5"/>
          <p:cNvSpPr/>
          <p:nvPr/>
        </p:nvSpPr>
        <p:spPr>
          <a:xfrm>
            <a:off x="658368" y="1600200"/>
            <a:ext cx="2578608" cy="1143000"/>
          </a:xfrm>
          <a:prstGeom prst="roundRect">
            <a:avLst>
              <a:gd name="adj" fmla="val 4800"/>
            </a:avLst>
          </a:prstGeom>
          <a:solidFill>
            <a:srgbClr val="FFEAF2"/>
          </a:solidFill>
          <a:ln w="15240">
            <a:solidFill>
              <a:srgbClr val="FF4F8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95528" y="1709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👋</a:t>
            </a:r>
          </a:p>
        </p:txBody>
      </p:sp>
      <p:sp>
        <p:nvSpPr>
          <p:cNvPr id="9" name="Text 7"/>
          <p:cNvSpPr/>
          <p:nvPr/>
        </p:nvSpPr>
        <p:spPr>
          <a:xfrm>
            <a:off x="1161288" y="1709928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Hello.</a:t>
            </a:r>
          </a:p>
        </p:txBody>
      </p:sp>
      <p:sp>
        <p:nvSpPr>
          <p:cNvPr id="10" name="Text 8"/>
          <p:cNvSpPr/>
          <p:nvPr/>
        </p:nvSpPr>
        <p:spPr>
          <a:xfrm>
            <a:off x="1161288" y="1947672"/>
            <a:ext cx="193852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start politely</a:t>
            </a:r>
          </a:p>
        </p:txBody>
      </p:sp>
      <p:sp>
        <p:nvSpPr>
          <p:cNvPr id="11" name="Shape 9"/>
          <p:cNvSpPr/>
          <p:nvPr/>
        </p:nvSpPr>
        <p:spPr>
          <a:xfrm>
            <a:off x="3511296" y="1600200"/>
            <a:ext cx="2578608" cy="1143000"/>
          </a:xfrm>
          <a:prstGeom prst="roundRect">
            <a:avLst>
              <a:gd name="adj" fmla="val 4800"/>
            </a:avLst>
          </a:prstGeom>
          <a:solidFill>
            <a:srgbClr val="EAF9F2"/>
          </a:solidFill>
          <a:ln w="15240">
            <a:solidFill>
              <a:srgbClr val="0B7F8D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648456" y="1709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❓</a:t>
            </a:r>
          </a:p>
        </p:txBody>
      </p:sp>
      <p:sp>
        <p:nvSpPr>
          <p:cNvPr id="13" name="Text 11"/>
          <p:cNvSpPr/>
          <p:nvPr/>
        </p:nvSpPr>
        <p:spPr>
          <a:xfrm>
            <a:off x="4014216" y="1709928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What do you like?</a:t>
            </a:r>
          </a:p>
        </p:txBody>
      </p:sp>
      <p:sp>
        <p:nvSpPr>
          <p:cNvPr id="14" name="Text 12"/>
          <p:cNvSpPr/>
          <p:nvPr/>
        </p:nvSpPr>
        <p:spPr>
          <a:xfrm>
            <a:off x="4014216" y="1947672"/>
            <a:ext cx="193852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ask hobby</a:t>
            </a:r>
          </a:p>
        </p:txBody>
      </p:sp>
      <p:sp>
        <p:nvSpPr>
          <p:cNvPr id="15" name="Shape 13"/>
          <p:cNvSpPr/>
          <p:nvPr/>
        </p:nvSpPr>
        <p:spPr>
          <a:xfrm>
            <a:off x="6364224" y="1600200"/>
            <a:ext cx="2578608" cy="1143000"/>
          </a:xfrm>
          <a:prstGeom prst="roundRect">
            <a:avLst>
              <a:gd name="adj" fmla="val 4800"/>
            </a:avLst>
          </a:prstGeom>
          <a:solidFill>
            <a:srgbClr val="FFEAF2"/>
          </a:solidFill>
          <a:ln w="15240">
            <a:solidFill>
              <a:srgbClr val="FF4F8B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501384" y="1709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🎨</a:t>
            </a:r>
          </a:p>
        </p:txBody>
      </p:sp>
      <p:sp>
        <p:nvSpPr>
          <p:cNvPr id="17" name="Text 15"/>
          <p:cNvSpPr/>
          <p:nvPr/>
        </p:nvSpPr>
        <p:spPr>
          <a:xfrm>
            <a:off x="6867144" y="1709928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I like _____.</a:t>
            </a:r>
          </a:p>
        </p:txBody>
      </p:sp>
      <p:sp>
        <p:nvSpPr>
          <p:cNvPr id="18" name="Text 16"/>
          <p:cNvSpPr/>
          <p:nvPr/>
        </p:nvSpPr>
        <p:spPr>
          <a:xfrm>
            <a:off x="6867144" y="1947672"/>
            <a:ext cx="193852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say hobby</a:t>
            </a:r>
          </a:p>
        </p:txBody>
      </p:sp>
      <p:sp>
        <p:nvSpPr>
          <p:cNvPr id="19" name="Shape 17"/>
          <p:cNvSpPr/>
          <p:nvPr/>
        </p:nvSpPr>
        <p:spPr>
          <a:xfrm>
            <a:off x="9217152" y="1600200"/>
            <a:ext cx="2578608" cy="1143000"/>
          </a:xfrm>
          <a:prstGeom prst="roundRect">
            <a:avLst>
              <a:gd name="adj" fmla="val 4800"/>
            </a:avLst>
          </a:prstGeom>
          <a:solidFill>
            <a:srgbClr val="EAF9F2"/>
          </a:solidFill>
          <a:ln w="15240">
            <a:solidFill>
              <a:srgbClr val="0B7F8D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354312" y="1709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💪</a:t>
            </a:r>
          </a:p>
        </p:txBody>
      </p:sp>
      <p:sp>
        <p:nvSpPr>
          <p:cNvPr id="21" name="Text 19"/>
          <p:cNvSpPr/>
          <p:nvPr/>
        </p:nvSpPr>
        <p:spPr>
          <a:xfrm>
            <a:off x="9720072" y="1709928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I can _____.</a:t>
            </a:r>
          </a:p>
        </p:txBody>
      </p:sp>
      <p:sp>
        <p:nvSpPr>
          <p:cNvPr id="22" name="Text 20"/>
          <p:cNvSpPr/>
          <p:nvPr/>
        </p:nvSpPr>
        <p:spPr>
          <a:xfrm>
            <a:off x="9720072" y="1947672"/>
            <a:ext cx="193852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say ability</a:t>
            </a:r>
          </a:p>
        </p:txBody>
      </p:sp>
      <p:sp>
        <p:nvSpPr>
          <p:cNvPr id="23" name="Shape 21"/>
          <p:cNvSpPr/>
          <p:nvPr/>
        </p:nvSpPr>
        <p:spPr>
          <a:xfrm>
            <a:off x="658368" y="3154680"/>
            <a:ext cx="2578608" cy="1143000"/>
          </a:xfrm>
          <a:prstGeom prst="roundRect">
            <a:avLst>
              <a:gd name="adj" fmla="val 4800"/>
            </a:avLst>
          </a:prstGeom>
          <a:solidFill>
            <a:srgbClr val="FFEAF2"/>
          </a:solidFill>
          <a:ln w="15240">
            <a:solidFill>
              <a:srgbClr val="FF4F8B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95528" y="32644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❓</a:t>
            </a:r>
          </a:p>
        </p:txBody>
      </p:sp>
      <p:sp>
        <p:nvSpPr>
          <p:cNvPr id="25" name="Text 23"/>
          <p:cNvSpPr/>
          <p:nvPr/>
        </p:nvSpPr>
        <p:spPr>
          <a:xfrm>
            <a:off x="1161288" y="3264408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Can you _____?</a:t>
            </a:r>
          </a:p>
        </p:txBody>
      </p:sp>
      <p:sp>
        <p:nvSpPr>
          <p:cNvPr id="26" name="Text 24"/>
          <p:cNvSpPr/>
          <p:nvPr/>
        </p:nvSpPr>
        <p:spPr>
          <a:xfrm>
            <a:off x="1161288" y="3502152"/>
            <a:ext cx="193852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ask ability</a:t>
            </a:r>
          </a:p>
        </p:txBody>
      </p:sp>
      <p:sp>
        <p:nvSpPr>
          <p:cNvPr id="27" name="Shape 25"/>
          <p:cNvSpPr/>
          <p:nvPr/>
        </p:nvSpPr>
        <p:spPr>
          <a:xfrm>
            <a:off x="3511296" y="3154680"/>
            <a:ext cx="2578608" cy="1143000"/>
          </a:xfrm>
          <a:prstGeom prst="roundRect">
            <a:avLst>
              <a:gd name="adj" fmla="val 4800"/>
            </a:avLst>
          </a:prstGeom>
          <a:solidFill>
            <a:srgbClr val="EAF9F2"/>
          </a:solidFill>
          <a:ln w="15240">
            <a:solidFill>
              <a:srgbClr val="0B7F8D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3648456" y="32644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✅</a:t>
            </a:r>
          </a:p>
        </p:txBody>
      </p:sp>
      <p:sp>
        <p:nvSpPr>
          <p:cNvPr id="29" name="Text 27"/>
          <p:cNvSpPr/>
          <p:nvPr/>
        </p:nvSpPr>
        <p:spPr>
          <a:xfrm>
            <a:off x="4014216" y="3264408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Yes, I can.</a:t>
            </a:r>
          </a:p>
        </p:txBody>
      </p:sp>
      <p:sp>
        <p:nvSpPr>
          <p:cNvPr id="30" name="Text 28"/>
          <p:cNvSpPr/>
          <p:nvPr/>
        </p:nvSpPr>
        <p:spPr>
          <a:xfrm>
            <a:off x="4014216" y="3502152"/>
            <a:ext cx="193852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positive answer</a:t>
            </a:r>
          </a:p>
        </p:txBody>
      </p:sp>
      <p:sp>
        <p:nvSpPr>
          <p:cNvPr id="31" name="Shape 29"/>
          <p:cNvSpPr/>
          <p:nvPr/>
        </p:nvSpPr>
        <p:spPr>
          <a:xfrm>
            <a:off x="6364224" y="3154680"/>
            <a:ext cx="2578608" cy="1143000"/>
          </a:xfrm>
          <a:prstGeom prst="roundRect">
            <a:avLst>
              <a:gd name="adj" fmla="val 4800"/>
            </a:avLst>
          </a:prstGeom>
          <a:solidFill>
            <a:srgbClr val="FFEAF2"/>
          </a:solidFill>
          <a:ln w="15240">
            <a:solidFill>
              <a:srgbClr val="FF4F8B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501384" y="32644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❌</a:t>
            </a:r>
          </a:p>
        </p:txBody>
      </p:sp>
      <p:sp>
        <p:nvSpPr>
          <p:cNvPr id="33" name="Text 31"/>
          <p:cNvSpPr/>
          <p:nvPr/>
        </p:nvSpPr>
        <p:spPr>
          <a:xfrm>
            <a:off x="6867144" y="3264408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No, I can’t.</a:t>
            </a:r>
          </a:p>
        </p:txBody>
      </p:sp>
      <p:sp>
        <p:nvSpPr>
          <p:cNvPr id="34" name="Text 32"/>
          <p:cNvSpPr/>
          <p:nvPr/>
        </p:nvSpPr>
        <p:spPr>
          <a:xfrm>
            <a:off x="6867144" y="3502152"/>
            <a:ext cx="193852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negative answer</a:t>
            </a:r>
          </a:p>
        </p:txBody>
      </p:sp>
      <p:sp>
        <p:nvSpPr>
          <p:cNvPr id="35" name="Shape 33"/>
          <p:cNvSpPr/>
          <p:nvPr/>
        </p:nvSpPr>
        <p:spPr>
          <a:xfrm>
            <a:off x="9217152" y="3154680"/>
            <a:ext cx="2578608" cy="1143000"/>
          </a:xfrm>
          <a:prstGeom prst="roundRect">
            <a:avLst>
              <a:gd name="adj" fmla="val 4800"/>
            </a:avLst>
          </a:prstGeom>
          <a:solidFill>
            <a:srgbClr val="EAF9F2"/>
          </a:solidFill>
          <a:ln w="15240">
            <a:solidFill>
              <a:srgbClr val="0B7F8D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9354312" y="32644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👏</a:t>
            </a:r>
          </a:p>
        </p:txBody>
      </p:sp>
      <p:sp>
        <p:nvSpPr>
          <p:cNvPr id="37" name="Text 35"/>
          <p:cNvSpPr/>
          <p:nvPr/>
        </p:nvSpPr>
        <p:spPr>
          <a:xfrm>
            <a:off x="9720072" y="3264408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Great job!</a:t>
            </a:r>
          </a:p>
        </p:txBody>
      </p:sp>
      <p:sp>
        <p:nvSpPr>
          <p:cNvPr id="38" name="Text 36"/>
          <p:cNvSpPr/>
          <p:nvPr/>
        </p:nvSpPr>
        <p:spPr>
          <a:xfrm>
            <a:off x="9720072" y="3502152"/>
            <a:ext cx="193852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kind words</a:t>
            </a:r>
          </a:p>
        </p:txBody>
      </p:sp>
      <p:sp>
        <p:nvSpPr>
          <p:cNvPr id="39" name="Text 37"/>
          <p:cNvSpPr/>
          <p:nvPr/>
        </p:nvSpPr>
        <p:spPr>
          <a:xfrm>
            <a:off x="868680" y="525780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Repeat with rhythm: I LIKE DRAWING. I CAN SWIM. CAN YOU DANCE?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50292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Build the Sentence</a:t>
            </a:r>
          </a:p>
        </p:txBody>
      </p:sp>
      <p:sp>
        <p:nvSpPr>
          <p:cNvPr id="3" name="Text 1"/>
          <p:cNvSpPr/>
          <p:nvPr/>
        </p:nvSpPr>
        <p:spPr>
          <a:xfrm>
            <a:off x="713232" y="960120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Students practice two useful patterns.</a:t>
            </a:r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12700">
            <a:solidFill>
              <a:srgbClr val="83D7E7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12064" y="6656832"/>
            <a:ext cx="4389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Hobbies &amp; Abilities · Day 7 · Speaking &amp; Listening</a:t>
            </a:r>
          </a:p>
        </p:txBody>
      </p:sp>
      <p:sp>
        <p:nvSpPr>
          <p:cNvPr id="6" name="Text 4"/>
          <p:cNvSpPr/>
          <p:nvPr/>
        </p:nvSpPr>
        <p:spPr>
          <a:xfrm>
            <a:off x="11841480" y="6656832"/>
            <a:ext cx="219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10</a:t>
            </a:r>
          </a:p>
        </p:txBody>
      </p:sp>
      <p:sp>
        <p:nvSpPr>
          <p:cNvPr id="7" name="Shape 5"/>
          <p:cNvSpPr/>
          <p:nvPr/>
        </p:nvSpPr>
        <p:spPr>
          <a:xfrm>
            <a:off x="868680" y="1325880"/>
            <a:ext cx="104241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5240">
            <a:solidFill>
              <a:srgbClr val="83D7E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51560" y="1536192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I like + hobby.  /  I can + action.</a:t>
            </a:r>
          </a:p>
        </p:txBody>
      </p:sp>
      <p:sp>
        <p:nvSpPr>
          <p:cNvPr id="9" name="Shape 7"/>
          <p:cNvSpPr/>
          <p:nvPr/>
        </p:nvSpPr>
        <p:spPr>
          <a:xfrm>
            <a:off x="822960" y="233172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E8F7FC"/>
          </a:solidFill>
          <a:ln w="15240">
            <a:solidFill>
              <a:srgbClr val="00A8C8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60120" y="24414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🎨</a:t>
            </a:r>
          </a:p>
        </p:txBody>
      </p:sp>
      <p:sp>
        <p:nvSpPr>
          <p:cNvPr id="11" name="Text 9"/>
          <p:cNvSpPr/>
          <p:nvPr/>
        </p:nvSpPr>
        <p:spPr>
          <a:xfrm>
            <a:off x="1325880" y="244144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drawing</a:t>
            </a:r>
          </a:p>
        </p:txBody>
      </p:sp>
      <p:sp>
        <p:nvSpPr>
          <p:cNvPr id="12" name="Text 10"/>
          <p:cNvSpPr/>
          <p:nvPr/>
        </p:nvSpPr>
        <p:spPr>
          <a:xfrm>
            <a:off x="1325880" y="2679192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I like it.</a:t>
            </a:r>
          </a:p>
        </p:txBody>
      </p:sp>
      <p:sp>
        <p:nvSpPr>
          <p:cNvPr id="13" name="Shape 11"/>
          <p:cNvSpPr/>
          <p:nvPr/>
        </p:nvSpPr>
        <p:spPr>
          <a:xfrm>
            <a:off x="2697480" y="233172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E8F7FC"/>
          </a:solidFill>
          <a:ln w="15240">
            <a:solidFill>
              <a:srgbClr val="00A8C8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834640" y="24414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🖌️</a:t>
            </a:r>
          </a:p>
        </p:txBody>
      </p:sp>
      <p:sp>
        <p:nvSpPr>
          <p:cNvPr id="15" name="Text 13"/>
          <p:cNvSpPr/>
          <p:nvPr/>
        </p:nvSpPr>
        <p:spPr>
          <a:xfrm>
            <a:off x="3200400" y="244144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painting</a:t>
            </a:r>
          </a:p>
        </p:txBody>
      </p:sp>
      <p:sp>
        <p:nvSpPr>
          <p:cNvPr id="16" name="Text 14"/>
          <p:cNvSpPr/>
          <p:nvPr/>
        </p:nvSpPr>
        <p:spPr>
          <a:xfrm>
            <a:off x="3200400" y="2679192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I like it.</a:t>
            </a:r>
          </a:p>
        </p:txBody>
      </p:sp>
      <p:sp>
        <p:nvSpPr>
          <p:cNvPr id="17" name="Shape 15"/>
          <p:cNvSpPr/>
          <p:nvPr/>
        </p:nvSpPr>
        <p:spPr>
          <a:xfrm>
            <a:off x="4572000" y="233172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E8F7FC"/>
          </a:solidFill>
          <a:ln w="15240">
            <a:solidFill>
              <a:srgbClr val="00A8C8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709160" y="24414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📚</a:t>
            </a:r>
          </a:p>
        </p:txBody>
      </p:sp>
      <p:sp>
        <p:nvSpPr>
          <p:cNvPr id="19" name="Text 17"/>
          <p:cNvSpPr/>
          <p:nvPr/>
        </p:nvSpPr>
        <p:spPr>
          <a:xfrm>
            <a:off x="5074920" y="244144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reading</a:t>
            </a:r>
          </a:p>
        </p:txBody>
      </p:sp>
      <p:sp>
        <p:nvSpPr>
          <p:cNvPr id="20" name="Text 18"/>
          <p:cNvSpPr/>
          <p:nvPr/>
        </p:nvSpPr>
        <p:spPr>
          <a:xfrm>
            <a:off x="5074920" y="2679192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I like it.</a:t>
            </a:r>
          </a:p>
        </p:txBody>
      </p:sp>
      <p:sp>
        <p:nvSpPr>
          <p:cNvPr id="21" name="Shape 19"/>
          <p:cNvSpPr/>
          <p:nvPr/>
        </p:nvSpPr>
        <p:spPr>
          <a:xfrm>
            <a:off x="6446520" y="233172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E8F7FC"/>
          </a:solidFill>
          <a:ln w="15240">
            <a:solidFill>
              <a:srgbClr val="00A8C8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583680" y="24414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🎤</a:t>
            </a:r>
          </a:p>
        </p:txBody>
      </p:sp>
      <p:sp>
        <p:nvSpPr>
          <p:cNvPr id="23" name="Text 21"/>
          <p:cNvSpPr/>
          <p:nvPr/>
        </p:nvSpPr>
        <p:spPr>
          <a:xfrm>
            <a:off x="6949440" y="244144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singing</a:t>
            </a:r>
          </a:p>
        </p:txBody>
      </p:sp>
      <p:sp>
        <p:nvSpPr>
          <p:cNvPr id="24" name="Text 22"/>
          <p:cNvSpPr/>
          <p:nvPr/>
        </p:nvSpPr>
        <p:spPr>
          <a:xfrm>
            <a:off x="6949440" y="2679192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I can do it.</a:t>
            </a:r>
          </a:p>
        </p:txBody>
      </p:sp>
      <p:sp>
        <p:nvSpPr>
          <p:cNvPr id="25" name="Shape 23"/>
          <p:cNvSpPr/>
          <p:nvPr/>
        </p:nvSpPr>
        <p:spPr>
          <a:xfrm>
            <a:off x="8321040" y="233172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E8F7FC"/>
          </a:solidFill>
          <a:ln w="15240">
            <a:solidFill>
              <a:srgbClr val="00A8C8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458200" y="24414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💃</a:t>
            </a:r>
          </a:p>
        </p:txBody>
      </p:sp>
      <p:sp>
        <p:nvSpPr>
          <p:cNvPr id="27" name="Text 25"/>
          <p:cNvSpPr/>
          <p:nvPr/>
        </p:nvSpPr>
        <p:spPr>
          <a:xfrm>
            <a:off x="8823960" y="244144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dancing</a:t>
            </a:r>
          </a:p>
        </p:txBody>
      </p:sp>
      <p:sp>
        <p:nvSpPr>
          <p:cNvPr id="28" name="Text 26"/>
          <p:cNvSpPr/>
          <p:nvPr/>
        </p:nvSpPr>
        <p:spPr>
          <a:xfrm>
            <a:off x="8823960" y="2679192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I can do it.</a:t>
            </a:r>
          </a:p>
        </p:txBody>
      </p:sp>
      <p:sp>
        <p:nvSpPr>
          <p:cNvPr id="29" name="Shape 27"/>
          <p:cNvSpPr/>
          <p:nvPr/>
        </p:nvSpPr>
        <p:spPr>
          <a:xfrm>
            <a:off x="10195560" y="233172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E8F7FC"/>
          </a:solidFill>
          <a:ln w="15240">
            <a:solidFill>
              <a:srgbClr val="00A8C8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10332720" y="24414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🏊</a:t>
            </a:r>
          </a:p>
        </p:txBody>
      </p:sp>
      <p:sp>
        <p:nvSpPr>
          <p:cNvPr id="31" name="Text 29"/>
          <p:cNvSpPr/>
          <p:nvPr/>
        </p:nvSpPr>
        <p:spPr>
          <a:xfrm>
            <a:off x="10698480" y="244144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swimming</a:t>
            </a:r>
          </a:p>
        </p:txBody>
      </p:sp>
      <p:sp>
        <p:nvSpPr>
          <p:cNvPr id="32" name="Text 30"/>
          <p:cNvSpPr/>
          <p:nvPr/>
        </p:nvSpPr>
        <p:spPr>
          <a:xfrm>
            <a:off x="10698480" y="2679192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I can do it.</a:t>
            </a:r>
          </a:p>
        </p:txBody>
      </p:sp>
      <p:sp>
        <p:nvSpPr>
          <p:cNvPr id="33" name="Shape 31"/>
          <p:cNvSpPr/>
          <p:nvPr/>
        </p:nvSpPr>
        <p:spPr>
          <a:xfrm>
            <a:off x="822960" y="370332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FFF3C4"/>
          </a:solidFill>
          <a:ln w="15240">
            <a:solidFill>
              <a:srgbClr val="FF8A00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960120" y="38130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⚽</a:t>
            </a:r>
          </a:p>
        </p:txBody>
      </p:sp>
      <p:sp>
        <p:nvSpPr>
          <p:cNvPr id="35" name="Text 33"/>
          <p:cNvSpPr/>
          <p:nvPr/>
        </p:nvSpPr>
        <p:spPr>
          <a:xfrm>
            <a:off x="1325880" y="381304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soccer</a:t>
            </a:r>
          </a:p>
        </p:txBody>
      </p:sp>
      <p:sp>
        <p:nvSpPr>
          <p:cNvPr id="36" name="Text 34"/>
          <p:cNvSpPr/>
          <p:nvPr/>
        </p:nvSpPr>
        <p:spPr>
          <a:xfrm>
            <a:off x="1325880" y="4050792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sport</a:t>
            </a:r>
          </a:p>
        </p:txBody>
      </p:sp>
      <p:sp>
        <p:nvSpPr>
          <p:cNvPr id="37" name="Shape 35"/>
          <p:cNvSpPr/>
          <p:nvPr/>
        </p:nvSpPr>
        <p:spPr>
          <a:xfrm>
            <a:off x="2697480" y="370332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FFF3C4"/>
          </a:solidFill>
          <a:ln w="15240">
            <a:solidFill>
              <a:srgbClr val="FF8A00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2834640" y="38130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🏀</a:t>
            </a:r>
          </a:p>
        </p:txBody>
      </p:sp>
      <p:sp>
        <p:nvSpPr>
          <p:cNvPr id="39" name="Text 37"/>
          <p:cNvSpPr/>
          <p:nvPr/>
        </p:nvSpPr>
        <p:spPr>
          <a:xfrm>
            <a:off x="3200400" y="381304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basketball</a:t>
            </a:r>
          </a:p>
        </p:txBody>
      </p:sp>
      <p:sp>
        <p:nvSpPr>
          <p:cNvPr id="40" name="Text 38"/>
          <p:cNvSpPr/>
          <p:nvPr/>
        </p:nvSpPr>
        <p:spPr>
          <a:xfrm>
            <a:off x="3200400" y="4050792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sport</a:t>
            </a:r>
          </a:p>
        </p:txBody>
      </p:sp>
      <p:sp>
        <p:nvSpPr>
          <p:cNvPr id="41" name="Shape 39"/>
          <p:cNvSpPr/>
          <p:nvPr/>
        </p:nvSpPr>
        <p:spPr>
          <a:xfrm>
            <a:off x="4572000" y="370332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FFF3C4"/>
          </a:solidFill>
          <a:ln w="15240">
            <a:solidFill>
              <a:srgbClr val="FF8A00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4709160" y="38130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🎸</a:t>
            </a:r>
          </a:p>
        </p:txBody>
      </p:sp>
      <p:sp>
        <p:nvSpPr>
          <p:cNvPr id="43" name="Text 41"/>
          <p:cNvSpPr/>
          <p:nvPr/>
        </p:nvSpPr>
        <p:spPr>
          <a:xfrm>
            <a:off x="5074920" y="381304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guitar</a:t>
            </a:r>
          </a:p>
        </p:txBody>
      </p:sp>
      <p:sp>
        <p:nvSpPr>
          <p:cNvPr id="44" name="Text 42"/>
          <p:cNvSpPr/>
          <p:nvPr/>
        </p:nvSpPr>
        <p:spPr>
          <a:xfrm>
            <a:off x="5074920" y="4050792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music</a:t>
            </a:r>
          </a:p>
        </p:txBody>
      </p:sp>
      <p:sp>
        <p:nvSpPr>
          <p:cNvPr id="45" name="Shape 43"/>
          <p:cNvSpPr/>
          <p:nvPr/>
        </p:nvSpPr>
        <p:spPr>
          <a:xfrm>
            <a:off x="6446520" y="370332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FFF3C4"/>
          </a:solidFill>
          <a:ln w="15240">
            <a:solidFill>
              <a:srgbClr val="FF8A00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6583680" y="38130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🎹</a:t>
            </a:r>
          </a:p>
        </p:txBody>
      </p:sp>
      <p:sp>
        <p:nvSpPr>
          <p:cNvPr id="47" name="Text 45"/>
          <p:cNvSpPr/>
          <p:nvPr/>
        </p:nvSpPr>
        <p:spPr>
          <a:xfrm>
            <a:off x="6949440" y="381304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piano</a:t>
            </a:r>
          </a:p>
        </p:txBody>
      </p:sp>
      <p:sp>
        <p:nvSpPr>
          <p:cNvPr id="48" name="Text 46"/>
          <p:cNvSpPr/>
          <p:nvPr/>
        </p:nvSpPr>
        <p:spPr>
          <a:xfrm>
            <a:off x="6949440" y="4050792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music</a:t>
            </a:r>
          </a:p>
        </p:txBody>
      </p:sp>
      <p:sp>
        <p:nvSpPr>
          <p:cNvPr id="49" name="Shape 47"/>
          <p:cNvSpPr/>
          <p:nvPr/>
        </p:nvSpPr>
        <p:spPr>
          <a:xfrm>
            <a:off x="8321040" y="370332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FFF3C4"/>
          </a:solidFill>
          <a:ln w="15240">
            <a:solidFill>
              <a:srgbClr val="FF8A00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8458200" y="38130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🚲</a:t>
            </a:r>
          </a:p>
        </p:txBody>
      </p:sp>
      <p:sp>
        <p:nvSpPr>
          <p:cNvPr id="51" name="Text 49"/>
          <p:cNvSpPr/>
          <p:nvPr/>
        </p:nvSpPr>
        <p:spPr>
          <a:xfrm>
            <a:off x="8823960" y="381304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bike</a:t>
            </a:r>
          </a:p>
        </p:txBody>
      </p:sp>
      <p:sp>
        <p:nvSpPr>
          <p:cNvPr id="52" name="Text 50"/>
          <p:cNvSpPr/>
          <p:nvPr/>
        </p:nvSpPr>
        <p:spPr>
          <a:xfrm>
            <a:off x="8823960" y="4050792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action</a:t>
            </a:r>
          </a:p>
        </p:txBody>
      </p:sp>
      <p:sp>
        <p:nvSpPr>
          <p:cNvPr id="53" name="Shape 51"/>
          <p:cNvSpPr/>
          <p:nvPr/>
        </p:nvSpPr>
        <p:spPr>
          <a:xfrm>
            <a:off x="10195560" y="370332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FFF3C4"/>
          </a:solidFill>
          <a:ln w="15240">
            <a:solidFill>
              <a:srgbClr val="FF8A00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10332720" y="38130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🧑‍🍳</a:t>
            </a:r>
          </a:p>
        </p:txBody>
      </p:sp>
      <p:sp>
        <p:nvSpPr>
          <p:cNvPr id="55" name="Text 53"/>
          <p:cNvSpPr/>
          <p:nvPr/>
        </p:nvSpPr>
        <p:spPr>
          <a:xfrm>
            <a:off x="10698480" y="381304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cooking</a:t>
            </a:r>
          </a:p>
        </p:txBody>
      </p:sp>
      <p:sp>
        <p:nvSpPr>
          <p:cNvPr id="56" name="Text 54"/>
          <p:cNvSpPr/>
          <p:nvPr/>
        </p:nvSpPr>
        <p:spPr>
          <a:xfrm>
            <a:off x="10698480" y="4050792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make food</a:t>
            </a:r>
          </a:p>
        </p:txBody>
      </p:sp>
      <p:sp>
        <p:nvSpPr>
          <p:cNvPr id="57" name="Text 55"/>
          <p:cNvSpPr/>
          <p:nvPr/>
        </p:nvSpPr>
        <p:spPr>
          <a:xfrm>
            <a:off x="868680" y="5257800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Partner practice: Choose 2 hobbies and say “I like…” or “I can…”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50292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Listening 1: Maya’s Hobby</a:t>
            </a:r>
          </a:p>
        </p:txBody>
      </p:sp>
      <p:sp>
        <p:nvSpPr>
          <p:cNvPr id="3" name="Text 1"/>
          <p:cNvSpPr/>
          <p:nvPr/>
        </p:nvSpPr>
        <p:spPr>
          <a:xfrm>
            <a:off x="713232" y="960120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Teacher reads. Students listen for hobby, ability, and feeling.</a:t>
            </a:r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12700">
            <a:solidFill>
              <a:srgbClr val="83D7E7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12064" y="6656832"/>
            <a:ext cx="4389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Hobbies &amp; Abilities · Day 7 · Speaking &amp; Listening</a:t>
            </a:r>
          </a:p>
        </p:txBody>
      </p:sp>
      <p:sp>
        <p:nvSpPr>
          <p:cNvPr id="6" name="Text 4"/>
          <p:cNvSpPr/>
          <p:nvPr/>
        </p:nvSpPr>
        <p:spPr>
          <a:xfrm>
            <a:off x="11841480" y="6656832"/>
            <a:ext cx="219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11</a:t>
            </a:r>
          </a:p>
        </p:txBody>
      </p:sp>
      <p:pic>
        <p:nvPicPr>
          <p:cNvPr id="26" name="Picture 25" descr="day7_crop_slide1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371600"/>
            <a:ext cx="4892040" cy="41605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1371600"/>
            <a:ext cx="4892040" cy="4160520"/>
          </a:xfrm>
          <a:prstGeom prst="roundRect">
            <a:avLst>
              <a:gd name="adj" fmla="val 1758"/>
            </a:avLst>
          </a:prstGeom>
          <a:solidFill>
            <a:srgbClr val="FFFFFF">
              <a:alpha val="0"/>
            </a:srgbClr>
          </a:solidFill>
          <a:ln w="25400">
            <a:solidFill>
              <a:srgbClr val="FFFFFF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5989320" y="1508760"/>
            <a:ext cx="5166360" cy="658368"/>
          </a:xfrm>
          <a:prstGeom prst="roundRect">
            <a:avLst>
              <a:gd name="adj" fmla="val 11111"/>
            </a:avLst>
          </a:prstGeom>
          <a:solidFill>
            <a:srgbClr val="E8F7FC"/>
          </a:solidFill>
          <a:ln w="17780">
            <a:solidFill>
              <a:srgbClr val="00A8C8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190488" y="1673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🎨</a:t>
            </a:r>
          </a:p>
        </p:txBody>
      </p:sp>
      <p:sp>
        <p:nvSpPr>
          <p:cNvPr id="11" name="Text 8"/>
          <p:cNvSpPr/>
          <p:nvPr/>
        </p:nvSpPr>
        <p:spPr>
          <a:xfrm>
            <a:off x="6702552" y="1673352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I like painting.</a:t>
            </a:r>
          </a:p>
        </p:txBody>
      </p:sp>
      <p:sp>
        <p:nvSpPr>
          <p:cNvPr id="12" name="Text 9"/>
          <p:cNvSpPr/>
          <p:nvPr/>
        </p:nvSpPr>
        <p:spPr>
          <a:xfrm>
            <a:off x="6702552" y="1984248"/>
            <a:ext cx="4251960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Listen and raise your hand.</a:t>
            </a:r>
          </a:p>
        </p:txBody>
      </p:sp>
      <p:sp>
        <p:nvSpPr>
          <p:cNvPr id="13" name="Shape 10"/>
          <p:cNvSpPr/>
          <p:nvPr/>
        </p:nvSpPr>
        <p:spPr>
          <a:xfrm>
            <a:off x="5989320" y="2377440"/>
            <a:ext cx="5166360" cy="658368"/>
          </a:xfrm>
          <a:prstGeom prst="roundRect">
            <a:avLst>
              <a:gd name="adj" fmla="val 11111"/>
            </a:avLst>
          </a:prstGeom>
          <a:solidFill>
            <a:srgbClr val="FFF3C4"/>
          </a:solidFill>
          <a:ln w="17780">
            <a:solidFill>
              <a:srgbClr val="FF8A00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190488" y="2542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🎤</a:t>
            </a:r>
          </a:p>
        </p:txBody>
      </p:sp>
      <p:sp>
        <p:nvSpPr>
          <p:cNvPr id="15" name="Text 12"/>
          <p:cNvSpPr/>
          <p:nvPr/>
        </p:nvSpPr>
        <p:spPr>
          <a:xfrm>
            <a:off x="6702552" y="2542032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I can sing.</a:t>
            </a:r>
          </a:p>
        </p:txBody>
      </p:sp>
      <p:sp>
        <p:nvSpPr>
          <p:cNvPr id="16" name="Text 13"/>
          <p:cNvSpPr/>
          <p:nvPr/>
        </p:nvSpPr>
        <p:spPr>
          <a:xfrm>
            <a:off x="6702552" y="2852928"/>
            <a:ext cx="4251960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Listen and raise your hand.</a:t>
            </a:r>
          </a:p>
        </p:txBody>
      </p:sp>
      <p:sp>
        <p:nvSpPr>
          <p:cNvPr id="17" name="Shape 14"/>
          <p:cNvSpPr/>
          <p:nvPr/>
        </p:nvSpPr>
        <p:spPr>
          <a:xfrm>
            <a:off x="5989320" y="3246120"/>
            <a:ext cx="5166360" cy="658368"/>
          </a:xfrm>
          <a:prstGeom prst="roundRect">
            <a:avLst>
              <a:gd name="adj" fmla="val 11111"/>
            </a:avLst>
          </a:prstGeom>
          <a:solidFill>
            <a:srgbClr val="E8F7FC"/>
          </a:solidFill>
          <a:ln w="17780">
            <a:solidFill>
              <a:srgbClr val="00A8C8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190488" y="3410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❌</a:t>
            </a:r>
          </a:p>
        </p:txBody>
      </p:sp>
      <p:sp>
        <p:nvSpPr>
          <p:cNvPr id="19" name="Text 16"/>
          <p:cNvSpPr/>
          <p:nvPr/>
        </p:nvSpPr>
        <p:spPr>
          <a:xfrm>
            <a:off x="6702552" y="3410712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I can’t swim.</a:t>
            </a:r>
          </a:p>
        </p:txBody>
      </p:sp>
      <p:sp>
        <p:nvSpPr>
          <p:cNvPr id="20" name="Text 17"/>
          <p:cNvSpPr/>
          <p:nvPr/>
        </p:nvSpPr>
        <p:spPr>
          <a:xfrm>
            <a:off x="6702552" y="3721608"/>
            <a:ext cx="4251960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Listen and raise your hand.</a:t>
            </a:r>
          </a:p>
        </p:txBody>
      </p:sp>
      <p:sp>
        <p:nvSpPr>
          <p:cNvPr id="21" name="Shape 18"/>
          <p:cNvSpPr/>
          <p:nvPr/>
        </p:nvSpPr>
        <p:spPr>
          <a:xfrm>
            <a:off x="5989320" y="4114800"/>
            <a:ext cx="5166360" cy="658368"/>
          </a:xfrm>
          <a:prstGeom prst="roundRect">
            <a:avLst>
              <a:gd name="adj" fmla="val 11111"/>
            </a:avLst>
          </a:prstGeom>
          <a:solidFill>
            <a:srgbClr val="FFF3C4"/>
          </a:solidFill>
          <a:ln w="17780">
            <a:solidFill>
              <a:srgbClr val="FF8A00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6190488" y="4279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😊</a:t>
            </a:r>
          </a:p>
        </p:txBody>
      </p:sp>
      <p:sp>
        <p:nvSpPr>
          <p:cNvPr id="23" name="Text 20"/>
          <p:cNvSpPr/>
          <p:nvPr/>
        </p:nvSpPr>
        <p:spPr>
          <a:xfrm>
            <a:off x="6702552" y="4279392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I feel happy.</a:t>
            </a:r>
          </a:p>
        </p:txBody>
      </p:sp>
      <p:sp>
        <p:nvSpPr>
          <p:cNvPr id="24" name="Text 21"/>
          <p:cNvSpPr/>
          <p:nvPr/>
        </p:nvSpPr>
        <p:spPr>
          <a:xfrm>
            <a:off x="6702552" y="4590288"/>
            <a:ext cx="4251960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Listen and raise your hand.</a:t>
            </a:r>
          </a:p>
        </p:txBody>
      </p:sp>
      <p:sp>
        <p:nvSpPr>
          <p:cNvPr id="25" name="Text 22"/>
          <p:cNvSpPr/>
          <p:nvPr/>
        </p:nvSpPr>
        <p:spPr>
          <a:xfrm>
            <a:off x="5989320" y="516636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Script is in speaker notes for the teacher.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50292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Listening Check</a:t>
            </a:r>
          </a:p>
        </p:txBody>
      </p:sp>
      <p:sp>
        <p:nvSpPr>
          <p:cNvPr id="3" name="Text 1"/>
          <p:cNvSpPr/>
          <p:nvPr/>
        </p:nvSpPr>
        <p:spPr>
          <a:xfrm>
            <a:off x="713232" y="960120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Students answer with fingers: 1, 2, or 3.</a:t>
            </a:r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12700">
            <a:solidFill>
              <a:srgbClr val="83D7E7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12064" y="6656832"/>
            <a:ext cx="4389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Hobbies &amp; Abilities · Day 7 · Speaking &amp; Listening</a:t>
            </a:r>
          </a:p>
        </p:txBody>
      </p:sp>
      <p:sp>
        <p:nvSpPr>
          <p:cNvPr id="6" name="Text 4"/>
          <p:cNvSpPr/>
          <p:nvPr/>
        </p:nvSpPr>
        <p:spPr>
          <a:xfrm>
            <a:off x="11841480" y="6656832"/>
            <a:ext cx="219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12</a:t>
            </a:r>
          </a:p>
        </p:txBody>
      </p:sp>
      <p:sp>
        <p:nvSpPr>
          <p:cNvPr id="7" name="Shape 5"/>
          <p:cNvSpPr/>
          <p:nvPr/>
        </p:nvSpPr>
        <p:spPr>
          <a:xfrm>
            <a:off x="914400" y="1508760"/>
            <a:ext cx="4892040" cy="1417320"/>
          </a:xfrm>
          <a:prstGeom prst="roundRect">
            <a:avLst>
              <a:gd name="adj" fmla="val 5161"/>
            </a:avLst>
          </a:prstGeom>
          <a:solidFill>
            <a:srgbClr val="E8F7FC"/>
          </a:solidFill>
          <a:ln w="17780">
            <a:solidFill>
              <a:srgbClr val="00A8C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115568" y="1673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👂</a:t>
            </a:r>
          </a:p>
        </p:txBody>
      </p:sp>
      <p:sp>
        <p:nvSpPr>
          <p:cNvPr id="9" name="Text 7"/>
          <p:cNvSpPr/>
          <p:nvPr/>
        </p:nvSpPr>
        <p:spPr>
          <a:xfrm>
            <a:off x="1627632" y="1673352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What hobby does Maya like?</a:t>
            </a:r>
          </a:p>
        </p:txBody>
      </p:sp>
      <p:sp>
        <p:nvSpPr>
          <p:cNvPr id="10" name="Text 8"/>
          <p:cNvSpPr/>
          <p:nvPr/>
        </p:nvSpPr>
        <p:spPr>
          <a:xfrm>
            <a:off x="1627632" y="1984248"/>
            <a:ext cx="397764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1 painting</a:t>
            </a:r>
          </a:p>
          <a:p>
            <a:r>
              <a:t>2 basketball</a:t>
            </a:r>
          </a:p>
          <a:p>
            <a:r>
              <a:t>3 cooking</a:t>
            </a:r>
          </a:p>
        </p:txBody>
      </p:sp>
      <p:sp>
        <p:nvSpPr>
          <p:cNvPr id="11" name="Shape 9"/>
          <p:cNvSpPr/>
          <p:nvPr/>
        </p:nvSpPr>
        <p:spPr>
          <a:xfrm>
            <a:off x="6400800" y="1508760"/>
            <a:ext cx="4892040" cy="1417320"/>
          </a:xfrm>
          <a:prstGeom prst="roundRect">
            <a:avLst>
              <a:gd name="adj" fmla="val 5161"/>
            </a:avLst>
          </a:prstGeom>
          <a:solidFill>
            <a:srgbClr val="FFF3C4"/>
          </a:solidFill>
          <a:ln w="17780">
            <a:solidFill>
              <a:srgbClr val="FF8A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01968" y="1673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🥪</a:t>
            </a:r>
          </a:p>
        </p:txBody>
      </p:sp>
      <p:sp>
        <p:nvSpPr>
          <p:cNvPr id="13" name="Text 11"/>
          <p:cNvSpPr/>
          <p:nvPr/>
        </p:nvSpPr>
        <p:spPr>
          <a:xfrm>
            <a:off x="7114032" y="1673352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What can Maya do?</a:t>
            </a:r>
          </a:p>
        </p:txBody>
      </p:sp>
      <p:sp>
        <p:nvSpPr>
          <p:cNvPr id="14" name="Text 12"/>
          <p:cNvSpPr/>
          <p:nvPr/>
        </p:nvSpPr>
        <p:spPr>
          <a:xfrm>
            <a:off x="7114032" y="1984248"/>
            <a:ext cx="397764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1 swim</a:t>
            </a:r>
          </a:p>
          <a:p>
            <a:r>
              <a:t>2 sing</a:t>
            </a:r>
          </a:p>
          <a:p>
            <a:r>
              <a:t>3 ride a bike</a:t>
            </a:r>
          </a:p>
        </p:txBody>
      </p:sp>
      <p:sp>
        <p:nvSpPr>
          <p:cNvPr id="15" name="Shape 13"/>
          <p:cNvSpPr/>
          <p:nvPr/>
        </p:nvSpPr>
        <p:spPr>
          <a:xfrm>
            <a:off x="914400" y="3383280"/>
            <a:ext cx="4892040" cy="1417320"/>
          </a:xfrm>
          <a:prstGeom prst="roundRect">
            <a:avLst>
              <a:gd name="adj" fmla="val 5161"/>
            </a:avLst>
          </a:prstGeom>
          <a:solidFill>
            <a:srgbClr val="E8F7FC"/>
          </a:solidFill>
          <a:ln w="17780">
            <a:solidFill>
              <a:srgbClr val="00A8C8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115568" y="3547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💵</a:t>
            </a:r>
          </a:p>
        </p:txBody>
      </p:sp>
      <p:sp>
        <p:nvSpPr>
          <p:cNvPr id="17" name="Text 15"/>
          <p:cNvSpPr/>
          <p:nvPr/>
        </p:nvSpPr>
        <p:spPr>
          <a:xfrm>
            <a:off x="1627632" y="3547872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What can’t Maya do?</a:t>
            </a:r>
          </a:p>
        </p:txBody>
      </p:sp>
      <p:sp>
        <p:nvSpPr>
          <p:cNvPr id="18" name="Text 16"/>
          <p:cNvSpPr/>
          <p:nvPr/>
        </p:nvSpPr>
        <p:spPr>
          <a:xfrm>
            <a:off x="1627632" y="3858768"/>
            <a:ext cx="397764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1 swim</a:t>
            </a:r>
          </a:p>
          <a:p>
            <a:r>
              <a:t>2 dance</a:t>
            </a:r>
          </a:p>
          <a:p>
            <a:r>
              <a:t>3 read</a:t>
            </a:r>
          </a:p>
        </p:txBody>
      </p:sp>
      <p:sp>
        <p:nvSpPr>
          <p:cNvPr id="19" name="Shape 17"/>
          <p:cNvSpPr/>
          <p:nvPr/>
        </p:nvSpPr>
        <p:spPr>
          <a:xfrm>
            <a:off x="6400800" y="3383280"/>
            <a:ext cx="4892040" cy="1417320"/>
          </a:xfrm>
          <a:prstGeom prst="roundRect">
            <a:avLst>
              <a:gd name="adj" fmla="val 5161"/>
            </a:avLst>
          </a:prstGeom>
          <a:solidFill>
            <a:srgbClr val="FFF3C4"/>
          </a:solidFill>
          <a:ln w="17780">
            <a:solidFill>
              <a:srgbClr val="FF8A0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601968" y="3547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🙏</a:t>
            </a:r>
          </a:p>
        </p:txBody>
      </p:sp>
      <p:sp>
        <p:nvSpPr>
          <p:cNvPr id="21" name="Text 19"/>
          <p:cNvSpPr/>
          <p:nvPr/>
        </p:nvSpPr>
        <p:spPr>
          <a:xfrm>
            <a:off x="7114032" y="3547872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How does Maya feel?</a:t>
            </a:r>
          </a:p>
        </p:txBody>
      </p:sp>
      <p:sp>
        <p:nvSpPr>
          <p:cNvPr id="22" name="Text 20"/>
          <p:cNvSpPr/>
          <p:nvPr/>
        </p:nvSpPr>
        <p:spPr>
          <a:xfrm>
            <a:off x="7114032" y="3858768"/>
            <a:ext cx="397764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1 happy</a:t>
            </a:r>
          </a:p>
          <a:p>
            <a:r>
              <a:t>2 angry</a:t>
            </a:r>
          </a:p>
          <a:p>
            <a:r>
              <a:t>3 tired</a:t>
            </a:r>
          </a:p>
        </p:txBody>
      </p:sp>
      <p:sp>
        <p:nvSpPr>
          <p:cNvPr id="23" name="Text 21"/>
          <p:cNvSpPr/>
          <p:nvPr/>
        </p:nvSpPr>
        <p:spPr>
          <a:xfrm>
            <a:off x="868680" y="548640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Fast correction: Say the full answer together.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50292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Speaking Game: Hobby Chain</a:t>
            </a:r>
          </a:p>
        </p:txBody>
      </p:sp>
      <p:sp>
        <p:nvSpPr>
          <p:cNvPr id="3" name="Text 1"/>
          <p:cNvSpPr/>
          <p:nvPr/>
        </p:nvSpPr>
        <p:spPr>
          <a:xfrm>
            <a:off x="713232" y="960120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Students build a longer hobby conversation together.</a:t>
            </a:r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12700">
            <a:solidFill>
              <a:srgbClr val="83D7E7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12064" y="6656832"/>
            <a:ext cx="4389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Hobbies &amp; Abilities · Day 7 · Speaking &amp; Listening</a:t>
            </a:r>
          </a:p>
        </p:txBody>
      </p:sp>
      <p:sp>
        <p:nvSpPr>
          <p:cNvPr id="6" name="Text 4"/>
          <p:cNvSpPr/>
          <p:nvPr/>
        </p:nvSpPr>
        <p:spPr>
          <a:xfrm>
            <a:off x="11841480" y="6656832"/>
            <a:ext cx="219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13</a:t>
            </a:r>
          </a:p>
        </p:txBody>
      </p:sp>
      <p:sp>
        <p:nvSpPr>
          <p:cNvPr id="7" name="Shape 5"/>
          <p:cNvSpPr/>
          <p:nvPr/>
        </p:nvSpPr>
        <p:spPr>
          <a:xfrm>
            <a:off x="868680" y="1600200"/>
            <a:ext cx="594360" cy="594360"/>
          </a:xfrm>
          <a:prstGeom prst="ellipse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1783080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</a:t>
            </a:r>
          </a:p>
        </p:txBody>
      </p:sp>
      <p:sp>
        <p:nvSpPr>
          <p:cNvPr id="9" name="Shape 7"/>
          <p:cNvSpPr/>
          <p:nvPr/>
        </p:nvSpPr>
        <p:spPr>
          <a:xfrm>
            <a:off x="868680" y="2331720"/>
            <a:ext cx="2423160" cy="1645920"/>
          </a:xfrm>
          <a:prstGeom prst="roundRect">
            <a:avLst>
              <a:gd name="adj" fmla="val 4444"/>
            </a:avLst>
          </a:prstGeom>
          <a:solidFill>
            <a:srgbClr val="E8F7FC"/>
          </a:solidFill>
          <a:ln w="17780">
            <a:solidFill>
              <a:srgbClr val="00A8C8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69848" y="2496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🎭</a:t>
            </a:r>
          </a:p>
        </p:txBody>
      </p:sp>
      <p:sp>
        <p:nvSpPr>
          <p:cNvPr id="11" name="Text 9"/>
          <p:cNvSpPr/>
          <p:nvPr/>
        </p:nvSpPr>
        <p:spPr>
          <a:xfrm>
            <a:off x="1581912" y="249631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Pick a card.</a:t>
            </a:r>
          </a:p>
        </p:txBody>
      </p:sp>
      <p:sp>
        <p:nvSpPr>
          <p:cNvPr id="12" name="Text 10"/>
          <p:cNvSpPr/>
          <p:nvPr/>
        </p:nvSpPr>
        <p:spPr>
          <a:xfrm>
            <a:off x="1581912" y="2807208"/>
            <a:ext cx="1508760" cy="1042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draw / dance / soccer</a:t>
            </a:r>
          </a:p>
        </p:txBody>
      </p:sp>
      <p:sp>
        <p:nvSpPr>
          <p:cNvPr id="13" name="Shape 11"/>
          <p:cNvSpPr/>
          <p:nvPr/>
        </p:nvSpPr>
        <p:spPr>
          <a:xfrm>
            <a:off x="3657600" y="1600200"/>
            <a:ext cx="594360" cy="594360"/>
          </a:xfrm>
          <a:prstGeom prst="ellipse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657600" y="1783080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2</a:t>
            </a:r>
          </a:p>
        </p:txBody>
      </p:sp>
      <p:sp>
        <p:nvSpPr>
          <p:cNvPr id="15" name="Shape 13"/>
          <p:cNvSpPr/>
          <p:nvPr/>
        </p:nvSpPr>
        <p:spPr>
          <a:xfrm>
            <a:off x="3657600" y="2331720"/>
            <a:ext cx="2423160" cy="1645920"/>
          </a:xfrm>
          <a:prstGeom prst="roundRect">
            <a:avLst>
              <a:gd name="adj" fmla="val 4444"/>
            </a:avLst>
          </a:prstGeom>
          <a:solidFill>
            <a:srgbClr val="FFF3C4"/>
          </a:solidFill>
          <a:ln w="17780">
            <a:solidFill>
              <a:srgbClr val="FF8A0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858768" y="2496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🎭</a:t>
            </a:r>
          </a:p>
        </p:txBody>
      </p:sp>
      <p:sp>
        <p:nvSpPr>
          <p:cNvPr id="17" name="Text 15"/>
          <p:cNvSpPr/>
          <p:nvPr/>
        </p:nvSpPr>
        <p:spPr>
          <a:xfrm>
            <a:off x="4370832" y="249631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Say your hobby.</a:t>
            </a:r>
          </a:p>
        </p:txBody>
      </p:sp>
      <p:sp>
        <p:nvSpPr>
          <p:cNvPr id="18" name="Text 16"/>
          <p:cNvSpPr/>
          <p:nvPr/>
        </p:nvSpPr>
        <p:spPr>
          <a:xfrm>
            <a:off x="4370832" y="2807208"/>
            <a:ext cx="1508760" cy="1042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I like drawing.</a:t>
            </a:r>
          </a:p>
        </p:txBody>
      </p:sp>
      <p:sp>
        <p:nvSpPr>
          <p:cNvPr id="19" name="Shape 17"/>
          <p:cNvSpPr/>
          <p:nvPr/>
        </p:nvSpPr>
        <p:spPr>
          <a:xfrm>
            <a:off x="6446520" y="1600200"/>
            <a:ext cx="594360" cy="594360"/>
          </a:xfrm>
          <a:prstGeom prst="ellipse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46520" y="1783080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3</a:t>
            </a:r>
          </a:p>
        </p:txBody>
      </p:sp>
      <p:sp>
        <p:nvSpPr>
          <p:cNvPr id="21" name="Shape 19"/>
          <p:cNvSpPr/>
          <p:nvPr/>
        </p:nvSpPr>
        <p:spPr>
          <a:xfrm>
            <a:off x="6446520" y="2331720"/>
            <a:ext cx="2423160" cy="1645920"/>
          </a:xfrm>
          <a:prstGeom prst="roundRect">
            <a:avLst>
              <a:gd name="adj" fmla="val 4444"/>
            </a:avLst>
          </a:prstGeom>
          <a:solidFill>
            <a:srgbClr val="E8F7FC"/>
          </a:solidFill>
          <a:ln w="17780">
            <a:solidFill>
              <a:srgbClr val="00A8C8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647688" y="2496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🎭</a:t>
            </a:r>
          </a:p>
        </p:txBody>
      </p:sp>
      <p:sp>
        <p:nvSpPr>
          <p:cNvPr id="23" name="Text 21"/>
          <p:cNvSpPr/>
          <p:nvPr/>
        </p:nvSpPr>
        <p:spPr>
          <a:xfrm>
            <a:off x="7159752" y="249631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Partner asks ability.</a:t>
            </a:r>
          </a:p>
        </p:txBody>
      </p:sp>
      <p:sp>
        <p:nvSpPr>
          <p:cNvPr id="24" name="Text 22"/>
          <p:cNvSpPr/>
          <p:nvPr/>
        </p:nvSpPr>
        <p:spPr>
          <a:xfrm>
            <a:off x="7159752" y="2807208"/>
            <a:ext cx="1508760" cy="1042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Can you draw?</a:t>
            </a:r>
          </a:p>
        </p:txBody>
      </p:sp>
      <p:sp>
        <p:nvSpPr>
          <p:cNvPr id="25" name="Shape 23"/>
          <p:cNvSpPr/>
          <p:nvPr/>
        </p:nvSpPr>
        <p:spPr>
          <a:xfrm>
            <a:off x="9235440" y="1600200"/>
            <a:ext cx="594360" cy="594360"/>
          </a:xfrm>
          <a:prstGeom prst="ellipse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9235440" y="1783080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4</a:t>
            </a:r>
          </a:p>
        </p:txBody>
      </p:sp>
      <p:sp>
        <p:nvSpPr>
          <p:cNvPr id="27" name="Shape 25"/>
          <p:cNvSpPr/>
          <p:nvPr/>
        </p:nvSpPr>
        <p:spPr>
          <a:xfrm>
            <a:off x="9235440" y="2331720"/>
            <a:ext cx="2423160" cy="1645920"/>
          </a:xfrm>
          <a:prstGeom prst="roundRect">
            <a:avLst>
              <a:gd name="adj" fmla="val 4444"/>
            </a:avLst>
          </a:prstGeom>
          <a:solidFill>
            <a:srgbClr val="FFF3C4"/>
          </a:solidFill>
          <a:ln w="17780">
            <a:solidFill>
              <a:srgbClr val="FF8A00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9436608" y="2496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🎭</a:t>
            </a:r>
          </a:p>
        </p:txBody>
      </p:sp>
      <p:sp>
        <p:nvSpPr>
          <p:cNvPr id="29" name="Text 27"/>
          <p:cNvSpPr/>
          <p:nvPr/>
        </p:nvSpPr>
        <p:spPr>
          <a:xfrm>
            <a:off x="9948672" y="249631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Give the answer.</a:t>
            </a:r>
          </a:p>
        </p:txBody>
      </p:sp>
      <p:sp>
        <p:nvSpPr>
          <p:cNvPr id="30" name="Text 28"/>
          <p:cNvSpPr/>
          <p:nvPr/>
        </p:nvSpPr>
        <p:spPr>
          <a:xfrm>
            <a:off x="9948672" y="2807208"/>
            <a:ext cx="1508760" cy="1042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Yes, I can. / No, I can’t.</a:t>
            </a:r>
          </a:p>
        </p:txBody>
      </p:sp>
      <p:sp>
        <p:nvSpPr>
          <p:cNvPr id="31" name="Text 29"/>
          <p:cNvSpPr/>
          <p:nvPr/>
        </p:nvSpPr>
        <p:spPr>
          <a:xfrm>
            <a:off x="868680" y="525780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Use English only. Use gestures if you forget a word!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50292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Dialogue Model</a:t>
            </a:r>
          </a:p>
        </p:txBody>
      </p:sp>
      <p:sp>
        <p:nvSpPr>
          <p:cNvPr id="3" name="Text 1"/>
          <p:cNvSpPr/>
          <p:nvPr/>
        </p:nvSpPr>
        <p:spPr>
          <a:xfrm>
            <a:off x="713232" y="960120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Students practice a short, safe conversation.</a:t>
            </a:r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12700">
            <a:solidFill>
              <a:srgbClr val="83D7E7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12064" y="6656832"/>
            <a:ext cx="4389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Hobbies &amp; Abilities · Day 7 · Speaking &amp; Listening</a:t>
            </a:r>
          </a:p>
        </p:txBody>
      </p:sp>
      <p:sp>
        <p:nvSpPr>
          <p:cNvPr id="6" name="Text 4"/>
          <p:cNvSpPr/>
          <p:nvPr/>
        </p:nvSpPr>
        <p:spPr>
          <a:xfrm>
            <a:off x="11841480" y="6656832"/>
            <a:ext cx="219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14</a:t>
            </a:r>
          </a:p>
        </p:txBody>
      </p:sp>
      <p:sp>
        <p:nvSpPr>
          <p:cNvPr id="7" name="Shape 5"/>
          <p:cNvSpPr/>
          <p:nvPr/>
        </p:nvSpPr>
        <p:spPr>
          <a:xfrm>
            <a:off x="1005840" y="1417320"/>
            <a:ext cx="10149840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19050">
            <a:solidFill>
              <a:srgbClr val="83D7E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417320" y="1737360"/>
            <a:ext cx="9326880" cy="2148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t>A: Hello. What do you like?</a:t>
            </a:r>
          </a:p>
          <a:p>
            <a:r>
              <a:t>B: I like painting.</a:t>
            </a:r>
          </a:p>
          <a:p>
            <a:r>
              <a:t>A: Can you paint flowers?</a:t>
            </a:r>
          </a:p>
          <a:p>
            <a:r>
              <a:t>B: Yes, I can. Can you sing?</a:t>
            </a:r>
          </a:p>
          <a:p>
            <a:r>
              <a:t>A: No, I can’t, but I can dance.</a:t>
            </a:r>
          </a:p>
          <a:p>
            <a:r>
              <a:t>B: Great job!</a:t>
            </a:r>
          </a:p>
        </p:txBody>
      </p:sp>
      <p:sp>
        <p:nvSpPr>
          <p:cNvPr id="9" name="Text 7"/>
          <p:cNvSpPr/>
          <p:nvPr/>
        </p:nvSpPr>
        <p:spPr>
          <a:xfrm>
            <a:off x="1051560" y="5074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Practice 3 times: slow voice → normal voice → acting voice.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50292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Choose a Role-play</a:t>
            </a:r>
          </a:p>
        </p:txBody>
      </p:sp>
      <p:sp>
        <p:nvSpPr>
          <p:cNvPr id="3" name="Text 1"/>
          <p:cNvSpPr/>
          <p:nvPr/>
        </p:nvSpPr>
        <p:spPr>
          <a:xfrm>
            <a:off x="713232" y="960120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Students use hobby English in real situations.</a:t>
            </a:r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12700">
            <a:solidFill>
              <a:srgbClr val="83D7E7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12064" y="6656832"/>
            <a:ext cx="4389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Hobbies &amp; Abilities · Day 7 · Speaking &amp; Listening</a:t>
            </a:r>
          </a:p>
        </p:txBody>
      </p:sp>
      <p:sp>
        <p:nvSpPr>
          <p:cNvPr id="6" name="Text 4"/>
          <p:cNvSpPr/>
          <p:nvPr/>
        </p:nvSpPr>
        <p:spPr>
          <a:xfrm>
            <a:off x="11841480" y="6656832"/>
            <a:ext cx="219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15</a:t>
            </a:r>
          </a:p>
        </p:txBody>
      </p:sp>
      <p:sp>
        <p:nvSpPr>
          <p:cNvPr id="7" name="Shape 5"/>
          <p:cNvSpPr/>
          <p:nvPr/>
        </p:nvSpPr>
        <p:spPr>
          <a:xfrm>
            <a:off x="960120" y="1600200"/>
            <a:ext cx="4800600" cy="1325880"/>
          </a:xfrm>
          <a:prstGeom prst="roundRect">
            <a:avLst>
              <a:gd name="adj" fmla="val 5517"/>
            </a:avLst>
          </a:prstGeom>
          <a:solidFill>
            <a:srgbClr val="E8F7FC"/>
          </a:solidFill>
          <a:ln w="17780">
            <a:solidFill>
              <a:srgbClr val="00A8C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161288" y="17647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🎨</a:t>
            </a:r>
          </a:p>
        </p:txBody>
      </p:sp>
      <p:sp>
        <p:nvSpPr>
          <p:cNvPr id="9" name="Text 7"/>
          <p:cNvSpPr/>
          <p:nvPr/>
        </p:nvSpPr>
        <p:spPr>
          <a:xfrm>
            <a:off x="1673352" y="176479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Role-play 1 · Art club</a:t>
            </a:r>
          </a:p>
        </p:txBody>
      </p:sp>
      <p:sp>
        <p:nvSpPr>
          <p:cNvPr id="10" name="Text 8"/>
          <p:cNvSpPr/>
          <p:nvPr/>
        </p:nvSpPr>
        <p:spPr>
          <a:xfrm>
            <a:off x="1673352" y="2075688"/>
            <a:ext cx="3886200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Say what you like to draw or paint.</a:t>
            </a:r>
          </a:p>
        </p:txBody>
      </p:sp>
      <p:sp>
        <p:nvSpPr>
          <p:cNvPr id="11" name="Shape 9"/>
          <p:cNvSpPr/>
          <p:nvPr/>
        </p:nvSpPr>
        <p:spPr>
          <a:xfrm>
            <a:off x="6355080" y="1600200"/>
            <a:ext cx="4800600" cy="1325880"/>
          </a:xfrm>
          <a:prstGeom prst="roundRect">
            <a:avLst>
              <a:gd name="adj" fmla="val 5517"/>
            </a:avLst>
          </a:prstGeom>
          <a:solidFill>
            <a:srgbClr val="FFF3C4"/>
          </a:solidFill>
          <a:ln w="17780">
            <a:solidFill>
              <a:srgbClr val="FF8A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556248" y="17647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🎵</a:t>
            </a:r>
          </a:p>
        </p:txBody>
      </p:sp>
      <p:sp>
        <p:nvSpPr>
          <p:cNvPr id="13" name="Text 11"/>
          <p:cNvSpPr/>
          <p:nvPr/>
        </p:nvSpPr>
        <p:spPr>
          <a:xfrm>
            <a:off x="7068312" y="176479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Role-play 2 · Music club</a:t>
            </a:r>
          </a:p>
        </p:txBody>
      </p:sp>
      <p:sp>
        <p:nvSpPr>
          <p:cNvPr id="14" name="Text 12"/>
          <p:cNvSpPr/>
          <p:nvPr/>
        </p:nvSpPr>
        <p:spPr>
          <a:xfrm>
            <a:off x="7068312" y="2075688"/>
            <a:ext cx="3886200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Ask: Can you sing or play guitar?</a:t>
            </a:r>
          </a:p>
        </p:txBody>
      </p:sp>
      <p:sp>
        <p:nvSpPr>
          <p:cNvPr id="15" name="Shape 13"/>
          <p:cNvSpPr/>
          <p:nvPr/>
        </p:nvSpPr>
        <p:spPr>
          <a:xfrm>
            <a:off x="960120" y="3337560"/>
            <a:ext cx="4800600" cy="1325880"/>
          </a:xfrm>
          <a:prstGeom prst="roundRect">
            <a:avLst>
              <a:gd name="adj" fmla="val 5517"/>
            </a:avLst>
          </a:prstGeom>
          <a:solidFill>
            <a:srgbClr val="E8F7FC"/>
          </a:solidFill>
          <a:ln w="17780">
            <a:solidFill>
              <a:srgbClr val="00A8C8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161288" y="3502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⚽</a:t>
            </a:r>
          </a:p>
        </p:txBody>
      </p:sp>
      <p:sp>
        <p:nvSpPr>
          <p:cNvPr id="17" name="Text 15"/>
          <p:cNvSpPr/>
          <p:nvPr/>
        </p:nvSpPr>
        <p:spPr>
          <a:xfrm>
            <a:off x="1673352" y="350215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Role-play 3 · Sports club</a:t>
            </a:r>
          </a:p>
        </p:txBody>
      </p:sp>
      <p:sp>
        <p:nvSpPr>
          <p:cNvPr id="18" name="Text 16"/>
          <p:cNvSpPr/>
          <p:nvPr/>
        </p:nvSpPr>
        <p:spPr>
          <a:xfrm>
            <a:off x="1673352" y="3813048"/>
            <a:ext cx="3886200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Say one sport you can play.</a:t>
            </a:r>
          </a:p>
        </p:txBody>
      </p:sp>
      <p:sp>
        <p:nvSpPr>
          <p:cNvPr id="19" name="Shape 17"/>
          <p:cNvSpPr/>
          <p:nvPr/>
        </p:nvSpPr>
        <p:spPr>
          <a:xfrm>
            <a:off x="6355080" y="3337560"/>
            <a:ext cx="4800600" cy="1325880"/>
          </a:xfrm>
          <a:prstGeom prst="roundRect">
            <a:avLst>
              <a:gd name="adj" fmla="val 5517"/>
            </a:avLst>
          </a:prstGeom>
          <a:solidFill>
            <a:srgbClr val="FFF3C4"/>
          </a:solidFill>
          <a:ln w="17780">
            <a:solidFill>
              <a:srgbClr val="FF8A0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556248" y="3502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😕</a:t>
            </a:r>
          </a:p>
        </p:txBody>
      </p:sp>
      <p:sp>
        <p:nvSpPr>
          <p:cNvPr id="21" name="Text 19"/>
          <p:cNvSpPr/>
          <p:nvPr/>
        </p:nvSpPr>
        <p:spPr>
          <a:xfrm>
            <a:off x="7068312" y="350215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Role-play 4 · Try again</a:t>
            </a:r>
          </a:p>
        </p:txBody>
      </p:sp>
      <p:sp>
        <p:nvSpPr>
          <p:cNvPr id="22" name="Text 20"/>
          <p:cNvSpPr/>
          <p:nvPr/>
        </p:nvSpPr>
        <p:spPr>
          <a:xfrm>
            <a:off x="7068312" y="3813048"/>
            <a:ext cx="3886200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Say: I can’t yet, but I can try.</a:t>
            </a:r>
          </a:p>
        </p:txBody>
      </p:sp>
      <p:sp>
        <p:nvSpPr>
          <p:cNvPr id="23" name="Text 21"/>
          <p:cNvSpPr/>
          <p:nvPr/>
        </p:nvSpPr>
        <p:spPr>
          <a:xfrm>
            <a:off x="868680" y="54406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Performance rule: everyone speaks at least one “I can” line.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50292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Hobby Corners</a:t>
            </a:r>
          </a:p>
        </p:txBody>
      </p:sp>
      <p:sp>
        <p:nvSpPr>
          <p:cNvPr id="3" name="Text 1"/>
          <p:cNvSpPr/>
          <p:nvPr/>
        </p:nvSpPr>
        <p:spPr>
          <a:xfrm>
            <a:off x="713232" y="960120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Students move, choose, and speak.</a:t>
            </a:r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12700">
            <a:solidFill>
              <a:srgbClr val="83D7E7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12064" y="6656832"/>
            <a:ext cx="4389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Hobbies &amp; Abilities · Day 7 · Speaking &amp; Listening</a:t>
            </a:r>
          </a:p>
        </p:txBody>
      </p:sp>
      <p:sp>
        <p:nvSpPr>
          <p:cNvPr id="6" name="Text 4"/>
          <p:cNvSpPr/>
          <p:nvPr/>
        </p:nvSpPr>
        <p:spPr>
          <a:xfrm>
            <a:off x="11841480" y="6656832"/>
            <a:ext cx="219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16</a:t>
            </a:r>
          </a:p>
        </p:txBody>
      </p:sp>
      <p:sp>
        <p:nvSpPr>
          <p:cNvPr id="7" name="Shape 5"/>
          <p:cNvSpPr/>
          <p:nvPr/>
        </p:nvSpPr>
        <p:spPr>
          <a:xfrm>
            <a:off x="914400" y="1920240"/>
            <a:ext cx="2331720" cy="2148840"/>
          </a:xfrm>
          <a:prstGeom prst="roundRect">
            <a:avLst>
              <a:gd name="adj" fmla="val 2553"/>
            </a:avLst>
          </a:prstGeom>
          <a:solidFill>
            <a:srgbClr val="E8F7FC"/>
          </a:solidFill>
          <a:ln w="15240">
            <a:solidFill>
              <a:srgbClr val="00A8C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51560" y="20299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🎨</a:t>
            </a:r>
          </a:p>
        </p:txBody>
      </p:sp>
      <p:sp>
        <p:nvSpPr>
          <p:cNvPr id="9" name="Text 7"/>
          <p:cNvSpPr/>
          <p:nvPr/>
        </p:nvSpPr>
        <p:spPr>
          <a:xfrm>
            <a:off x="1417320" y="2029968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Art</a:t>
            </a:r>
          </a:p>
        </p:txBody>
      </p:sp>
      <p:sp>
        <p:nvSpPr>
          <p:cNvPr id="10" name="Text 8"/>
          <p:cNvSpPr/>
          <p:nvPr/>
        </p:nvSpPr>
        <p:spPr>
          <a:xfrm>
            <a:off x="1417320" y="2267712"/>
            <a:ext cx="169164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I like drawing.</a:t>
            </a:r>
          </a:p>
        </p:txBody>
      </p:sp>
      <p:sp>
        <p:nvSpPr>
          <p:cNvPr id="11" name="Shape 9"/>
          <p:cNvSpPr/>
          <p:nvPr/>
        </p:nvSpPr>
        <p:spPr>
          <a:xfrm>
            <a:off x="3703320" y="1920240"/>
            <a:ext cx="2331720" cy="2148840"/>
          </a:xfrm>
          <a:prstGeom prst="roundRect">
            <a:avLst>
              <a:gd name="adj" fmla="val 2553"/>
            </a:avLst>
          </a:prstGeom>
          <a:solidFill>
            <a:srgbClr val="FFF3C4"/>
          </a:solidFill>
          <a:ln w="15240">
            <a:solidFill>
              <a:srgbClr val="FF8A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840480" y="20299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🎵</a:t>
            </a:r>
          </a:p>
        </p:txBody>
      </p:sp>
      <p:sp>
        <p:nvSpPr>
          <p:cNvPr id="13" name="Text 11"/>
          <p:cNvSpPr/>
          <p:nvPr/>
        </p:nvSpPr>
        <p:spPr>
          <a:xfrm>
            <a:off x="4206240" y="2029968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Music</a:t>
            </a:r>
          </a:p>
        </p:txBody>
      </p:sp>
      <p:sp>
        <p:nvSpPr>
          <p:cNvPr id="14" name="Text 12"/>
          <p:cNvSpPr/>
          <p:nvPr/>
        </p:nvSpPr>
        <p:spPr>
          <a:xfrm>
            <a:off x="4206240" y="2267712"/>
            <a:ext cx="169164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I can sing.</a:t>
            </a:r>
          </a:p>
        </p:txBody>
      </p:sp>
      <p:sp>
        <p:nvSpPr>
          <p:cNvPr id="15" name="Shape 13"/>
          <p:cNvSpPr/>
          <p:nvPr/>
        </p:nvSpPr>
        <p:spPr>
          <a:xfrm>
            <a:off x="6492240" y="1920240"/>
            <a:ext cx="2331720" cy="2148840"/>
          </a:xfrm>
          <a:prstGeom prst="roundRect">
            <a:avLst>
              <a:gd name="adj" fmla="val 2553"/>
            </a:avLst>
          </a:prstGeom>
          <a:solidFill>
            <a:srgbClr val="E8F7FC"/>
          </a:solidFill>
          <a:ln w="15240">
            <a:solidFill>
              <a:srgbClr val="00A8C8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629400" y="20299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⚽</a:t>
            </a:r>
          </a:p>
        </p:txBody>
      </p:sp>
      <p:sp>
        <p:nvSpPr>
          <p:cNvPr id="17" name="Text 15"/>
          <p:cNvSpPr/>
          <p:nvPr/>
        </p:nvSpPr>
        <p:spPr>
          <a:xfrm>
            <a:off x="6995160" y="2029968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Sports</a:t>
            </a:r>
          </a:p>
        </p:txBody>
      </p:sp>
      <p:sp>
        <p:nvSpPr>
          <p:cNvPr id="18" name="Text 16"/>
          <p:cNvSpPr/>
          <p:nvPr/>
        </p:nvSpPr>
        <p:spPr>
          <a:xfrm>
            <a:off x="6995160" y="2267712"/>
            <a:ext cx="169164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I can play soccer.</a:t>
            </a:r>
          </a:p>
        </p:txBody>
      </p:sp>
      <p:sp>
        <p:nvSpPr>
          <p:cNvPr id="19" name="Shape 17"/>
          <p:cNvSpPr/>
          <p:nvPr/>
        </p:nvSpPr>
        <p:spPr>
          <a:xfrm>
            <a:off x="9281160" y="1920240"/>
            <a:ext cx="2331720" cy="2148840"/>
          </a:xfrm>
          <a:prstGeom prst="roundRect">
            <a:avLst>
              <a:gd name="adj" fmla="val 2553"/>
            </a:avLst>
          </a:prstGeom>
          <a:solidFill>
            <a:srgbClr val="FFF3C4"/>
          </a:solidFill>
          <a:ln w="15240">
            <a:solidFill>
              <a:srgbClr val="FF8A0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418320" y="20299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📚</a:t>
            </a:r>
          </a:p>
        </p:txBody>
      </p:sp>
      <p:sp>
        <p:nvSpPr>
          <p:cNvPr id="21" name="Text 19"/>
          <p:cNvSpPr/>
          <p:nvPr/>
        </p:nvSpPr>
        <p:spPr>
          <a:xfrm>
            <a:off x="9784080" y="2029968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Quiet hobbies</a:t>
            </a:r>
          </a:p>
        </p:txBody>
      </p:sp>
      <p:sp>
        <p:nvSpPr>
          <p:cNvPr id="22" name="Text 20"/>
          <p:cNvSpPr/>
          <p:nvPr/>
        </p:nvSpPr>
        <p:spPr>
          <a:xfrm>
            <a:off x="9784080" y="2267712"/>
            <a:ext cx="169164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I like reading.</a:t>
            </a:r>
          </a:p>
        </p:txBody>
      </p:sp>
      <p:sp>
        <p:nvSpPr>
          <p:cNvPr id="23" name="Text 21"/>
          <p:cNvSpPr/>
          <p:nvPr/>
        </p:nvSpPr>
        <p:spPr>
          <a:xfrm>
            <a:off x="868680" y="51663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Rule: Move to a corner → tell one friend your sentence → change corner.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50292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Mingle Survey: Ask 4 Friends</a:t>
            </a:r>
          </a:p>
        </p:txBody>
      </p:sp>
      <p:sp>
        <p:nvSpPr>
          <p:cNvPr id="3" name="Text 1"/>
          <p:cNvSpPr/>
          <p:nvPr/>
        </p:nvSpPr>
        <p:spPr>
          <a:xfrm>
            <a:off x="713232" y="960120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Students ask, answer, and remember abilities.</a:t>
            </a:r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12700">
            <a:solidFill>
              <a:srgbClr val="83D7E7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12064" y="6656832"/>
            <a:ext cx="4389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Hobbies &amp; Abilities · Day 7 · Speaking &amp; Listening</a:t>
            </a:r>
          </a:p>
        </p:txBody>
      </p:sp>
      <p:sp>
        <p:nvSpPr>
          <p:cNvPr id="6" name="Text 4"/>
          <p:cNvSpPr/>
          <p:nvPr/>
        </p:nvSpPr>
        <p:spPr>
          <a:xfrm>
            <a:off x="11841480" y="6656832"/>
            <a:ext cx="219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17</a:t>
            </a:r>
          </a:p>
        </p:txBody>
      </p:sp>
      <p:sp>
        <p:nvSpPr>
          <p:cNvPr id="7" name="Shape 5"/>
          <p:cNvSpPr/>
          <p:nvPr/>
        </p:nvSpPr>
        <p:spPr>
          <a:xfrm>
            <a:off x="914400" y="1645920"/>
            <a:ext cx="2011680" cy="457200"/>
          </a:xfrm>
          <a:prstGeom prst="rect">
            <a:avLst/>
          </a:prstGeom>
          <a:solidFill>
            <a:srgbClr val="0B7F8D"/>
          </a:solidFill>
          <a:ln w="10160">
            <a:solidFill>
              <a:srgbClr val="B7D7D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87552" y="1792224"/>
            <a:ext cx="1865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Name</a:t>
            </a:r>
          </a:p>
        </p:txBody>
      </p:sp>
      <p:sp>
        <p:nvSpPr>
          <p:cNvPr id="9" name="Shape 7"/>
          <p:cNvSpPr/>
          <p:nvPr/>
        </p:nvSpPr>
        <p:spPr>
          <a:xfrm>
            <a:off x="2926080" y="1645920"/>
            <a:ext cx="2834640" cy="457200"/>
          </a:xfrm>
          <a:prstGeom prst="rect">
            <a:avLst/>
          </a:prstGeom>
          <a:solidFill>
            <a:srgbClr val="0B7F8D"/>
          </a:solidFill>
          <a:ln w="10160">
            <a:solidFill>
              <a:srgbClr val="B7D7DE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999232" y="1792224"/>
            <a:ext cx="2688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Hobby</a:t>
            </a:r>
          </a:p>
        </p:txBody>
      </p:sp>
      <p:sp>
        <p:nvSpPr>
          <p:cNvPr id="11" name="Shape 9"/>
          <p:cNvSpPr/>
          <p:nvPr/>
        </p:nvSpPr>
        <p:spPr>
          <a:xfrm>
            <a:off x="5760720" y="1645920"/>
            <a:ext cx="1828800" cy="457200"/>
          </a:xfrm>
          <a:prstGeom prst="rect">
            <a:avLst/>
          </a:prstGeom>
          <a:solidFill>
            <a:srgbClr val="0B7F8D"/>
          </a:solidFill>
          <a:ln w="10160">
            <a:solidFill>
              <a:srgbClr val="B7D7DE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833872" y="1792224"/>
            <a:ext cx="1682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Can do?</a:t>
            </a:r>
          </a:p>
        </p:txBody>
      </p:sp>
      <p:sp>
        <p:nvSpPr>
          <p:cNvPr id="13" name="Shape 11"/>
          <p:cNvSpPr/>
          <p:nvPr/>
        </p:nvSpPr>
        <p:spPr>
          <a:xfrm>
            <a:off x="7589520" y="1645920"/>
            <a:ext cx="2834640" cy="457200"/>
          </a:xfrm>
          <a:prstGeom prst="rect">
            <a:avLst/>
          </a:prstGeom>
          <a:solidFill>
            <a:srgbClr val="0B7F8D"/>
          </a:solidFill>
          <a:ln w="10160">
            <a:solidFill>
              <a:srgbClr val="B7D7DE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662672" y="1792224"/>
            <a:ext cx="2688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Question</a:t>
            </a:r>
          </a:p>
        </p:txBody>
      </p:sp>
      <p:sp>
        <p:nvSpPr>
          <p:cNvPr id="15" name="Shape 13"/>
          <p:cNvSpPr/>
          <p:nvPr/>
        </p:nvSpPr>
        <p:spPr>
          <a:xfrm>
            <a:off x="10424160" y="1645920"/>
            <a:ext cx="1097280" cy="457200"/>
          </a:xfrm>
          <a:prstGeom prst="rect">
            <a:avLst/>
          </a:prstGeom>
          <a:solidFill>
            <a:srgbClr val="0B7F8D"/>
          </a:solidFill>
          <a:ln w="10160">
            <a:solidFill>
              <a:srgbClr val="B7D7DE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0497312" y="1792224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Answer</a:t>
            </a:r>
          </a:p>
        </p:txBody>
      </p:sp>
      <p:sp>
        <p:nvSpPr>
          <p:cNvPr id="17" name="Shape 15"/>
          <p:cNvSpPr/>
          <p:nvPr/>
        </p:nvSpPr>
        <p:spPr>
          <a:xfrm>
            <a:off x="914400" y="2103120"/>
            <a:ext cx="201168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87552" y="2249424"/>
            <a:ext cx="1865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2926080" y="2103120"/>
            <a:ext cx="283464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999232" y="2249424"/>
            <a:ext cx="2688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5760720" y="2103120"/>
            <a:ext cx="182880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833872" y="2249424"/>
            <a:ext cx="1682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7589520" y="2103120"/>
            <a:ext cx="283464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662672" y="2249424"/>
            <a:ext cx="2688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10424160" y="2103120"/>
            <a:ext cx="109728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0497312" y="2249424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914400" y="2560320"/>
            <a:ext cx="201168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987552" y="2706624"/>
            <a:ext cx="1865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29" name="Shape 27"/>
          <p:cNvSpPr/>
          <p:nvPr/>
        </p:nvSpPr>
        <p:spPr>
          <a:xfrm>
            <a:off x="2926080" y="2560320"/>
            <a:ext cx="283464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2999232" y="2706624"/>
            <a:ext cx="2688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5760720" y="2560320"/>
            <a:ext cx="182880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5833872" y="2706624"/>
            <a:ext cx="1682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7589520" y="2560320"/>
            <a:ext cx="283464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7662672" y="2706624"/>
            <a:ext cx="2688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35" name="Shape 33"/>
          <p:cNvSpPr/>
          <p:nvPr/>
        </p:nvSpPr>
        <p:spPr>
          <a:xfrm>
            <a:off x="10424160" y="2560320"/>
            <a:ext cx="109728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10497312" y="2706624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37" name="Shape 35"/>
          <p:cNvSpPr/>
          <p:nvPr/>
        </p:nvSpPr>
        <p:spPr>
          <a:xfrm>
            <a:off x="914400" y="3017520"/>
            <a:ext cx="201168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987552" y="3163824"/>
            <a:ext cx="1865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39" name="Shape 37"/>
          <p:cNvSpPr/>
          <p:nvPr/>
        </p:nvSpPr>
        <p:spPr>
          <a:xfrm>
            <a:off x="2926080" y="3017520"/>
            <a:ext cx="283464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2999232" y="3163824"/>
            <a:ext cx="2688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41" name="Shape 39"/>
          <p:cNvSpPr/>
          <p:nvPr/>
        </p:nvSpPr>
        <p:spPr>
          <a:xfrm>
            <a:off x="5760720" y="3017520"/>
            <a:ext cx="182880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5833872" y="3163824"/>
            <a:ext cx="1682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43" name="Shape 41"/>
          <p:cNvSpPr/>
          <p:nvPr/>
        </p:nvSpPr>
        <p:spPr>
          <a:xfrm>
            <a:off x="7589520" y="3017520"/>
            <a:ext cx="283464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7662672" y="3163824"/>
            <a:ext cx="2688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45" name="Shape 43"/>
          <p:cNvSpPr/>
          <p:nvPr/>
        </p:nvSpPr>
        <p:spPr>
          <a:xfrm>
            <a:off x="10424160" y="3017520"/>
            <a:ext cx="109728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10497312" y="3163824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47" name="Shape 45"/>
          <p:cNvSpPr/>
          <p:nvPr/>
        </p:nvSpPr>
        <p:spPr>
          <a:xfrm>
            <a:off x="914400" y="3474720"/>
            <a:ext cx="201168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987552" y="3621024"/>
            <a:ext cx="1865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49" name="Shape 47"/>
          <p:cNvSpPr/>
          <p:nvPr/>
        </p:nvSpPr>
        <p:spPr>
          <a:xfrm>
            <a:off x="2926080" y="3474720"/>
            <a:ext cx="283464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2999232" y="3621024"/>
            <a:ext cx="2688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51" name="Shape 49"/>
          <p:cNvSpPr/>
          <p:nvPr/>
        </p:nvSpPr>
        <p:spPr>
          <a:xfrm>
            <a:off x="5760720" y="3474720"/>
            <a:ext cx="182880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5833872" y="3621024"/>
            <a:ext cx="1682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53" name="Shape 51"/>
          <p:cNvSpPr/>
          <p:nvPr/>
        </p:nvSpPr>
        <p:spPr>
          <a:xfrm>
            <a:off x="7589520" y="3474720"/>
            <a:ext cx="283464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7662672" y="3621024"/>
            <a:ext cx="2688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55" name="Shape 53"/>
          <p:cNvSpPr/>
          <p:nvPr/>
        </p:nvSpPr>
        <p:spPr>
          <a:xfrm>
            <a:off x="10424160" y="3474720"/>
            <a:ext cx="109728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10497312" y="3621024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57" name="Text 55"/>
          <p:cNvSpPr/>
          <p:nvPr/>
        </p:nvSpPr>
        <p:spPr>
          <a:xfrm>
            <a:off x="914400" y="470916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Ask: “What do you like?” → “Can you _____?” → Write one short answer.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50292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Listening 2: Hobby Club</a:t>
            </a:r>
          </a:p>
        </p:txBody>
      </p:sp>
      <p:sp>
        <p:nvSpPr>
          <p:cNvPr id="3" name="Text 1"/>
          <p:cNvSpPr/>
          <p:nvPr/>
        </p:nvSpPr>
        <p:spPr>
          <a:xfrm>
            <a:off x="713232" y="960120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Students listen for names, hobbies, and abilities.</a:t>
            </a:r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12700">
            <a:solidFill>
              <a:srgbClr val="83D7E7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12064" y="6656832"/>
            <a:ext cx="4389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Hobbies &amp; Abilities · Day 7 · Speaking &amp; Listening</a:t>
            </a:r>
          </a:p>
        </p:txBody>
      </p:sp>
      <p:sp>
        <p:nvSpPr>
          <p:cNvPr id="6" name="Text 4"/>
          <p:cNvSpPr/>
          <p:nvPr/>
        </p:nvSpPr>
        <p:spPr>
          <a:xfrm>
            <a:off x="11841480" y="6656832"/>
            <a:ext cx="219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18</a:t>
            </a:r>
          </a:p>
        </p:txBody>
      </p:sp>
      <p:sp>
        <p:nvSpPr>
          <p:cNvPr id="7" name="Shape 5"/>
          <p:cNvSpPr/>
          <p:nvPr/>
        </p:nvSpPr>
        <p:spPr>
          <a:xfrm>
            <a:off x="1051560" y="1645920"/>
            <a:ext cx="2103120" cy="457200"/>
          </a:xfrm>
          <a:prstGeom prst="rect">
            <a:avLst/>
          </a:prstGeom>
          <a:solidFill>
            <a:srgbClr val="FF8A00"/>
          </a:solidFill>
          <a:ln w="10160">
            <a:solidFill>
              <a:srgbClr val="B7D7D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124712" y="1792224"/>
            <a:ext cx="19568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Name</a:t>
            </a:r>
          </a:p>
        </p:txBody>
      </p:sp>
      <p:sp>
        <p:nvSpPr>
          <p:cNvPr id="9" name="Shape 7"/>
          <p:cNvSpPr/>
          <p:nvPr/>
        </p:nvSpPr>
        <p:spPr>
          <a:xfrm>
            <a:off x="3154680" y="1645920"/>
            <a:ext cx="3017520" cy="457200"/>
          </a:xfrm>
          <a:prstGeom prst="rect">
            <a:avLst/>
          </a:prstGeom>
          <a:solidFill>
            <a:srgbClr val="FF8A00"/>
          </a:solidFill>
          <a:ln w="10160">
            <a:solidFill>
              <a:srgbClr val="B7D7DE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227832" y="1792224"/>
            <a:ext cx="2871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Hobby</a:t>
            </a:r>
          </a:p>
        </p:txBody>
      </p:sp>
      <p:sp>
        <p:nvSpPr>
          <p:cNvPr id="11" name="Shape 9"/>
          <p:cNvSpPr/>
          <p:nvPr/>
        </p:nvSpPr>
        <p:spPr>
          <a:xfrm>
            <a:off x="6172200" y="1645920"/>
            <a:ext cx="1828800" cy="457200"/>
          </a:xfrm>
          <a:prstGeom prst="rect">
            <a:avLst/>
          </a:prstGeom>
          <a:solidFill>
            <a:srgbClr val="FF8A00"/>
          </a:solidFill>
          <a:ln w="10160">
            <a:solidFill>
              <a:srgbClr val="B7D7DE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245352" y="1792224"/>
            <a:ext cx="1682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Can do?</a:t>
            </a:r>
          </a:p>
        </p:txBody>
      </p:sp>
      <p:sp>
        <p:nvSpPr>
          <p:cNvPr id="13" name="Shape 11"/>
          <p:cNvSpPr/>
          <p:nvPr/>
        </p:nvSpPr>
        <p:spPr>
          <a:xfrm>
            <a:off x="8001000" y="1645920"/>
            <a:ext cx="3017520" cy="457200"/>
          </a:xfrm>
          <a:prstGeom prst="rect">
            <a:avLst/>
          </a:prstGeom>
          <a:solidFill>
            <a:srgbClr val="FF8A00"/>
          </a:solidFill>
          <a:ln w="10160">
            <a:solidFill>
              <a:srgbClr val="B7D7DE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074152" y="1792224"/>
            <a:ext cx="2871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Can’t do</a:t>
            </a:r>
          </a:p>
        </p:txBody>
      </p:sp>
      <p:sp>
        <p:nvSpPr>
          <p:cNvPr id="15" name="Shape 13"/>
          <p:cNvSpPr/>
          <p:nvPr/>
        </p:nvSpPr>
        <p:spPr>
          <a:xfrm>
            <a:off x="1051560" y="2103120"/>
            <a:ext cx="210312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124712" y="2249424"/>
            <a:ext cx="19568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Lily</a:t>
            </a:r>
          </a:p>
        </p:txBody>
      </p:sp>
      <p:sp>
        <p:nvSpPr>
          <p:cNvPr id="17" name="Shape 15"/>
          <p:cNvSpPr/>
          <p:nvPr/>
        </p:nvSpPr>
        <p:spPr>
          <a:xfrm>
            <a:off x="3154680" y="2103120"/>
            <a:ext cx="301752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227832" y="2249424"/>
            <a:ext cx="2871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6172200" y="2103120"/>
            <a:ext cx="182880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245352" y="2249424"/>
            <a:ext cx="1682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8001000" y="2103120"/>
            <a:ext cx="301752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074152" y="2249424"/>
            <a:ext cx="2871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1051560" y="2560320"/>
            <a:ext cx="210312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124712" y="2706624"/>
            <a:ext cx="19568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Ben</a:t>
            </a:r>
          </a:p>
        </p:txBody>
      </p:sp>
      <p:sp>
        <p:nvSpPr>
          <p:cNvPr id="25" name="Shape 23"/>
          <p:cNvSpPr/>
          <p:nvPr/>
        </p:nvSpPr>
        <p:spPr>
          <a:xfrm>
            <a:off x="3154680" y="2560320"/>
            <a:ext cx="301752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3227832" y="2706624"/>
            <a:ext cx="2871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6172200" y="2560320"/>
            <a:ext cx="182880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245352" y="2706624"/>
            <a:ext cx="1682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29" name="Shape 27"/>
          <p:cNvSpPr/>
          <p:nvPr/>
        </p:nvSpPr>
        <p:spPr>
          <a:xfrm>
            <a:off x="8001000" y="2560320"/>
            <a:ext cx="301752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8074152" y="2706624"/>
            <a:ext cx="2871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1051560" y="3017520"/>
            <a:ext cx="210312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1124712" y="3163824"/>
            <a:ext cx="19568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Sara</a:t>
            </a:r>
          </a:p>
        </p:txBody>
      </p:sp>
      <p:sp>
        <p:nvSpPr>
          <p:cNvPr id="33" name="Shape 31"/>
          <p:cNvSpPr/>
          <p:nvPr/>
        </p:nvSpPr>
        <p:spPr>
          <a:xfrm>
            <a:off x="3154680" y="3017520"/>
            <a:ext cx="301752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3227832" y="3163824"/>
            <a:ext cx="2871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35" name="Shape 33"/>
          <p:cNvSpPr/>
          <p:nvPr/>
        </p:nvSpPr>
        <p:spPr>
          <a:xfrm>
            <a:off x="6172200" y="3017520"/>
            <a:ext cx="182880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245352" y="3163824"/>
            <a:ext cx="1682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37" name="Shape 35"/>
          <p:cNvSpPr/>
          <p:nvPr/>
        </p:nvSpPr>
        <p:spPr>
          <a:xfrm>
            <a:off x="8001000" y="3017520"/>
            <a:ext cx="301752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8074152" y="3163824"/>
            <a:ext cx="2871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39" name="Text 37"/>
          <p:cNvSpPr/>
          <p:nvPr/>
        </p:nvSpPr>
        <p:spPr>
          <a:xfrm>
            <a:off x="1051560" y="4800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Share answers with your partner before teacher feedback.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50292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What Can They Do?</a:t>
            </a:r>
          </a:p>
        </p:txBody>
      </p:sp>
      <p:sp>
        <p:nvSpPr>
          <p:cNvPr id="3" name="Text 1"/>
          <p:cNvSpPr/>
          <p:nvPr/>
        </p:nvSpPr>
        <p:spPr>
          <a:xfrm>
            <a:off x="713232" y="960120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Look at the picture. Choose one child and make a sentence.</a:t>
            </a:r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12700">
            <a:solidFill>
              <a:srgbClr val="83D7E7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12064" y="6656832"/>
            <a:ext cx="4389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Hobbies &amp; Abilities · Day 7 · Speaking &amp; Listening</a:t>
            </a:r>
          </a:p>
        </p:txBody>
      </p:sp>
      <p:sp>
        <p:nvSpPr>
          <p:cNvPr id="6" name="Text 4"/>
          <p:cNvSpPr/>
          <p:nvPr/>
        </p:nvSpPr>
        <p:spPr>
          <a:xfrm>
            <a:off x="11841480" y="6656832"/>
            <a:ext cx="219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19</a:t>
            </a:r>
          </a:p>
        </p:txBody>
      </p:sp>
      <p:pic>
        <p:nvPicPr>
          <p:cNvPr id="26" name="Picture 25" descr="day7_crop_slide1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325880"/>
            <a:ext cx="4937760" cy="42519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1325880"/>
            <a:ext cx="4937760" cy="4251960"/>
          </a:xfrm>
          <a:prstGeom prst="roundRect">
            <a:avLst>
              <a:gd name="adj" fmla="val 1720"/>
            </a:avLst>
          </a:prstGeom>
          <a:solidFill>
            <a:srgbClr val="FFFFFF">
              <a:alpha val="0"/>
            </a:srgbClr>
          </a:solidFill>
          <a:ln w="25400">
            <a:solidFill>
              <a:srgbClr val="FFFFFF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5989320" y="1508760"/>
            <a:ext cx="5166360" cy="658368"/>
          </a:xfrm>
          <a:prstGeom prst="roundRect">
            <a:avLst>
              <a:gd name="adj" fmla="val 11111"/>
            </a:avLst>
          </a:prstGeom>
          <a:solidFill>
            <a:srgbClr val="E8F7FC"/>
          </a:solidFill>
          <a:ln w="17780">
            <a:solidFill>
              <a:srgbClr val="00A8C8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190488" y="1673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🎸</a:t>
            </a:r>
          </a:p>
        </p:txBody>
      </p:sp>
      <p:sp>
        <p:nvSpPr>
          <p:cNvPr id="11" name="Text 8"/>
          <p:cNvSpPr/>
          <p:nvPr/>
        </p:nvSpPr>
        <p:spPr>
          <a:xfrm>
            <a:off x="6702552" y="1673352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He can play guitar.</a:t>
            </a:r>
          </a:p>
        </p:txBody>
      </p:sp>
      <p:sp>
        <p:nvSpPr>
          <p:cNvPr id="12" name="Text 9"/>
          <p:cNvSpPr/>
          <p:nvPr/>
        </p:nvSpPr>
        <p:spPr>
          <a:xfrm>
            <a:off x="6702552" y="1984248"/>
            <a:ext cx="4251960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Pair talk: “I think he…”</a:t>
            </a:r>
          </a:p>
        </p:txBody>
      </p:sp>
      <p:sp>
        <p:nvSpPr>
          <p:cNvPr id="13" name="Shape 10"/>
          <p:cNvSpPr/>
          <p:nvPr/>
        </p:nvSpPr>
        <p:spPr>
          <a:xfrm>
            <a:off x="5989320" y="2377440"/>
            <a:ext cx="5166360" cy="658368"/>
          </a:xfrm>
          <a:prstGeom prst="roundRect">
            <a:avLst>
              <a:gd name="adj" fmla="val 11111"/>
            </a:avLst>
          </a:prstGeom>
          <a:solidFill>
            <a:srgbClr val="FFF3C4"/>
          </a:solidFill>
          <a:ln w="17780">
            <a:solidFill>
              <a:srgbClr val="FF8A00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190488" y="2542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🖌️</a:t>
            </a:r>
          </a:p>
        </p:txBody>
      </p:sp>
      <p:sp>
        <p:nvSpPr>
          <p:cNvPr id="15" name="Text 12"/>
          <p:cNvSpPr/>
          <p:nvPr/>
        </p:nvSpPr>
        <p:spPr>
          <a:xfrm>
            <a:off x="6702552" y="2542032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She likes painting.</a:t>
            </a:r>
          </a:p>
        </p:txBody>
      </p:sp>
      <p:sp>
        <p:nvSpPr>
          <p:cNvPr id="16" name="Text 13"/>
          <p:cNvSpPr/>
          <p:nvPr/>
        </p:nvSpPr>
        <p:spPr>
          <a:xfrm>
            <a:off x="6702552" y="2852928"/>
            <a:ext cx="4251960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Pair talk: “I think she…”</a:t>
            </a:r>
          </a:p>
        </p:txBody>
      </p:sp>
      <p:sp>
        <p:nvSpPr>
          <p:cNvPr id="17" name="Shape 14"/>
          <p:cNvSpPr/>
          <p:nvPr/>
        </p:nvSpPr>
        <p:spPr>
          <a:xfrm>
            <a:off x="5989320" y="3246120"/>
            <a:ext cx="5166360" cy="658368"/>
          </a:xfrm>
          <a:prstGeom prst="roundRect">
            <a:avLst>
              <a:gd name="adj" fmla="val 11111"/>
            </a:avLst>
          </a:prstGeom>
          <a:solidFill>
            <a:srgbClr val="E8F7FC"/>
          </a:solidFill>
          <a:ln w="17780">
            <a:solidFill>
              <a:srgbClr val="00A8C8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190488" y="3410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⚽</a:t>
            </a:r>
          </a:p>
        </p:txBody>
      </p:sp>
      <p:sp>
        <p:nvSpPr>
          <p:cNvPr id="19" name="Text 16"/>
          <p:cNvSpPr/>
          <p:nvPr/>
        </p:nvSpPr>
        <p:spPr>
          <a:xfrm>
            <a:off x="6702552" y="3410712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He can play soccer.</a:t>
            </a:r>
          </a:p>
        </p:txBody>
      </p:sp>
      <p:sp>
        <p:nvSpPr>
          <p:cNvPr id="20" name="Text 17"/>
          <p:cNvSpPr/>
          <p:nvPr/>
        </p:nvSpPr>
        <p:spPr>
          <a:xfrm>
            <a:off x="6702552" y="3721608"/>
            <a:ext cx="4251960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Pair talk: “I think he…”</a:t>
            </a:r>
          </a:p>
        </p:txBody>
      </p:sp>
      <p:sp>
        <p:nvSpPr>
          <p:cNvPr id="21" name="Shape 18"/>
          <p:cNvSpPr/>
          <p:nvPr/>
        </p:nvSpPr>
        <p:spPr>
          <a:xfrm>
            <a:off x="5989320" y="4114800"/>
            <a:ext cx="5166360" cy="658368"/>
          </a:xfrm>
          <a:prstGeom prst="roundRect">
            <a:avLst>
              <a:gd name="adj" fmla="val 11111"/>
            </a:avLst>
          </a:prstGeom>
          <a:solidFill>
            <a:srgbClr val="FFF3C4"/>
          </a:solidFill>
          <a:ln w="17780">
            <a:solidFill>
              <a:srgbClr val="FF8A00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6190488" y="4279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📚</a:t>
            </a:r>
          </a:p>
        </p:txBody>
      </p:sp>
      <p:sp>
        <p:nvSpPr>
          <p:cNvPr id="23" name="Text 20"/>
          <p:cNvSpPr/>
          <p:nvPr/>
        </p:nvSpPr>
        <p:spPr>
          <a:xfrm>
            <a:off x="6702552" y="4279392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She likes reading.</a:t>
            </a:r>
          </a:p>
        </p:txBody>
      </p:sp>
      <p:sp>
        <p:nvSpPr>
          <p:cNvPr id="24" name="Text 21"/>
          <p:cNvSpPr/>
          <p:nvPr/>
        </p:nvSpPr>
        <p:spPr>
          <a:xfrm>
            <a:off x="6702552" y="4590288"/>
            <a:ext cx="4251960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Pair talk: “I think she…”</a:t>
            </a:r>
          </a:p>
        </p:txBody>
      </p:sp>
      <p:sp>
        <p:nvSpPr>
          <p:cNvPr id="25" name="Text 22"/>
          <p:cNvSpPr/>
          <p:nvPr/>
        </p:nvSpPr>
        <p:spPr>
          <a:xfrm>
            <a:off x="5989320" y="516636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Pair talk: “I think he / she can…”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50292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Team Challenge: Hobby Race</a:t>
            </a:r>
          </a:p>
        </p:txBody>
      </p:sp>
      <p:sp>
        <p:nvSpPr>
          <p:cNvPr id="3" name="Text 1"/>
          <p:cNvSpPr/>
          <p:nvPr/>
        </p:nvSpPr>
        <p:spPr>
          <a:xfrm>
            <a:off x="713232" y="960120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A fast review game before the final speaking task.</a:t>
            </a:r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12700">
            <a:solidFill>
              <a:srgbClr val="83D7E7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12064" y="6656832"/>
            <a:ext cx="4389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Hobbies &amp; Abilities · Day 7 · Speaking &amp; Listening</a:t>
            </a:r>
          </a:p>
        </p:txBody>
      </p:sp>
      <p:sp>
        <p:nvSpPr>
          <p:cNvPr id="6" name="Text 4"/>
          <p:cNvSpPr/>
          <p:nvPr/>
        </p:nvSpPr>
        <p:spPr>
          <a:xfrm>
            <a:off x="11841480" y="6656832"/>
            <a:ext cx="219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20</a:t>
            </a:r>
          </a:p>
        </p:txBody>
      </p:sp>
      <p:sp>
        <p:nvSpPr>
          <p:cNvPr id="7" name="Shape 5"/>
          <p:cNvSpPr/>
          <p:nvPr/>
        </p:nvSpPr>
        <p:spPr>
          <a:xfrm>
            <a:off x="960120" y="1828800"/>
            <a:ext cx="3200400" cy="1600200"/>
          </a:xfrm>
          <a:prstGeom prst="roundRect">
            <a:avLst>
              <a:gd name="adj" fmla="val 4571"/>
            </a:avLst>
          </a:prstGeom>
          <a:solidFill>
            <a:srgbClr val="E8F7FC"/>
          </a:solidFill>
          <a:ln w="17780">
            <a:solidFill>
              <a:srgbClr val="00A8C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161288" y="1993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🎭</a:t>
            </a:r>
          </a:p>
        </p:txBody>
      </p:sp>
      <p:sp>
        <p:nvSpPr>
          <p:cNvPr id="9" name="Text 7"/>
          <p:cNvSpPr/>
          <p:nvPr/>
        </p:nvSpPr>
        <p:spPr>
          <a:xfrm>
            <a:off x="1673352" y="199339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Round 1</a:t>
            </a:r>
          </a:p>
        </p:txBody>
      </p:sp>
      <p:sp>
        <p:nvSpPr>
          <p:cNvPr id="10" name="Text 8"/>
          <p:cNvSpPr/>
          <p:nvPr/>
        </p:nvSpPr>
        <p:spPr>
          <a:xfrm>
            <a:off x="1673352" y="2304288"/>
            <a:ext cx="2286000" cy="9966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Teacher shows a card. Team says: I like _____.</a:t>
            </a:r>
          </a:p>
        </p:txBody>
      </p:sp>
      <p:sp>
        <p:nvSpPr>
          <p:cNvPr id="11" name="Shape 9"/>
          <p:cNvSpPr/>
          <p:nvPr/>
        </p:nvSpPr>
        <p:spPr>
          <a:xfrm>
            <a:off x="4663440" y="1828800"/>
            <a:ext cx="3200400" cy="1600200"/>
          </a:xfrm>
          <a:prstGeom prst="roundRect">
            <a:avLst>
              <a:gd name="adj" fmla="val 4571"/>
            </a:avLst>
          </a:prstGeom>
          <a:solidFill>
            <a:srgbClr val="FFF3C4"/>
          </a:solidFill>
          <a:ln w="17780">
            <a:solidFill>
              <a:srgbClr val="FF8A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864608" y="1993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👂</a:t>
            </a:r>
          </a:p>
        </p:txBody>
      </p:sp>
      <p:sp>
        <p:nvSpPr>
          <p:cNvPr id="13" name="Text 11"/>
          <p:cNvSpPr/>
          <p:nvPr/>
        </p:nvSpPr>
        <p:spPr>
          <a:xfrm>
            <a:off x="5376672" y="199339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Round 2</a:t>
            </a:r>
          </a:p>
        </p:txBody>
      </p:sp>
      <p:sp>
        <p:nvSpPr>
          <p:cNvPr id="14" name="Text 12"/>
          <p:cNvSpPr/>
          <p:nvPr/>
        </p:nvSpPr>
        <p:spPr>
          <a:xfrm>
            <a:off x="5376672" y="2304288"/>
            <a:ext cx="2286000" cy="9966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Teacher says an action. Team asks: Can you _____?</a:t>
            </a:r>
          </a:p>
        </p:txBody>
      </p:sp>
      <p:sp>
        <p:nvSpPr>
          <p:cNvPr id="15" name="Shape 13"/>
          <p:cNvSpPr/>
          <p:nvPr/>
        </p:nvSpPr>
        <p:spPr>
          <a:xfrm>
            <a:off x="8366760" y="1828800"/>
            <a:ext cx="3200400" cy="1600200"/>
          </a:xfrm>
          <a:prstGeom prst="roundRect">
            <a:avLst>
              <a:gd name="adj" fmla="val 4571"/>
            </a:avLst>
          </a:prstGeom>
          <a:solidFill>
            <a:srgbClr val="E8F7FC"/>
          </a:solidFill>
          <a:ln w="17780">
            <a:solidFill>
              <a:srgbClr val="00A8C8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567928" y="1993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💬</a:t>
            </a:r>
          </a:p>
        </p:txBody>
      </p:sp>
      <p:sp>
        <p:nvSpPr>
          <p:cNvPr id="17" name="Text 15"/>
          <p:cNvSpPr/>
          <p:nvPr/>
        </p:nvSpPr>
        <p:spPr>
          <a:xfrm>
            <a:off x="9079992" y="199339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Round 3</a:t>
            </a:r>
          </a:p>
        </p:txBody>
      </p:sp>
      <p:sp>
        <p:nvSpPr>
          <p:cNvPr id="18" name="Text 16"/>
          <p:cNvSpPr/>
          <p:nvPr/>
        </p:nvSpPr>
        <p:spPr>
          <a:xfrm>
            <a:off x="9079992" y="2304288"/>
            <a:ext cx="2286000" cy="9966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One student asks. One student answers.</a:t>
            </a:r>
          </a:p>
        </p:txBody>
      </p:sp>
      <p:sp>
        <p:nvSpPr>
          <p:cNvPr id="19" name="Text 17"/>
          <p:cNvSpPr/>
          <p:nvPr/>
        </p:nvSpPr>
        <p:spPr>
          <a:xfrm>
            <a:off x="868680" y="49834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Scoring: 1 point for clear English · 1 point for “can / can’t” · 1 point for teamwork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50292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Mini Presentation: My Hobby &amp; Ability</a:t>
            </a:r>
          </a:p>
        </p:txBody>
      </p:sp>
      <p:sp>
        <p:nvSpPr>
          <p:cNvPr id="3" name="Text 1"/>
          <p:cNvSpPr/>
          <p:nvPr/>
        </p:nvSpPr>
        <p:spPr>
          <a:xfrm>
            <a:off x="713232" y="960120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Students speak for 20-30 seconds.</a:t>
            </a:r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12700">
            <a:solidFill>
              <a:srgbClr val="83D7E7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12064" y="6656832"/>
            <a:ext cx="4389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Hobbies &amp; Abilities · Day 7 · Speaking &amp; Listening</a:t>
            </a:r>
          </a:p>
        </p:txBody>
      </p:sp>
      <p:sp>
        <p:nvSpPr>
          <p:cNvPr id="6" name="Text 4"/>
          <p:cNvSpPr/>
          <p:nvPr/>
        </p:nvSpPr>
        <p:spPr>
          <a:xfrm>
            <a:off x="11841480" y="6656832"/>
            <a:ext cx="219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21</a:t>
            </a:r>
          </a:p>
        </p:txBody>
      </p:sp>
      <p:sp>
        <p:nvSpPr>
          <p:cNvPr id="7" name="Shape 5"/>
          <p:cNvSpPr/>
          <p:nvPr/>
        </p:nvSpPr>
        <p:spPr>
          <a:xfrm>
            <a:off x="1097280" y="1417320"/>
            <a:ext cx="662940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7780">
            <a:solidFill>
              <a:srgbClr val="83D7E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417320" y="1755648"/>
            <a:ext cx="598932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t>Hello. My name is _____.</a:t>
            </a:r>
          </a:p>
          <a:p>
            <a:r>
              <a:t>I like _____.</a:t>
            </a:r>
          </a:p>
          <a:p>
            <a:r>
              <a:t>I can _____.</a:t>
            </a:r>
          </a:p>
          <a:p>
            <a:r>
              <a:t>I can’t _____ yet.</a:t>
            </a:r>
          </a:p>
          <a:p>
            <a:r>
              <a:t>My favorite hobby is _____.</a:t>
            </a:r>
          </a:p>
          <a:p>
            <a:r>
              <a:t>Thank you.</a:t>
            </a:r>
          </a:p>
        </p:txBody>
      </p:sp>
      <p:sp>
        <p:nvSpPr>
          <p:cNvPr id="9" name="Shape 7"/>
          <p:cNvSpPr/>
          <p:nvPr/>
        </p:nvSpPr>
        <p:spPr>
          <a:xfrm>
            <a:off x="8229600" y="1325880"/>
            <a:ext cx="2834640" cy="530352"/>
          </a:xfrm>
          <a:prstGeom prst="roundRect">
            <a:avLst>
              <a:gd name="adj" fmla="val 10345"/>
            </a:avLst>
          </a:prstGeom>
          <a:solidFill>
            <a:srgbClr val="E8F7FC"/>
          </a:solidFill>
          <a:ln w="15240">
            <a:solidFill>
              <a:srgbClr val="00A8C8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366760" y="14356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👀</a:t>
            </a:r>
          </a:p>
        </p:txBody>
      </p:sp>
      <p:sp>
        <p:nvSpPr>
          <p:cNvPr id="11" name="Text 9"/>
          <p:cNvSpPr/>
          <p:nvPr/>
        </p:nvSpPr>
        <p:spPr>
          <a:xfrm>
            <a:off x="8732520" y="143560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Look up</a:t>
            </a:r>
          </a:p>
        </p:txBody>
      </p:sp>
      <p:sp>
        <p:nvSpPr>
          <p:cNvPr id="12" name="Text 10"/>
          <p:cNvSpPr/>
          <p:nvPr/>
        </p:nvSpPr>
        <p:spPr>
          <a:xfrm>
            <a:off x="8732520" y="1673352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229600" y="2084832"/>
            <a:ext cx="2834640" cy="530352"/>
          </a:xfrm>
          <a:prstGeom prst="roundRect">
            <a:avLst>
              <a:gd name="adj" fmla="val 10345"/>
            </a:avLst>
          </a:prstGeom>
          <a:solidFill>
            <a:srgbClr val="FFF3C4"/>
          </a:solidFill>
          <a:ln w="15240">
            <a:solidFill>
              <a:srgbClr val="FF8A0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366760" y="2194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🗣️</a:t>
            </a:r>
          </a:p>
        </p:txBody>
      </p:sp>
      <p:sp>
        <p:nvSpPr>
          <p:cNvPr id="15" name="Text 13"/>
          <p:cNvSpPr/>
          <p:nvPr/>
        </p:nvSpPr>
        <p:spPr>
          <a:xfrm>
            <a:off x="8732520" y="219456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Speak clearly</a:t>
            </a:r>
          </a:p>
        </p:txBody>
      </p:sp>
      <p:sp>
        <p:nvSpPr>
          <p:cNvPr id="16" name="Text 14"/>
          <p:cNvSpPr/>
          <p:nvPr/>
        </p:nvSpPr>
        <p:spPr>
          <a:xfrm>
            <a:off x="8732520" y="2432304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229600" y="2843784"/>
            <a:ext cx="2834640" cy="530352"/>
          </a:xfrm>
          <a:prstGeom prst="roundRect">
            <a:avLst>
              <a:gd name="adj" fmla="val 10345"/>
            </a:avLst>
          </a:prstGeom>
          <a:solidFill>
            <a:srgbClr val="E8F7FC"/>
          </a:solidFill>
          <a:ln w="15240">
            <a:solidFill>
              <a:srgbClr val="00A8C8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366760" y="29535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🙏</a:t>
            </a:r>
          </a:p>
        </p:txBody>
      </p:sp>
      <p:sp>
        <p:nvSpPr>
          <p:cNvPr id="19" name="Text 17"/>
          <p:cNvSpPr/>
          <p:nvPr/>
        </p:nvSpPr>
        <p:spPr>
          <a:xfrm>
            <a:off x="8732520" y="295351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Use “can”</a:t>
            </a:r>
          </a:p>
        </p:txBody>
      </p:sp>
      <p:sp>
        <p:nvSpPr>
          <p:cNvPr id="20" name="Text 18"/>
          <p:cNvSpPr/>
          <p:nvPr/>
        </p:nvSpPr>
        <p:spPr>
          <a:xfrm>
            <a:off x="8732520" y="3191256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229600" y="3602736"/>
            <a:ext cx="2834640" cy="530352"/>
          </a:xfrm>
          <a:prstGeom prst="roundRect">
            <a:avLst>
              <a:gd name="adj" fmla="val 10345"/>
            </a:avLst>
          </a:prstGeom>
          <a:solidFill>
            <a:srgbClr val="FFF3C4"/>
          </a:solidFill>
          <a:ln w="15240">
            <a:solidFill>
              <a:srgbClr val="FF8A0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366760" y="371246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💵</a:t>
            </a:r>
          </a:p>
        </p:txBody>
      </p:sp>
      <p:sp>
        <p:nvSpPr>
          <p:cNvPr id="23" name="Text 21"/>
          <p:cNvSpPr/>
          <p:nvPr/>
        </p:nvSpPr>
        <p:spPr>
          <a:xfrm>
            <a:off x="8732520" y="371246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Say one hobby</a:t>
            </a:r>
          </a:p>
        </p:txBody>
      </p:sp>
      <p:sp>
        <p:nvSpPr>
          <p:cNvPr id="24" name="Text 22"/>
          <p:cNvSpPr/>
          <p:nvPr/>
        </p:nvSpPr>
        <p:spPr>
          <a:xfrm>
            <a:off x="8732520" y="3950208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229600" y="4361688"/>
            <a:ext cx="2834640" cy="530352"/>
          </a:xfrm>
          <a:prstGeom prst="roundRect">
            <a:avLst>
              <a:gd name="adj" fmla="val 10345"/>
            </a:avLst>
          </a:prstGeom>
          <a:solidFill>
            <a:srgbClr val="E8F7FC"/>
          </a:solidFill>
          <a:ln w="15240">
            <a:solidFill>
              <a:srgbClr val="00A8C8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366760" y="44714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😊</a:t>
            </a:r>
          </a:p>
        </p:txBody>
      </p:sp>
      <p:sp>
        <p:nvSpPr>
          <p:cNvPr id="27" name="Text 25"/>
          <p:cNvSpPr/>
          <p:nvPr/>
        </p:nvSpPr>
        <p:spPr>
          <a:xfrm>
            <a:off x="8732520" y="447141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Smile</a:t>
            </a:r>
          </a:p>
        </p:txBody>
      </p:sp>
      <p:sp>
        <p:nvSpPr>
          <p:cNvPr id="28" name="Text 26"/>
          <p:cNvSpPr/>
          <p:nvPr/>
        </p:nvSpPr>
        <p:spPr>
          <a:xfrm>
            <a:off x="8732520" y="4709160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50292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Our Speaking Class Rules</a:t>
            </a:r>
          </a:p>
        </p:txBody>
      </p:sp>
      <p:sp>
        <p:nvSpPr>
          <p:cNvPr id="3" name="Text 1"/>
          <p:cNvSpPr/>
          <p:nvPr/>
        </p:nvSpPr>
        <p:spPr>
          <a:xfrm>
            <a:off x="713232" y="960120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Create a safe classroom when sharing hobbies and abilities.</a:t>
            </a:r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12700">
            <a:solidFill>
              <a:srgbClr val="83D7E7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12064" y="6656832"/>
            <a:ext cx="4389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Hobbies &amp; Abilities · Day 7 · Speaking &amp; Listening</a:t>
            </a:r>
          </a:p>
        </p:txBody>
      </p:sp>
      <p:sp>
        <p:nvSpPr>
          <p:cNvPr id="6" name="Text 4"/>
          <p:cNvSpPr/>
          <p:nvPr/>
        </p:nvSpPr>
        <p:spPr>
          <a:xfrm>
            <a:off x="11841480" y="6656832"/>
            <a:ext cx="219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22</a:t>
            </a:r>
          </a:p>
        </p:txBody>
      </p:sp>
      <p:sp>
        <p:nvSpPr>
          <p:cNvPr id="7" name="Shape 5"/>
          <p:cNvSpPr/>
          <p:nvPr/>
        </p:nvSpPr>
        <p:spPr>
          <a:xfrm>
            <a:off x="960120" y="1645920"/>
            <a:ext cx="4800600" cy="1143000"/>
          </a:xfrm>
          <a:prstGeom prst="roundRect">
            <a:avLst>
              <a:gd name="adj" fmla="val 6400"/>
            </a:avLst>
          </a:prstGeom>
          <a:solidFill>
            <a:srgbClr val="E8F7FC"/>
          </a:solidFill>
          <a:ln w="17780">
            <a:solidFill>
              <a:srgbClr val="00A8C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161288" y="18105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🌱</a:t>
            </a:r>
          </a:p>
        </p:txBody>
      </p:sp>
      <p:sp>
        <p:nvSpPr>
          <p:cNvPr id="9" name="Text 7"/>
          <p:cNvSpPr/>
          <p:nvPr/>
        </p:nvSpPr>
        <p:spPr>
          <a:xfrm>
            <a:off x="1673352" y="181051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Use English first.</a:t>
            </a:r>
          </a:p>
        </p:txBody>
      </p:sp>
      <p:sp>
        <p:nvSpPr>
          <p:cNvPr id="10" name="Text 8"/>
          <p:cNvSpPr/>
          <p:nvPr/>
        </p:nvSpPr>
        <p:spPr>
          <a:xfrm>
            <a:off x="1673352" y="2121408"/>
            <a:ext cx="3886200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One word + action is okay.</a:t>
            </a:r>
          </a:p>
        </p:txBody>
      </p:sp>
      <p:sp>
        <p:nvSpPr>
          <p:cNvPr id="11" name="Shape 9"/>
          <p:cNvSpPr/>
          <p:nvPr/>
        </p:nvSpPr>
        <p:spPr>
          <a:xfrm>
            <a:off x="6355080" y="1645920"/>
            <a:ext cx="4800600" cy="1143000"/>
          </a:xfrm>
          <a:prstGeom prst="roundRect">
            <a:avLst>
              <a:gd name="adj" fmla="val 6400"/>
            </a:avLst>
          </a:prstGeom>
          <a:solidFill>
            <a:srgbClr val="FFF3C4"/>
          </a:solidFill>
          <a:ln w="17780">
            <a:solidFill>
              <a:srgbClr val="FF8A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556248" y="18105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🤝</a:t>
            </a:r>
          </a:p>
        </p:txBody>
      </p:sp>
      <p:sp>
        <p:nvSpPr>
          <p:cNvPr id="13" name="Text 11"/>
          <p:cNvSpPr/>
          <p:nvPr/>
        </p:nvSpPr>
        <p:spPr>
          <a:xfrm>
            <a:off x="7068312" y="181051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Help your partner.</a:t>
            </a:r>
          </a:p>
        </p:txBody>
      </p:sp>
      <p:sp>
        <p:nvSpPr>
          <p:cNvPr id="14" name="Text 12"/>
          <p:cNvSpPr/>
          <p:nvPr/>
        </p:nvSpPr>
        <p:spPr>
          <a:xfrm>
            <a:off x="7068312" y="2121408"/>
            <a:ext cx="3886200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Point, gesture, or whisper a word.</a:t>
            </a:r>
          </a:p>
        </p:txBody>
      </p:sp>
      <p:sp>
        <p:nvSpPr>
          <p:cNvPr id="15" name="Shape 13"/>
          <p:cNvSpPr/>
          <p:nvPr/>
        </p:nvSpPr>
        <p:spPr>
          <a:xfrm>
            <a:off x="960120" y="3246120"/>
            <a:ext cx="4800600" cy="1143000"/>
          </a:xfrm>
          <a:prstGeom prst="roundRect">
            <a:avLst>
              <a:gd name="adj" fmla="val 6400"/>
            </a:avLst>
          </a:prstGeom>
          <a:solidFill>
            <a:srgbClr val="E8F7FC"/>
          </a:solidFill>
          <a:ln w="17780">
            <a:solidFill>
              <a:srgbClr val="00A8C8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161288" y="3410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👂</a:t>
            </a:r>
          </a:p>
        </p:txBody>
      </p:sp>
      <p:sp>
        <p:nvSpPr>
          <p:cNvPr id="17" name="Text 15"/>
          <p:cNvSpPr/>
          <p:nvPr/>
        </p:nvSpPr>
        <p:spPr>
          <a:xfrm>
            <a:off x="1673352" y="341071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Listen for can / can’t.</a:t>
            </a:r>
          </a:p>
        </p:txBody>
      </p:sp>
      <p:sp>
        <p:nvSpPr>
          <p:cNvPr id="18" name="Text 16"/>
          <p:cNvSpPr/>
          <p:nvPr/>
        </p:nvSpPr>
        <p:spPr>
          <a:xfrm>
            <a:off x="1673352" y="3721608"/>
            <a:ext cx="3886200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Hear hobbies and abilities.</a:t>
            </a:r>
          </a:p>
        </p:txBody>
      </p:sp>
      <p:sp>
        <p:nvSpPr>
          <p:cNvPr id="19" name="Shape 17"/>
          <p:cNvSpPr/>
          <p:nvPr/>
        </p:nvSpPr>
        <p:spPr>
          <a:xfrm>
            <a:off x="6355080" y="3246120"/>
            <a:ext cx="4800600" cy="1143000"/>
          </a:xfrm>
          <a:prstGeom prst="roundRect">
            <a:avLst>
              <a:gd name="adj" fmla="val 6400"/>
            </a:avLst>
          </a:prstGeom>
          <a:solidFill>
            <a:srgbClr val="FFF3C4"/>
          </a:solidFill>
          <a:ln w="17780">
            <a:solidFill>
              <a:srgbClr val="FF8A0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556248" y="3410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⭐</a:t>
            </a:r>
          </a:p>
        </p:txBody>
      </p:sp>
      <p:sp>
        <p:nvSpPr>
          <p:cNvPr id="21" name="Text 19"/>
          <p:cNvSpPr/>
          <p:nvPr/>
        </p:nvSpPr>
        <p:spPr>
          <a:xfrm>
            <a:off x="7068312" y="341071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Mistakes help us learn.</a:t>
            </a:r>
          </a:p>
        </p:txBody>
      </p:sp>
      <p:sp>
        <p:nvSpPr>
          <p:cNvPr id="22" name="Text 20"/>
          <p:cNvSpPr/>
          <p:nvPr/>
        </p:nvSpPr>
        <p:spPr>
          <a:xfrm>
            <a:off x="7068312" y="3721608"/>
            <a:ext cx="3886200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Try again with a smile.</a:t>
            </a:r>
          </a:p>
        </p:txBody>
      </p:sp>
      <p:sp>
        <p:nvSpPr>
          <p:cNvPr id="23" name="Text 21"/>
          <p:cNvSpPr/>
          <p:nvPr/>
        </p:nvSpPr>
        <p:spPr>
          <a:xfrm>
            <a:off x="868680" y="525780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Class chant: “I like it. I can try. Great job!”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50292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Speaking Passport: Day 7 Stamp</a:t>
            </a:r>
          </a:p>
        </p:txBody>
      </p:sp>
      <p:sp>
        <p:nvSpPr>
          <p:cNvPr id="3" name="Text 1"/>
          <p:cNvSpPr/>
          <p:nvPr/>
        </p:nvSpPr>
        <p:spPr>
          <a:xfrm>
            <a:off x="713232" y="960120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Self-check at the end.</a:t>
            </a:r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12700">
            <a:solidFill>
              <a:srgbClr val="83D7E7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12064" y="6656832"/>
            <a:ext cx="4389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Hobbies &amp; Abilities · Day 7 · Speaking &amp; Listening</a:t>
            </a:r>
          </a:p>
        </p:txBody>
      </p:sp>
      <p:sp>
        <p:nvSpPr>
          <p:cNvPr id="6" name="Text 4"/>
          <p:cNvSpPr/>
          <p:nvPr/>
        </p:nvSpPr>
        <p:spPr>
          <a:xfrm>
            <a:off x="11841480" y="6656832"/>
            <a:ext cx="219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23</a:t>
            </a:r>
          </a:p>
        </p:txBody>
      </p:sp>
      <p:sp>
        <p:nvSpPr>
          <p:cNvPr id="7" name="Text 5"/>
          <p:cNvSpPr/>
          <p:nvPr/>
        </p:nvSpPr>
        <p:spPr>
          <a:xfrm>
            <a:off x="86868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Today I can…</a:t>
            </a:r>
          </a:p>
        </p:txBody>
      </p:sp>
      <p:sp>
        <p:nvSpPr>
          <p:cNvPr id="8" name="Shape 6"/>
          <p:cNvSpPr/>
          <p:nvPr/>
        </p:nvSpPr>
        <p:spPr>
          <a:xfrm>
            <a:off x="960120" y="1828800"/>
            <a:ext cx="4800600" cy="914400"/>
          </a:xfrm>
          <a:prstGeom prst="roundRect">
            <a:avLst>
              <a:gd name="adj" fmla="val 8000"/>
            </a:avLst>
          </a:prstGeom>
          <a:solidFill>
            <a:srgbClr val="E8F7FC"/>
          </a:solidFill>
          <a:ln w="17780">
            <a:solidFill>
              <a:srgbClr val="00A8C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161288" y="1993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☕</a:t>
            </a:r>
          </a:p>
        </p:txBody>
      </p:sp>
      <p:sp>
        <p:nvSpPr>
          <p:cNvPr id="10" name="Text 8"/>
          <p:cNvSpPr/>
          <p:nvPr/>
        </p:nvSpPr>
        <p:spPr>
          <a:xfrm>
            <a:off x="1673352" y="199339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say my hobby</a:t>
            </a:r>
          </a:p>
        </p:txBody>
      </p:sp>
      <p:sp>
        <p:nvSpPr>
          <p:cNvPr id="11" name="Text 9"/>
          <p:cNvSpPr/>
          <p:nvPr/>
        </p:nvSpPr>
        <p:spPr>
          <a:xfrm>
            <a:off x="1673352" y="2304288"/>
            <a:ext cx="38862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I like painting.</a:t>
            </a:r>
          </a:p>
        </p:txBody>
      </p:sp>
      <p:sp>
        <p:nvSpPr>
          <p:cNvPr id="12" name="Shape 10"/>
          <p:cNvSpPr/>
          <p:nvPr/>
        </p:nvSpPr>
        <p:spPr>
          <a:xfrm>
            <a:off x="6355080" y="1828800"/>
            <a:ext cx="4800600" cy="914400"/>
          </a:xfrm>
          <a:prstGeom prst="roundRect">
            <a:avLst>
              <a:gd name="adj" fmla="val 8000"/>
            </a:avLst>
          </a:prstGeom>
          <a:solidFill>
            <a:srgbClr val="FFF3C4"/>
          </a:solidFill>
          <a:ln w="17780">
            <a:solidFill>
              <a:srgbClr val="FF8A0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556248" y="1993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❓</a:t>
            </a:r>
          </a:p>
        </p:txBody>
      </p:sp>
      <p:sp>
        <p:nvSpPr>
          <p:cNvPr id="14" name="Text 12"/>
          <p:cNvSpPr/>
          <p:nvPr/>
        </p:nvSpPr>
        <p:spPr>
          <a:xfrm>
            <a:off x="7068312" y="199339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ask an ability</a:t>
            </a:r>
          </a:p>
        </p:txBody>
      </p:sp>
      <p:sp>
        <p:nvSpPr>
          <p:cNvPr id="15" name="Text 13"/>
          <p:cNvSpPr/>
          <p:nvPr/>
        </p:nvSpPr>
        <p:spPr>
          <a:xfrm>
            <a:off x="7068312" y="2304288"/>
            <a:ext cx="38862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Can you swim?</a:t>
            </a:r>
          </a:p>
        </p:txBody>
      </p:sp>
      <p:sp>
        <p:nvSpPr>
          <p:cNvPr id="16" name="Shape 14"/>
          <p:cNvSpPr/>
          <p:nvPr/>
        </p:nvSpPr>
        <p:spPr>
          <a:xfrm>
            <a:off x="960120" y="3154680"/>
            <a:ext cx="4800600" cy="914400"/>
          </a:xfrm>
          <a:prstGeom prst="roundRect">
            <a:avLst>
              <a:gd name="adj" fmla="val 8000"/>
            </a:avLst>
          </a:prstGeom>
          <a:solidFill>
            <a:srgbClr val="E8F7FC"/>
          </a:solidFill>
          <a:ln w="17780">
            <a:solidFill>
              <a:srgbClr val="00A8C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161288" y="33192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💵</a:t>
            </a:r>
          </a:p>
        </p:txBody>
      </p:sp>
      <p:sp>
        <p:nvSpPr>
          <p:cNvPr id="18" name="Text 16"/>
          <p:cNvSpPr/>
          <p:nvPr/>
        </p:nvSpPr>
        <p:spPr>
          <a:xfrm>
            <a:off x="1673352" y="331927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answer with can</a:t>
            </a:r>
          </a:p>
        </p:txBody>
      </p:sp>
      <p:sp>
        <p:nvSpPr>
          <p:cNvPr id="19" name="Text 17"/>
          <p:cNvSpPr/>
          <p:nvPr/>
        </p:nvSpPr>
        <p:spPr>
          <a:xfrm>
            <a:off x="1673352" y="3630168"/>
            <a:ext cx="38862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Yes, I can. / No, I can’t.</a:t>
            </a:r>
          </a:p>
        </p:txBody>
      </p:sp>
      <p:sp>
        <p:nvSpPr>
          <p:cNvPr id="20" name="Shape 18"/>
          <p:cNvSpPr/>
          <p:nvPr/>
        </p:nvSpPr>
        <p:spPr>
          <a:xfrm>
            <a:off x="6355080" y="3154680"/>
            <a:ext cx="4800600" cy="914400"/>
          </a:xfrm>
          <a:prstGeom prst="roundRect">
            <a:avLst>
              <a:gd name="adj" fmla="val 8000"/>
            </a:avLst>
          </a:prstGeom>
          <a:solidFill>
            <a:srgbClr val="FFF3C4"/>
          </a:solidFill>
          <a:ln w="17780">
            <a:solidFill>
              <a:srgbClr val="FF8A0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556248" y="33192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✅</a:t>
            </a:r>
          </a:p>
        </p:txBody>
      </p:sp>
      <p:sp>
        <p:nvSpPr>
          <p:cNvPr id="22" name="Text 20"/>
          <p:cNvSpPr/>
          <p:nvPr/>
        </p:nvSpPr>
        <p:spPr>
          <a:xfrm>
            <a:off x="7068312" y="331927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encourage friends</a:t>
            </a:r>
          </a:p>
        </p:txBody>
      </p:sp>
      <p:sp>
        <p:nvSpPr>
          <p:cNvPr id="23" name="Text 21"/>
          <p:cNvSpPr/>
          <p:nvPr/>
        </p:nvSpPr>
        <p:spPr>
          <a:xfrm>
            <a:off x="7068312" y="3630168"/>
            <a:ext cx="38862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Great job! Keep trying!</a:t>
            </a:r>
          </a:p>
        </p:txBody>
      </p:sp>
      <p:sp>
        <p:nvSpPr>
          <p:cNvPr id="24" name="Text 22"/>
          <p:cNvSpPr/>
          <p:nvPr/>
        </p:nvSpPr>
        <p:spPr>
          <a:xfrm>
            <a:off x="914400" y="516636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Circle one:  🙂 I can do it   😐 I need practice   🙁 I need help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50292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Exit Ticket</a:t>
            </a:r>
          </a:p>
        </p:txBody>
      </p:sp>
      <p:sp>
        <p:nvSpPr>
          <p:cNvPr id="3" name="Text 1"/>
          <p:cNvSpPr/>
          <p:nvPr/>
        </p:nvSpPr>
        <p:spPr>
          <a:xfrm>
            <a:off x="713232" y="960120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A quick closing hobby routine.</a:t>
            </a:r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12700">
            <a:solidFill>
              <a:srgbClr val="83D7E7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12064" y="6656832"/>
            <a:ext cx="4389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Hobbies &amp; Abilities · Day 7 · Speaking &amp; Listening</a:t>
            </a:r>
          </a:p>
        </p:txBody>
      </p:sp>
      <p:sp>
        <p:nvSpPr>
          <p:cNvPr id="6" name="Text 4"/>
          <p:cNvSpPr/>
          <p:nvPr/>
        </p:nvSpPr>
        <p:spPr>
          <a:xfrm>
            <a:off x="11841480" y="6656832"/>
            <a:ext cx="219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24</a:t>
            </a:r>
          </a:p>
        </p:txBody>
      </p:sp>
      <p:sp>
        <p:nvSpPr>
          <p:cNvPr id="7" name="Shape 5"/>
          <p:cNvSpPr/>
          <p:nvPr/>
        </p:nvSpPr>
        <p:spPr>
          <a:xfrm>
            <a:off x="1051560" y="2011680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E8F7FC"/>
          </a:solidFill>
          <a:ln w="17780">
            <a:solidFill>
              <a:srgbClr val="00A8C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252728" y="21762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💬</a:t>
            </a:r>
          </a:p>
        </p:txBody>
      </p:sp>
      <p:sp>
        <p:nvSpPr>
          <p:cNvPr id="9" name="Text 7"/>
          <p:cNvSpPr/>
          <p:nvPr/>
        </p:nvSpPr>
        <p:spPr>
          <a:xfrm>
            <a:off x="1764792" y="217627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Say one hobby</a:t>
            </a:r>
          </a:p>
        </p:txBody>
      </p:sp>
      <p:sp>
        <p:nvSpPr>
          <p:cNvPr id="10" name="Text 8"/>
          <p:cNvSpPr/>
          <p:nvPr/>
        </p:nvSpPr>
        <p:spPr>
          <a:xfrm>
            <a:off x="1764792" y="2487168"/>
            <a:ext cx="224028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“I like drawing.”</a:t>
            </a:r>
          </a:p>
        </p:txBody>
      </p:sp>
      <p:sp>
        <p:nvSpPr>
          <p:cNvPr id="11" name="Shape 9"/>
          <p:cNvSpPr/>
          <p:nvPr/>
        </p:nvSpPr>
        <p:spPr>
          <a:xfrm>
            <a:off x="4754880" y="2011680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FFF3C4"/>
          </a:solidFill>
          <a:ln w="17780">
            <a:solidFill>
              <a:srgbClr val="FF8A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956048" y="21762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🙏</a:t>
            </a:r>
          </a:p>
        </p:txBody>
      </p:sp>
      <p:sp>
        <p:nvSpPr>
          <p:cNvPr id="13" name="Text 11"/>
          <p:cNvSpPr/>
          <p:nvPr/>
        </p:nvSpPr>
        <p:spPr>
          <a:xfrm>
            <a:off x="5468112" y="217627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Say one ability</a:t>
            </a:r>
          </a:p>
        </p:txBody>
      </p:sp>
      <p:sp>
        <p:nvSpPr>
          <p:cNvPr id="14" name="Text 12"/>
          <p:cNvSpPr/>
          <p:nvPr/>
        </p:nvSpPr>
        <p:spPr>
          <a:xfrm>
            <a:off x="5468112" y="2487168"/>
            <a:ext cx="224028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“I can swim.”</a:t>
            </a:r>
          </a:p>
        </p:txBody>
      </p:sp>
      <p:sp>
        <p:nvSpPr>
          <p:cNvPr id="15" name="Shape 13"/>
          <p:cNvSpPr/>
          <p:nvPr/>
        </p:nvSpPr>
        <p:spPr>
          <a:xfrm>
            <a:off x="8458200" y="2011680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E8F7FC"/>
          </a:solidFill>
          <a:ln w="17780">
            <a:solidFill>
              <a:srgbClr val="00A8C8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659368" y="21762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💵</a:t>
            </a:r>
          </a:p>
        </p:txBody>
      </p:sp>
      <p:sp>
        <p:nvSpPr>
          <p:cNvPr id="17" name="Text 15"/>
          <p:cNvSpPr/>
          <p:nvPr/>
        </p:nvSpPr>
        <p:spPr>
          <a:xfrm>
            <a:off x="9171432" y="217627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Ask a friend</a:t>
            </a:r>
          </a:p>
        </p:txBody>
      </p:sp>
      <p:sp>
        <p:nvSpPr>
          <p:cNvPr id="18" name="Text 16"/>
          <p:cNvSpPr/>
          <p:nvPr/>
        </p:nvSpPr>
        <p:spPr>
          <a:xfrm>
            <a:off x="9171432" y="2487168"/>
            <a:ext cx="224028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“Can you dance?”</a:t>
            </a:r>
          </a:p>
        </p:txBody>
      </p:sp>
      <p:sp>
        <p:nvSpPr>
          <p:cNvPr id="19" name="Text 17"/>
          <p:cNvSpPr/>
          <p:nvPr/>
        </p:nvSpPr>
        <p:spPr>
          <a:xfrm>
            <a:off x="868680" y="49834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Teacher says goodbye using each student’s name when possible.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50292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Teacher Quick Assessment</a:t>
            </a:r>
          </a:p>
        </p:txBody>
      </p:sp>
      <p:sp>
        <p:nvSpPr>
          <p:cNvPr id="3" name="Text 1"/>
          <p:cNvSpPr/>
          <p:nvPr/>
        </p:nvSpPr>
        <p:spPr>
          <a:xfrm>
            <a:off x="713232" y="960120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Use this to understand your students after class 7.</a:t>
            </a:r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12700">
            <a:solidFill>
              <a:srgbClr val="83D7E7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12064" y="6656832"/>
            <a:ext cx="4389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Hobbies &amp; Abilities · Day 7 · Speaking &amp; Listening</a:t>
            </a:r>
          </a:p>
        </p:txBody>
      </p:sp>
      <p:sp>
        <p:nvSpPr>
          <p:cNvPr id="6" name="Text 4"/>
          <p:cNvSpPr/>
          <p:nvPr/>
        </p:nvSpPr>
        <p:spPr>
          <a:xfrm>
            <a:off x="11841480" y="6656832"/>
            <a:ext cx="219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25</a:t>
            </a:r>
          </a:p>
        </p:txBody>
      </p:sp>
      <p:pic>
        <p:nvPicPr>
          <p:cNvPr id="50" name="Picture 49" descr="day7_crop_slide2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325880"/>
            <a:ext cx="4480560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1325880"/>
            <a:ext cx="4480560" cy="4206240"/>
          </a:xfrm>
          <a:prstGeom prst="roundRect">
            <a:avLst>
              <a:gd name="adj" fmla="val 1739"/>
            </a:avLst>
          </a:prstGeom>
          <a:solidFill>
            <a:srgbClr val="FFFFFF">
              <a:alpha val="0"/>
            </a:srgbClr>
          </a:solidFill>
          <a:ln w="25400">
            <a:solidFill>
              <a:srgbClr val="FFFFFF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5486400" y="1417320"/>
            <a:ext cx="1965960" cy="457200"/>
          </a:xfrm>
          <a:prstGeom prst="rect">
            <a:avLst/>
          </a:prstGeom>
          <a:solidFill>
            <a:srgbClr val="0B7F8D"/>
          </a:solidFill>
          <a:ln w="10160">
            <a:solidFill>
              <a:srgbClr val="B7D7DE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559552" y="1563624"/>
            <a:ext cx="18196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Student name</a:t>
            </a:r>
          </a:p>
        </p:txBody>
      </p:sp>
      <p:sp>
        <p:nvSpPr>
          <p:cNvPr id="11" name="Shape 8"/>
          <p:cNvSpPr/>
          <p:nvPr/>
        </p:nvSpPr>
        <p:spPr>
          <a:xfrm>
            <a:off x="7452360" y="1417320"/>
            <a:ext cx="1463040" cy="457200"/>
          </a:xfrm>
          <a:prstGeom prst="rect">
            <a:avLst/>
          </a:prstGeom>
          <a:solidFill>
            <a:srgbClr val="0B7F8D"/>
          </a:solidFill>
          <a:ln w="10160">
            <a:solidFill>
              <a:srgbClr val="B7D7DE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525512" y="1563624"/>
            <a:ext cx="1316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Can say hobby</a:t>
            </a:r>
          </a:p>
        </p:txBody>
      </p:sp>
      <p:sp>
        <p:nvSpPr>
          <p:cNvPr id="13" name="Shape 10"/>
          <p:cNvSpPr/>
          <p:nvPr/>
        </p:nvSpPr>
        <p:spPr>
          <a:xfrm>
            <a:off x="8915400" y="1417320"/>
            <a:ext cx="1463040" cy="457200"/>
          </a:xfrm>
          <a:prstGeom prst="rect">
            <a:avLst/>
          </a:prstGeom>
          <a:solidFill>
            <a:srgbClr val="0B7F8D"/>
          </a:solidFill>
          <a:ln w="10160">
            <a:solidFill>
              <a:srgbClr val="B7D7DE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8988552" y="1563624"/>
            <a:ext cx="1316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Can use can/can’t</a:t>
            </a:r>
          </a:p>
        </p:txBody>
      </p:sp>
      <p:sp>
        <p:nvSpPr>
          <p:cNvPr id="15" name="Shape 12"/>
          <p:cNvSpPr/>
          <p:nvPr/>
        </p:nvSpPr>
        <p:spPr>
          <a:xfrm>
            <a:off x="10378440" y="1417320"/>
            <a:ext cx="1463040" cy="457200"/>
          </a:xfrm>
          <a:prstGeom prst="rect">
            <a:avLst/>
          </a:prstGeom>
          <a:solidFill>
            <a:srgbClr val="0B7F8D"/>
          </a:solidFill>
          <a:ln w="10160">
            <a:solidFill>
              <a:srgbClr val="B7D7DE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10451592" y="1563624"/>
            <a:ext cx="1316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Support needed</a:t>
            </a:r>
          </a:p>
        </p:txBody>
      </p:sp>
      <p:sp>
        <p:nvSpPr>
          <p:cNvPr id="17" name="Shape 14"/>
          <p:cNvSpPr/>
          <p:nvPr/>
        </p:nvSpPr>
        <p:spPr>
          <a:xfrm>
            <a:off x="5486400" y="1874520"/>
            <a:ext cx="196596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5559552" y="2020824"/>
            <a:ext cx="18196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19" name="Shape 16"/>
          <p:cNvSpPr/>
          <p:nvPr/>
        </p:nvSpPr>
        <p:spPr>
          <a:xfrm>
            <a:off x="7452360" y="1874520"/>
            <a:ext cx="146304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7525512" y="2020824"/>
            <a:ext cx="1316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21" name="Shape 18"/>
          <p:cNvSpPr/>
          <p:nvPr/>
        </p:nvSpPr>
        <p:spPr>
          <a:xfrm>
            <a:off x="8915400" y="1874520"/>
            <a:ext cx="146304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8988552" y="2020824"/>
            <a:ext cx="1316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23" name="Shape 20"/>
          <p:cNvSpPr/>
          <p:nvPr/>
        </p:nvSpPr>
        <p:spPr>
          <a:xfrm>
            <a:off x="10378440" y="1874520"/>
            <a:ext cx="146304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10451592" y="2020824"/>
            <a:ext cx="1316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25" name="Shape 22"/>
          <p:cNvSpPr/>
          <p:nvPr/>
        </p:nvSpPr>
        <p:spPr>
          <a:xfrm>
            <a:off x="5486400" y="2331720"/>
            <a:ext cx="196596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5559552" y="2478024"/>
            <a:ext cx="18196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27" name="Shape 24"/>
          <p:cNvSpPr/>
          <p:nvPr/>
        </p:nvSpPr>
        <p:spPr>
          <a:xfrm>
            <a:off x="7452360" y="2331720"/>
            <a:ext cx="146304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7525512" y="2478024"/>
            <a:ext cx="1316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29" name="Shape 26"/>
          <p:cNvSpPr/>
          <p:nvPr/>
        </p:nvSpPr>
        <p:spPr>
          <a:xfrm>
            <a:off x="8915400" y="2331720"/>
            <a:ext cx="146304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8988552" y="2478024"/>
            <a:ext cx="1316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31" name="Shape 28"/>
          <p:cNvSpPr/>
          <p:nvPr/>
        </p:nvSpPr>
        <p:spPr>
          <a:xfrm>
            <a:off x="10378440" y="2331720"/>
            <a:ext cx="146304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10451592" y="2478024"/>
            <a:ext cx="1316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33" name="Shape 30"/>
          <p:cNvSpPr/>
          <p:nvPr/>
        </p:nvSpPr>
        <p:spPr>
          <a:xfrm>
            <a:off x="5486400" y="2788920"/>
            <a:ext cx="196596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5559552" y="2935224"/>
            <a:ext cx="18196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35" name="Shape 32"/>
          <p:cNvSpPr/>
          <p:nvPr/>
        </p:nvSpPr>
        <p:spPr>
          <a:xfrm>
            <a:off x="7452360" y="2788920"/>
            <a:ext cx="146304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7525512" y="2935224"/>
            <a:ext cx="1316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37" name="Shape 34"/>
          <p:cNvSpPr/>
          <p:nvPr/>
        </p:nvSpPr>
        <p:spPr>
          <a:xfrm>
            <a:off x="8915400" y="2788920"/>
            <a:ext cx="146304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8988552" y="2935224"/>
            <a:ext cx="1316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39" name="Shape 36"/>
          <p:cNvSpPr/>
          <p:nvPr/>
        </p:nvSpPr>
        <p:spPr>
          <a:xfrm>
            <a:off x="10378440" y="2788920"/>
            <a:ext cx="146304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10451592" y="2935224"/>
            <a:ext cx="1316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41" name="Shape 38"/>
          <p:cNvSpPr/>
          <p:nvPr/>
        </p:nvSpPr>
        <p:spPr>
          <a:xfrm>
            <a:off x="5486400" y="3246120"/>
            <a:ext cx="196596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  <p:txBody>
          <a:bodyPr/>
          <a:p/>
        </p:txBody>
      </p:sp>
      <p:sp>
        <p:nvSpPr>
          <p:cNvPr id="42" name="Text 39"/>
          <p:cNvSpPr/>
          <p:nvPr/>
        </p:nvSpPr>
        <p:spPr>
          <a:xfrm>
            <a:off x="5559552" y="3392424"/>
            <a:ext cx="18196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43" name="Shape 40"/>
          <p:cNvSpPr/>
          <p:nvPr/>
        </p:nvSpPr>
        <p:spPr>
          <a:xfrm>
            <a:off x="7452360" y="3246120"/>
            <a:ext cx="146304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  <p:txBody>
          <a:bodyPr/>
          <a:p/>
        </p:txBody>
      </p:sp>
      <p:sp>
        <p:nvSpPr>
          <p:cNvPr id="44" name="Text 41"/>
          <p:cNvSpPr/>
          <p:nvPr/>
        </p:nvSpPr>
        <p:spPr>
          <a:xfrm>
            <a:off x="7525512" y="3392424"/>
            <a:ext cx="1316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45" name="Shape 42"/>
          <p:cNvSpPr/>
          <p:nvPr/>
        </p:nvSpPr>
        <p:spPr>
          <a:xfrm>
            <a:off x="8915400" y="3246120"/>
            <a:ext cx="146304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  <p:txBody>
          <a:bodyPr/>
          <a:p/>
        </p:txBody>
      </p:sp>
      <p:sp>
        <p:nvSpPr>
          <p:cNvPr id="46" name="Text 43"/>
          <p:cNvSpPr/>
          <p:nvPr/>
        </p:nvSpPr>
        <p:spPr>
          <a:xfrm>
            <a:off x="8988552" y="3392424"/>
            <a:ext cx="1316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47" name="Shape 44"/>
          <p:cNvSpPr/>
          <p:nvPr/>
        </p:nvSpPr>
        <p:spPr>
          <a:xfrm>
            <a:off x="10378440" y="3246120"/>
            <a:ext cx="1463040" cy="457200"/>
          </a:xfrm>
          <a:prstGeom prst="rect">
            <a:avLst/>
          </a:prstGeom>
          <a:solidFill>
            <a:srgbClr val="FFFFFF">
              <a:alpha val="93000"/>
            </a:srgbClr>
          </a:solidFill>
          <a:ln w="10160">
            <a:solidFill>
              <a:srgbClr val="B7D7DE"/>
            </a:solidFill>
            <a:prstDash val="solid"/>
          </a:ln>
        </p:spPr>
        <p:txBody>
          <a:bodyPr/>
          <a:p/>
        </p:txBody>
      </p:sp>
      <p:sp>
        <p:nvSpPr>
          <p:cNvPr id="48" name="Text 45"/>
          <p:cNvSpPr/>
          <p:nvPr/>
        </p:nvSpPr>
        <p:spPr>
          <a:xfrm>
            <a:off x="10451592" y="3392424"/>
            <a:ext cx="1316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49" name="Text 46"/>
          <p:cNvSpPr/>
          <p:nvPr/>
        </p:nvSpPr>
        <p:spPr>
          <a:xfrm>
            <a:off x="5486400" y="52120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After class, group students by confidence, hobby vocabulary, and can / can’t control.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50292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Printable Cards: Hobbies</a:t>
            </a:r>
          </a:p>
        </p:txBody>
      </p:sp>
      <p:sp>
        <p:nvSpPr>
          <p:cNvPr id="3" name="Text 1"/>
          <p:cNvSpPr/>
          <p:nvPr/>
        </p:nvSpPr>
        <p:spPr>
          <a:xfrm>
            <a:off x="713232" y="960120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Print this slide and cut into cards.</a:t>
            </a:r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12700">
            <a:solidFill>
              <a:srgbClr val="83D7E7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12064" y="6656832"/>
            <a:ext cx="4389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Hobbies &amp; Abilities · Day 7 · Speaking &amp; Listening</a:t>
            </a:r>
          </a:p>
        </p:txBody>
      </p:sp>
      <p:sp>
        <p:nvSpPr>
          <p:cNvPr id="6" name="Text 4"/>
          <p:cNvSpPr/>
          <p:nvPr/>
        </p:nvSpPr>
        <p:spPr>
          <a:xfrm>
            <a:off x="11841480" y="6656832"/>
            <a:ext cx="219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26</a:t>
            </a:r>
          </a:p>
        </p:txBody>
      </p:sp>
      <p:sp>
        <p:nvSpPr>
          <p:cNvPr id="7" name="Shape 5"/>
          <p:cNvSpPr/>
          <p:nvPr/>
        </p:nvSpPr>
        <p:spPr>
          <a:xfrm>
            <a:off x="731520" y="150876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E8F7FC"/>
          </a:solidFill>
          <a:ln w="17780">
            <a:solidFill>
              <a:srgbClr val="00A8C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32688" y="1673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🎨</a:t>
            </a:r>
          </a:p>
        </p:txBody>
      </p:sp>
      <p:sp>
        <p:nvSpPr>
          <p:cNvPr id="9" name="Text 7"/>
          <p:cNvSpPr/>
          <p:nvPr/>
        </p:nvSpPr>
        <p:spPr>
          <a:xfrm>
            <a:off x="1444752" y="167335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draw</a:t>
            </a:r>
          </a:p>
        </p:txBody>
      </p:sp>
      <p:sp>
        <p:nvSpPr>
          <p:cNvPr id="10" name="Text 8"/>
          <p:cNvSpPr/>
          <p:nvPr/>
        </p:nvSpPr>
        <p:spPr>
          <a:xfrm>
            <a:off x="1444752" y="1984248"/>
            <a:ext cx="150876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I like drawing.</a:t>
            </a:r>
          </a:p>
        </p:txBody>
      </p:sp>
      <p:sp>
        <p:nvSpPr>
          <p:cNvPr id="11" name="Shape 9"/>
          <p:cNvSpPr/>
          <p:nvPr/>
        </p:nvSpPr>
        <p:spPr>
          <a:xfrm>
            <a:off x="3566160" y="150876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FFF3C4"/>
          </a:solidFill>
          <a:ln w="17780">
            <a:solidFill>
              <a:srgbClr val="FF8A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767328" y="1673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🖌️</a:t>
            </a:r>
          </a:p>
        </p:txBody>
      </p:sp>
      <p:sp>
        <p:nvSpPr>
          <p:cNvPr id="13" name="Text 11"/>
          <p:cNvSpPr/>
          <p:nvPr/>
        </p:nvSpPr>
        <p:spPr>
          <a:xfrm>
            <a:off x="4279392" y="167335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paint</a:t>
            </a:r>
          </a:p>
        </p:txBody>
      </p:sp>
      <p:sp>
        <p:nvSpPr>
          <p:cNvPr id="14" name="Text 12"/>
          <p:cNvSpPr/>
          <p:nvPr/>
        </p:nvSpPr>
        <p:spPr>
          <a:xfrm>
            <a:off x="4279392" y="1984248"/>
            <a:ext cx="150876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I like painting.</a:t>
            </a:r>
          </a:p>
        </p:txBody>
      </p:sp>
      <p:sp>
        <p:nvSpPr>
          <p:cNvPr id="15" name="Shape 13"/>
          <p:cNvSpPr/>
          <p:nvPr/>
        </p:nvSpPr>
        <p:spPr>
          <a:xfrm>
            <a:off x="6400800" y="150876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E8F7FC"/>
          </a:solidFill>
          <a:ln w="17780">
            <a:solidFill>
              <a:srgbClr val="00A8C8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601968" y="1673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📚</a:t>
            </a:r>
          </a:p>
        </p:txBody>
      </p:sp>
      <p:sp>
        <p:nvSpPr>
          <p:cNvPr id="17" name="Text 15"/>
          <p:cNvSpPr/>
          <p:nvPr/>
        </p:nvSpPr>
        <p:spPr>
          <a:xfrm>
            <a:off x="7114032" y="167335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read</a:t>
            </a:r>
          </a:p>
        </p:txBody>
      </p:sp>
      <p:sp>
        <p:nvSpPr>
          <p:cNvPr id="18" name="Text 16"/>
          <p:cNvSpPr/>
          <p:nvPr/>
        </p:nvSpPr>
        <p:spPr>
          <a:xfrm>
            <a:off x="7114032" y="1984248"/>
            <a:ext cx="150876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I like reading.</a:t>
            </a:r>
          </a:p>
        </p:txBody>
      </p:sp>
      <p:sp>
        <p:nvSpPr>
          <p:cNvPr id="19" name="Shape 17"/>
          <p:cNvSpPr/>
          <p:nvPr/>
        </p:nvSpPr>
        <p:spPr>
          <a:xfrm>
            <a:off x="9235440" y="150876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FFF3C4"/>
          </a:solidFill>
          <a:ln w="17780">
            <a:solidFill>
              <a:srgbClr val="FF8A0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436608" y="1673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🎤</a:t>
            </a:r>
          </a:p>
        </p:txBody>
      </p:sp>
      <p:sp>
        <p:nvSpPr>
          <p:cNvPr id="21" name="Text 19"/>
          <p:cNvSpPr/>
          <p:nvPr/>
        </p:nvSpPr>
        <p:spPr>
          <a:xfrm>
            <a:off x="9948672" y="167335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sing</a:t>
            </a:r>
          </a:p>
        </p:txBody>
      </p:sp>
      <p:sp>
        <p:nvSpPr>
          <p:cNvPr id="22" name="Text 20"/>
          <p:cNvSpPr/>
          <p:nvPr/>
        </p:nvSpPr>
        <p:spPr>
          <a:xfrm>
            <a:off x="9948672" y="1984248"/>
            <a:ext cx="150876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I can sing.</a:t>
            </a:r>
          </a:p>
        </p:txBody>
      </p:sp>
      <p:sp>
        <p:nvSpPr>
          <p:cNvPr id="23" name="Shape 21"/>
          <p:cNvSpPr/>
          <p:nvPr/>
        </p:nvSpPr>
        <p:spPr>
          <a:xfrm>
            <a:off x="731520" y="333756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E8F7FC"/>
          </a:solidFill>
          <a:ln w="17780">
            <a:solidFill>
              <a:srgbClr val="00A8C8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32688" y="3502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💃</a:t>
            </a:r>
          </a:p>
        </p:txBody>
      </p:sp>
      <p:sp>
        <p:nvSpPr>
          <p:cNvPr id="25" name="Text 23"/>
          <p:cNvSpPr/>
          <p:nvPr/>
        </p:nvSpPr>
        <p:spPr>
          <a:xfrm>
            <a:off x="1444752" y="350215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dance</a:t>
            </a:r>
          </a:p>
        </p:txBody>
      </p:sp>
      <p:sp>
        <p:nvSpPr>
          <p:cNvPr id="26" name="Text 24"/>
          <p:cNvSpPr/>
          <p:nvPr/>
        </p:nvSpPr>
        <p:spPr>
          <a:xfrm>
            <a:off x="1444752" y="3813048"/>
            <a:ext cx="150876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I can dance.</a:t>
            </a:r>
          </a:p>
        </p:txBody>
      </p:sp>
      <p:sp>
        <p:nvSpPr>
          <p:cNvPr id="27" name="Shape 25"/>
          <p:cNvSpPr/>
          <p:nvPr/>
        </p:nvSpPr>
        <p:spPr>
          <a:xfrm>
            <a:off x="3566160" y="333756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FFF3C4"/>
          </a:solidFill>
          <a:ln w="17780">
            <a:solidFill>
              <a:srgbClr val="FF8A00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3767328" y="3502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🏊</a:t>
            </a:r>
          </a:p>
        </p:txBody>
      </p:sp>
      <p:sp>
        <p:nvSpPr>
          <p:cNvPr id="29" name="Text 27"/>
          <p:cNvSpPr/>
          <p:nvPr/>
        </p:nvSpPr>
        <p:spPr>
          <a:xfrm>
            <a:off x="4279392" y="350215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swim</a:t>
            </a:r>
          </a:p>
        </p:txBody>
      </p:sp>
      <p:sp>
        <p:nvSpPr>
          <p:cNvPr id="30" name="Text 28"/>
          <p:cNvSpPr/>
          <p:nvPr/>
        </p:nvSpPr>
        <p:spPr>
          <a:xfrm>
            <a:off x="4279392" y="3813048"/>
            <a:ext cx="150876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I can swim.</a:t>
            </a:r>
          </a:p>
        </p:txBody>
      </p:sp>
      <p:sp>
        <p:nvSpPr>
          <p:cNvPr id="31" name="Shape 29"/>
          <p:cNvSpPr/>
          <p:nvPr/>
        </p:nvSpPr>
        <p:spPr>
          <a:xfrm>
            <a:off x="6400800" y="333756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E8F7FC"/>
          </a:solidFill>
          <a:ln w="17780">
            <a:solidFill>
              <a:srgbClr val="00A8C8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601968" y="3502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⚽</a:t>
            </a:r>
          </a:p>
        </p:txBody>
      </p:sp>
      <p:sp>
        <p:nvSpPr>
          <p:cNvPr id="33" name="Text 31"/>
          <p:cNvSpPr/>
          <p:nvPr/>
        </p:nvSpPr>
        <p:spPr>
          <a:xfrm>
            <a:off x="7114032" y="350215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play soccer</a:t>
            </a:r>
          </a:p>
        </p:txBody>
      </p:sp>
      <p:sp>
        <p:nvSpPr>
          <p:cNvPr id="34" name="Text 32"/>
          <p:cNvSpPr/>
          <p:nvPr/>
        </p:nvSpPr>
        <p:spPr>
          <a:xfrm>
            <a:off x="7114032" y="3813048"/>
            <a:ext cx="150876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I can play soccer.</a:t>
            </a:r>
          </a:p>
        </p:txBody>
      </p:sp>
      <p:sp>
        <p:nvSpPr>
          <p:cNvPr id="35" name="Shape 33"/>
          <p:cNvSpPr/>
          <p:nvPr/>
        </p:nvSpPr>
        <p:spPr>
          <a:xfrm>
            <a:off x="9235440" y="333756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FFF3C4"/>
          </a:solidFill>
          <a:ln w="17780">
            <a:solidFill>
              <a:srgbClr val="FF8A00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9436608" y="3502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🚲</a:t>
            </a:r>
          </a:p>
        </p:txBody>
      </p:sp>
      <p:sp>
        <p:nvSpPr>
          <p:cNvPr id="37" name="Text 35"/>
          <p:cNvSpPr/>
          <p:nvPr/>
        </p:nvSpPr>
        <p:spPr>
          <a:xfrm>
            <a:off x="9948672" y="350215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ride a bike</a:t>
            </a:r>
          </a:p>
        </p:txBody>
      </p:sp>
      <p:sp>
        <p:nvSpPr>
          <p:cNvPr id="38" name="Text 36"/>
          <p:cNvSpPr/>
          <p:nvPr/>
        </p:nvSpPr>
        <p:spPr>
          <a:xfrm>
            <a:off x="9948672" y="3813048"/>
            <a:ext cx="150876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I can ride a bike.</a:t>
            </a:r>
          </a:p>
        </p:txBody>
      </p:sp>
      <p:sp>
        <p:nvSpPr>
          <p:cNvPr id="39" name="Text 37"/>
          <p:cNvSpPr/>
          <p:nvPr/>
        </p:nvSpPr>
        <p:spPr>
          <a:xfrm>
            <a:off x="868680" y="559612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Teacher idea: Give one card to each student. They must ask “Can you…?”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50292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Printable Cards: Ability Questions</a:t>
            </a:r>
          </a:p>
        </p:txBody>
      </p:sp>
      <p:sp>
        <p:nvSpPr>
          <p:cNvPr id="3" name="Text 1"/>
          <p:cNvSpPr/>
          <p:nvPr/>
        </p:nvSpPr>
        <p:spPr>
          <a:xfrm>
            <a:off x="713232" y="960120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Students pick a card and ask a friend.</a:t>
            </a:r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12700">
            <a:solidFill>
              <a:srgbClr val="83D7E7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12064" y="6656832"/>
            <a:ext cx="4389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Hobbies &amp; Abilities · Day 7 · Speaking &amp; Listening</a:t>
            </a:r>
          </a:p>
        </p:txBody>
      </p:sp>
      <p:sp>
        <p:nvSpPr>
          <p:cNvPr id="6" name="Text 4"/>
          <p:cNvSpPr/>
          <p:nvPr/>
        </p:nvSpPr>
        <p:spPr>
          <a:xfrm>
            <a:off x="11841480" y="6656832"/>
            <a:ext cx="219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27</a:t>
            </a:r>
          </a:p>
        </p:txBody>
      </p:sp>
      <p:sp>
        <p:nvSpPr>
          <p:cNvPr id="7" name="Shape 5"/>
          <p:cNvSpPr/>
          <p:nvPr/>
        </p:nvSpPr>
        <p:spPr>
          <a:xfrm>
            <a:off x="731520" y="150876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FFEAF2"/>
          </a:solidFill>
          <a:ln w="17780">
            <a:solidFill>
              <a:srgbClr val="FF4F8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32688" y="1673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👋</a:t>
            </a:r>
          </a:p>
        </p:txBody>
      </p:sp>
      <p:sp>
        <p:nvSpPr>
          <p:cNvPr id="9" name="Text 7"/>
          <p:cNvSpPr/>
          <p:nvPr/>
        </p:nvSpPr>
        <p:spPr>
          <a:xfrm>
            <a:off x="1444752" y="167335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Hello.</a:t>
            </a:r>
          </a:p>
        </p:txBody>
      </p:sp>
      <p:sp>
        <p:nvSpPr>
          <p:cNvPr id="10" name="Text 8"/>
          <p:cNvSpPr/>
          <p:nvPr/>
        </p:nvSpPr>
        <p:spPr>
          <a:xfrm>
            <a:off x="1444752" y="1984248"/>
            <a:ext cx="150876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What do you like?</a:t>
            </a:r>
          </a:p>
        </p:txBody>
      </p:sp>
      <p:sp>
        <p:nvSpPr>
          <p:cNvPr id="11" name="Shape 9"/>
          <p:cNvSpPr/>
          <p:nvPr/>
        </p:nvSpPr>
        <p:spPr>
          <a:xfrm>
            <a:off x="3566160" y="150876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EAF9F2"/>
          </a:solidFill>
          <a:ln w="17780">
            <a:solidFill>
              <a:srgbClr val="0B7F8D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767328" y="1673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📋</a:t>
            </a:r>
          </a:p>
        </p:txBody>
      </p:sp>
      <p:sp>
        <p:nvSpPr>
          <p:cNvPr id="13" name="Text 11"/>
          <p:cNvSpPr/>
          <p:nvPr/>
        </p:nvSpPr>
        <p:spPr>
          <a:xfrm>
            <a:off x="4279392" y="167335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Art</a:t>
            </a:r>
          </a:p>
        </p:txBody>
      </p:sp>
      <p:sp>
        <p:nvSpPr>
          <p:cNvPr id="14" name="Text 12"/>
          <p:cNvSpPr/>
          <p:nvPr/>
        </p:nvSpPr>
        <p:spPr>
          <a:xfrm>
            <a:off x="4279392" y="1984248"/>
            <a:ext cx="150876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Can you draw?</a:t>
            </a:r>
          </a:p>
        </p:txBody>
      </p:sp>
      <p:sp>
        <p:nvSpPr>
          <p:cNvPr id="15" name="Shape 13"/>
          <p:cNvSpPr/>
          <p:nvPr/>
        </p:nvSpPr>
        <p:spPr>
          <a:xfrm>
            <a:off x="6400800" y="150876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FFEAF2"/>
          </a:solidFill>
          <a:ln w="17780">
            <a:solidFill>
              <a:srgbClr val="FF4F8B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601968" y="1673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🎵</a:t>
            </a:r>
          </a:p>
        </p:txBody>
      </p:sp>
      <p:sp>
        <p:nvSpPr>
          <p:cNvPr id="17" name="Text 15"/>
          <p:cNvSpPr/>
          <p:nvPr/>
        </p:nvSpPr>
        <p:spPr>
          <a:xfrm>
            <a:off x="7114032" y="167335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Music</a:t>
            </a:r>
          </a:p>
        </p:txBody>
      </p:sp>
      <p:sp>
        <p:nvSpPr>
          <p:cNvPr id="18" name="Text 16"/>
          <p:cNvSpPr/>
          <p:nvPr/>
        </p:nvSpPr>
        <p:spPr>
          <a:xfrm>
            <a:off x="7114032" y="1984248"/>
            <a:ext cx="150876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Can you sing?</a:t>
            </a:r>
          </a:p>
        </p:txBody>
      </p:sp>
      <p:sp>
        <p:nvSpPr>
          <p:cNvPr id="19" name="Shape 17"/>
          <p:cNvSpPr/>
          <p:nvPr/>
        </p:nvSpPr>
        <p:spPr>
          <a:xfrm>
            <a:off x="9235440" y="150876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EAF9F2"/>
          </a:solidFill>
          <a:ln w="17780">
            <a:solidFill>
              <a:srgbClr val="0B7F8D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436608" y="1673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⚽</a:t>
            </a:r>
          </a:p>
        </p:txBody>
      </p:sp>
      <p:sp>
        <p:nvSpPr>
          <p:cNvPr id="21" name="Text 19"/>
          <p:cNvSpPr/>
          <p:nvPr/>
        </p:nvSpPr>
        <p:spPr>
          <a:xfrm>
            <a:off x="9948672" y="167335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Sports</a:t>
            </a:r>
          </a:p>
        </p:txBody>
      </p:sp>
      <p:sp>
        <p:nvSpPr>
          <p:cNvPr id="22" name="Text 20"/>
          <p:cNvSpPr/>
          <p:nvPr/>
        </p:nvSpPr>
        <p:spPr>
          <a:xfrm>
            <a:off x="9948672" y="1984248"/>
            <a:ext cx="150876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Can you play soccer?</a:t>
            </a:r>
          </a:p>
        </p:txBody>
      </p:sp>
      <p:sp>
        <p:nvSpPr>
          <p:cNvPr id="23" name="Shape 21"/>
          <p:cNvSpPr/>
          <p:nvPr/>
        </p:nvSpPr>
        <p:spPr>
          <a:xfrm>
            <a:off x="731520" y="333756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FFEAF2"/>
          </a:solidFill>
          <a:ln w="17780">
            <a:solidFill>
              <a:srgbClr val="FF4F8B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32688" y="3502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🏊</a:t>
            </a:r>
          </a:p>
        </p:txBody>
      </p:sp>
      <p:sp>
        <p:nvSpPr>
          <p:cNvPr id="25" name="Text 23"/>
          <p:cNvSpPr/>
          <p:nvPr/>
        </p:nvSpPr>
        <p:spPr>
          <a:xfrm>
            <a:off x="1444752" y="350215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Swimming</a:t>
            </a:r>
          </a:p>
        </p:txBody>
      </p:sp>
      <p:sp>
        <p:nvSpPr>
          <p:cNvPr id="26" name="Text 24"/>
          <p:cNvSpPr/>
          <p:nvPr/>
        </p:nvSpPr>
        <p:spPr>
          <a:xfrm>
            <a:off x="1444752" y="3813048"/>
            <a:ext cx="150876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Can you swim?</a:t>
            </a:r>
          </a:p>
        </p:txBody>
      </p:sp>
      <p:sp>
        <p:nvSpPr>
          <p:cNvPr id="27" name="Shape 25"/>
          <p:cNvSpPr/>
          <p:nvPr/>
        </p:nvSpPr>
        <p:spPr>
          <a:xfrm>
            <a:off x="3566160" y="333756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EAF9F2"/>
          </a:solidFill>
          <a:ln w="17780">
            <a:solidFill>
              <a:srgbClr val="0B7F8D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3767328" y="3502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🚲</a:t>
            </a:r>
          </a:p>
        </p:txBody>
      </p:sp>
      <p:sp>
        <p:nvSpPr>
          <p:cNvPr id="29" name="Text 27"/>
          <p:cNvSpPr/>
          <p:nvPr/>
        </p:nvSpPr>
        <p:spPr>
          <a:xfrm>
            <a:off x="4279392" y="350215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Bike</a:t>
            </a:r>
          </a:p>
        </p:txBody>
      </p:sp>
      <p:sp>
        <p:nvSpPr>
          <p:cNvPr id="30" name="Text 28"/>
          <p:cNvSpPr/>
          <p:nvPr/>
        </p:nvSpPr>
        <p:spPr>
          <a:xfrm>
            <a:off x="4279392" y="3813048"/>
            <a:ext cx="150876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Can you ride a bike?</a:t>
            </a:r>
          </a:p>
        </p:txBody>
      </p:sp>
      <p:sp>
        <p:nvSpPr>
          <p:cNvPr id="31" name="Shape 29"/>
          <p:cNvSpPr/>
          <p:nvPr/>
        </p:nvSpPr>
        <p:spPr>
          <a:xfrm>
            <a:off x="6400800" y="333756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FFEAF2"/>
          </a:solidFill>
          <a:ln w="17780">
            <a:solidFill>
              <a:srgbClr val="FF4F8B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601968" y="3502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❓</a:t>
            </a:r>
          </a:p>
        </p:txBody>
      </p:sp>
      <p:sp>
        <p:nvSpPr>
          <p:cNvPr id="33" name="Text 31"/>
          <p:cNvSpPr/>
          <p:nvPr/>
        </p:nvSpPr>
        <p:spPr>
          <a:xfrm>
            <a:off x="7114032" y="350215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Ask again</a:t>
            </a:r>
          </a:p>
        </p:txBody>
      </p:sp>
      <p:sp>
        <p:nvSpPr>
          <p:cNvPr id="34" name="Text 32"/>
          <p:cNvSpPr/>
          <p:nvPr/>
        </p:nvSpPr>
        <p:spPr>
          <a:xfrm>
            <a:off x="7114032" y="3813048"/>
            <a:ext cx="150876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Can you say it again?</a:t>
            </a:r>
          </a:p>
        </p:txBody>
      </p:sp>
      <p:sp>
        <p:nvSpPr>
          <p:cNvPr id="35" name="Shape 33"/>
          <p:cNvSpPr/>
          <p:nvPr/>
        </p:nvSpPr>
        <p:spPr>
          <a:xfrm>
            <a:off x="9235440" y="333756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EAF9F2"/>
          </a:solidFill>
          <a:ln w="17780">
            <a:solidFill>
              <a:srgbClr val="0B7F8D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9436608" y="3502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👏</a:t>
            </a:r>
          </a:p>
        </p:txBody>
      </p:sp>
      <p:sp>
        <p:nvSpPr>
          <p:cNvPr id="37" name="Text 35"/>
          <p:cNvSpPr/>
          <p:nvPr/>
        </p:nvSpPr>
        <p:spPr>
          <a:xfrm>
            <a:off x="9948672" y="350215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Encourage</a:t>
            </a:r>
          </a:p>
        </p:txBody>
      </p:sp>
      <p:sp>
        <p:nvSpPr>
          <p:cNvPr id="38" name="Text 36"/>
          <p:cNvSpPr/>
          <p:nvPr/>
        </p:nvSpPr>
        <p:spPr>
          <a:xfrm>
            <a:off x="9948672" y="3813048"/>
            <a:ext cx="150876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Great job!</a:t>
            </a:r>
          </a:p>
        </p:txBody>
      </p:sp>
      <p:sp>
        <p:nvSpPr>
          <p:cNvPr id="39" name="Text 37"/>
          <p:cNvSpPr/>
          <p:nvPr/>
        </p:nvSpPr>
        <p:spPr>
          <a:xfrm>
            <a:off x="868680" y="559612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Extension: Students create one new ability question card.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50292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Printable Cards: Student Lines</a:t>
            </a:r>
          </a:p>
        </p:txBody>
      </p:sp>
      <p:sp>
        <p:nvSpPr>
          <p:cNvPr id="3" name="Text 1"/>
          <p:cNvSpPr/>
          <p:nvPr/>
        </p:nvSpPr>
        <p:spPr>
          <a:xfrm>
            <a:off x="713232" y="960120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Use for interviews, mingle, or small-group speaking.</a:t>
            </a:r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12700">
            <a:solidFill>
              <a:srgbClr val="83D7E7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12064" y="6656832"/>
            <a:ext cx="4389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Hobbies &amp; Abilities · Day 7 · Speaking &amp; Listening</a:t>
            </a:r>
          </a:p>
        </p:txBody>
      </p:sp>
      <p:sp>
        <p:nvSpPr>
          <p:cNvPr id="6" name="Text 4"/>
          <p:cNvSpPr/>
          <p:nvPr/>
        </p:nvSpPr>
        <p:spPr>
          <a:xfrm>
            <a:off x="11841480" y="6656832"/>
            <a:ext cx="219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28</a:t>
            </a:r>
          </a:p>
        </p:txBody>
      </p:sp>
      <p:sp>
        <p:nvSpPr>
          <p:cNvPr id="7" name="Shape 5"/>
          <p:cNvSpPr/>
          <p:nvPr/>
        </p:nvSpPr>
        <p:spPr>
          <a:xfrm>
            <a:off x="731520" y="150876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E8F7FC"/>
          </a:solidFill>
          <a:ln w="17780">
            <a:solidFill>
              <a:srgbClr val="00A8C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32688" y="1673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🎨</a:t>
            </a:r>
          </a:p>
        </p:txBody>
      </p:sp>
      <p:sp>
        <p:nvSpPr>
          <p:cNvPr id="9" name="Text 7"/>
          <p:cNvSpPr/>
          <p:nvPr/>
        </p:nvSpPr>
        <p:spPr>
          <a:xfrm>
            <a:off x="1444752" y="167335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I like _____.</a:t>
            </a:r>
          </a:p>
        </p:txBody>
      </p:sp>
      <p:sp>
        <p:nvSpPr>
          <p:cNvPr id="10" name="Text 8"/>
          <p:cNvSpPr/>
          <p:nvPr/>
        </p:nvSpPr>
        <p:spPr>
          <a:xfrm>
            <a:off x="1444752" y="1984248"/>
            <a:ext cx="150876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Say your hobby.</a:t>
            </a:r>
          </a:p>
        </p:txBody>
      </p:sp>
      <p:sp>
        <p:nvSpPr>
          <p:cNvPr id="11" name="Shape 9"/>
          <p:cNvSpPr/>
          <p:nvPr/>
        </p:nvSpPr>
        <p:spPr>
          <a:xfrm>
            <a:off x="3566160" y="150876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FFF3C4"/>
          </a:solidFill>
          <a:ln w="17780">
            <a:solidFill>
              <a:srgbClr val="FF8A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767328" y="1673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💪</a:t>
            </a:r>
          </a:p>
        </p:txBody>
      </p:sp>
      <p:sp>
        <p:nvSpPr>
          <p:cNvPr id="13" name="Text 11"/>
          <p:cNvSpPr/>
          <p:nvPr/>
        </p:nvSpPr>
        <p:spPr>
          <a:xfrm>
            <a:off x="4279392" y="167335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I can _____.</a:t>
            </a:r>
          </a:p>
        </p:txBody>
      </p:sp>
      <p:sp>
        <p:nvSpPr>
          <p:cNvPr id="14" name="Text 12"/>
          <p:cNvSpPr/>
          <p:nvPr/>
        </p:nvSpPr>
        <p:spPr>
          <a:xfrm>
            <a:off x="4279392" y="1984248"/>
            <a:ext cx="150876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Ability sentence</a:t>
            </a:r>
          </a:p>
        </p:txBody>
      </p:sp>
      <p:sp>
        <p:nvSpPr>
          <p:cNvPr id="15" name="Shape 13"/>
          <p:cNvSpPr/>
          <p:nvPr/>
        </p:nvSpPr>
        <p:spPr>
          <a:xfrm>
            <a:off x="6400800" y="150876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E8F7FC"/>
          </a:solidFill>
          <a:ln w="17780">
            <a:solidFill>
              <a:srgbClr val="00A8C8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601968" y="1673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❌</a:t>
            </a:r>
          </a:p>
        </p:txBody>
      </p:sp>
      <p:sp>
        <p:nvSpPr>
          <p:cNvPr id="17" name="Text 15"/>
          <p:cNvSpPr/>
          <p:nvPr/>
        </p:nvSpPr>
        <p:spPr>
          <a:xfrm>
            <a:off x="7114032" y="167335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I can’t _____ yet.</a:t>
            </a:r>
          </a:p>
        </p:txBody>
      </p:sp>
      <p:sp>
        <p:nvSpPr>
          <p:cNvPr id="18" name="Text 16"/>
          <p:cNvSpPr/>
          <p:nvPr/>
        </p:nvSpPr>
        <p:spPr>
          <a:xfrm>
            <a:off x="7114032" y="1984248"/>
            <a:ext cx="150876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Try-again sentence</a:t>
            </a:r>
          </a:p>
        </p:txBody>
      </p:sp>
      <p:sp>
        <p:nvSpPr>
          <p:cNvPr id="19" name="Shape 17"/>
          <p:cNvSpPr/>
          <p:nvPr/>
        </p:nvSpPr>
        <p:spPr>
          <a:xfrm>
            <a:off x="9235440" y="150876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FFF3C4"/>
          </a:solidFill>
          <a:ln w="17780">
            <a:solidFill>
              <a:srgbClr val="FF8A0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436608" y="1673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❓</a:t>
            </a:r>
          </a:p>
        </p:txBody>
      </p:sp>
      <p:sp>
        <p:nvSpPr>
          <p:cNvPr id="21" name="Text 19"/>
          <p:cNvSpPr/>
          <p:nvPr/>
        </p:nvSpPr>
        <p:spPr>
          <a:xfrm>
            <a:off x="9948672" y="167335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Can you _____?</a:t>
            </a:r>
          </a:p>
        </p:txBody>
      </p:sp>
      <p:sp>
        <p:nvSpPr>
          <p:cNvPr id="22" name="Text 20"/>
          <p:cNvSpPr/>
          <p:nvPr/>
        </p:nvSpPr>
        <p:spPr>
          <a:xfrm>
            <a:off x="9948672" y="1984248"/>
            <a:ext cx="150876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Ask a friend</a:t>
            </a:r>
          </a:p>
        </p:txBody>
      </p:sp>
      <p:sp>
        <p:nvSpPr>
          <p:cNvPr id="23" name="Shape 21"/>
          <p:cNvSpPr/>
          <p:nvPr/>
        </p:nvSpPr>
        <p:spPr>
          <a:xfrm>
            <a:off x="731520" y="333756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E8F7FC"/>
          </a:solidFill>
          <a:ln w="17780">
            <a:solidFill>
              <a:srgbClr val="00A8C8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32688" y="3502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✅</a:t>
            </a:r>
          </a:p>
        </p:txBody>
      </p:sp>
      <p:sp>
        <p:nvSpPr>
          <p:cNvPr id="25" name="Text 23"/>
          <p:cNvSpPr/>
          <p:nvPr/>
        </p:nvSpPr>
        <p:spPr>
          <a:xfrm>
            <a:off x="1444752" y="350215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Yes, I can.</a:t>
            </a:r>
          </a:p>
        </p:txBody>
      </p:sp>
      <p:sp>
        <p:nvSpPr>
          <p:cNvPr id="26" name="Text 24"/>
          <p:cNvSpPr/>
          <p:nvPr/>
        </p:nvSpPr>
        <p:spPr>
          <a:xfrm>
            <a:off x="1444752" y="3813048"/>
            <a:ext cx="150876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Positive answer</a:t>
            </a:r>
          </a:p>
        </p:txBody>
      </p:sp>
      <p:sp>
        <p:nvSpPr>
          <p:cNvPr id="27" name="Shape 25"/>
          <p:cNvSpPr/>
          <p:nvPr/>
        </p:nvSpPr>
        <p:spPr>
          <a:xfrm>
            <a:off x="3566160" y="333756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FFF3C4"/>
          </a:solidFill>
          <a:ln w="17780">
            <a:solidFill>
              <a:srgbClr val="FF8A00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3767328" y="3502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❌</a:t>
            </a:r>
          </a:p>
        </p:txBody>
      </p:sp>
      <p:sp>
        <p:nvSpPr>
          <p:cNvPr id="29" name="Text 27"/>
          <p:cNvSpPr/>
          <p:nvPr/>
        </p:nvSpPr>
        <p:spPr>
          <a:xfrm>
            <a:off x="4279392" y="350215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No, I can’t.</a:t>
            </a:r>
          </a:p>
        </p:txBody>
      </p:sp>
      <p:sp>
        <p:nvSpPr>
          <p:cNvPr id="30" name="Text 28"/>
          <p:cNvSpPr/>
          <p:nvPr/>
        </p:nvSpPr>
        <p:spPr>
          <a:xfrm>
            <a:off x="4279392" y="3813048"/>
            <a:ext cx="150876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Negative answer</a:t>
            </a:r>
          </a:p>
        </p:txBody>
      </p:sp>
      <p:sp>
        <p:nvSpPr>
          <p:cNvPr id="31" name="Shape 29"/>
          <p:cNvSpPr/>
          <p:nvPr/>
        </p:nvSpPr>
        <p:spPr>
          <a:xfrm>
            <a:off x="6400800" y="333756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E8F7FC"/>
          </a:solidFill>
          <a:ln w="17780">
            <a:solidFill>
              <a:srgbClr val="00A8C8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601968" y="3502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🙏</a:t>
            </a:r>
          </a:p>
        </p:txBody>
      </p:sp>
      <p:sp>
        <p:nvSpPr>
          <p:cNvPr id="33" name="Text 31"/>
          <p:cNvSpPr/>
          <p:nvPr/>
        </p:nvSpPr>
        <p:spPr>
          <a:xfrm>
            <a:off x="7114032" y="350215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Great job!</a:t>
            </a:r>
          </a:p>
        </p:txBody>
      </p:sp>
      <p:sp>
        <p:nvSpPr>
          <p:cNvPr id="34" name="Text 32"/>
          <p:cNvSpPr/>
          <p:nvPr/>
        </p:nvSpPr>
        <p:spPr>
          <a:xfrm>
            <a:off x="7114032" y="3813048"/>
            <a:ext cx="150876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Kind words</a:t>
            </a:r>
          </a:p>
        </p:txBody>
      </p:sp>
      <p:sp>
        <p:nvSpPr>
          <p:cNvPr id="35" name="Shape 33"/>
          <p:cNvSpPr/>
          <p:nvPr/>
        </p:nvSpPr>
        <p:spPr>
          <a:xfrm>
            <a:off x="9235440" y="333756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FFF3C4"/>
          </a:solidFill>
          <a:ln w="17780">
            <a:solidFill>
              <a:srgbClr val="FF8A00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9436608" y="3502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⭐</a:t>
            </a:r>
          </a:p>
        </p:txBody>
      </p:sp>
      <p:sp>
        <p:nvSpPr>
          <p:cNvPr id="37" name="Text 35"/>
          <p:cNvSpPr/>
          <p:nvPr/>
        </p:nvSpPr>
        <p:spPr>
          <a:xfrm>
            <a:off x="9948672" y="350215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I want to try _____.</a:t>
            </a:r>
          </a:p>
        </p:txBody>
      </p:sp>
      <p:sp>
        <p:nvSpPr>
          <p:cNvPr id="38" name="Text 36"/>
          <p:cNvSpPr/>
          <p:nvPr/>
        </p:nvSpPr>
        <p:spPr>
          <a:xfrm>
            <a:off x="9948672" y="3813048"/>
            <a:ext cx="150876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Bonus sentence</a:t>
            </a:r>
          </a:p>
        </p:txBody>
      </p:sp>
      <p:sp>
        <p:nvSpPr>
          <p:cNvPr id="39" name="Text 37"/>
          <p:cNvSpPr/>
          <p:nvPr/>
        </p:nvSpPr>
        <p:spPr>
          <a:xfrm>
            <a:off x="868680" y="559612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Extension: Students create one new student line.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50292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Home Practice</a:t>
            </a:r>
          </a:p>
        </p:txBody>
      </p:sp>
      <p:sp>
        <p:nvSpPr>
          <p:cNvPr id="3" name="Text 1"/>
          <p:cNvSpPr/>
          <p:nvPr/>
        </p:nvSpPr>
        <p:spPr>
          <a:xfrm>
            <a:off x="713232" y="960120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Practice hobbies and abilities at home or with a friend.</a:t>
            </a:r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12700">
            <a:solidFill>
              <a:srgbClr val="83D7E7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12064" y="6656832"/>
            <a:ext cx="4389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Hobbies &amp; Abilities · Day 7 · Speaking &amp; Listening</a:t>
            </a:r>
          </a:p>
        </p:txBody>
      </p:sp>
      <p:sp>
        <p:nvSpPr>
          <p:cNvPr id="6" name="Text 4"/>
          <p:cNvSpPr/>
          <p:nvPr/>
        </p:nvSpPr>
        <p:spPr>
          <a:xfrm>
            <a:off x="11841480" y="6656832"/>
            <a:ext cx="219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29</a:t>
            </a:r>
          </a:p>
        </p:txBody>
      </p:sp>
      <p:sp>
        <p:nvSpPr>
          <p:cNvPr id="7" name="Text 5"/>
          <p:cNvSpPr/>
          <p:nvPr/>
        </p:nvSpPr>
        <p:spPr>
          <a:xfrm>
            <a:off x="914400" y="14173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Use English with family or a friend.</a:t>
            </a:r>
          </a:p>
        </p:txBody>
      </p:sp>
      <p:sp>
        <p:nvSpPr>
          <p:cNvPr id="8" name="Shape 6"/>
          <p:cNvSpPr/>
          <p:nvPr/>
        </p:nvSpPr>
        <p:spPr>
          <a:xfrm>
            <a:off x="960120" y="2194560"/>
            <a:ext cx="3200400" cy="1554480"/>
          </a:xfrm>
          <a:prstGeom prst="roundRect">
            <a:avLst>
              <a:gd name="adj" fmla="val 4706"/>
            </a:avLst>
          </a:prstGeom>
          <a:solidFill>
            <a:srgbClr val="E8F7FC"/>
          </a:solidFill>
          <a:ln w="17780">
            <a:solidFill>
              <a:srgbClr val="00A8C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161288" y="2359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☕</a:t>
            </a:r>
          </a:p>
        </p:txBody>
      </p:sp>
      <p:sp>
        <p:nvSpPr>
          <p:cNvPr id="10" name="Text 8"/>
          <p:cNvSpPr/>
          <p:nvPr/>
        </p:nvSpPr>
        <p:spPr>
          <a:xfrm>
            <a:off x="1673352" y="235915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Question 1</a:t>
            </a:r>
          </a:p>
        </p:txBody>
      </p:sp>
      <p:sp>
        <p:nvSpPr>
          <p:cNvPr id="11" name="Text 9"/>
          <p:cNvSpPr/>
          <p:nvPr/>
        </p:nvSpPr>
        <p:spPr>
          <a:xfrm>
            <a:off x="1673352" y="2670048"/>
            <a:ext cx="2286000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What hobby do you like?</a:t>
            </a:r>
          </a:p>
        </p:txBody>
      </p:sp>
      <p:sp>
        <p:nvSpPr>
          <p:cNvPr id="12" name="Shape 10"/>
          <p:cNvSpPr/>
          <p:nvPr/>
        </p:nvSpPr>
        <p:spPr>
          <a:xfrm>
            <a:off x="4663440" y="2194560"/>
            <a:ext cx="3200400" cy="1554480"/>
          </a:xfrm>
          <a:prstGeom prst="roundRect">
            <a:avLst>
              <a:gd name="adj" fmla="val 4706"/>
            </a:avLst>
          </a:prstGeom>
          <a:solidFill>
            <a:srgbClr val="FFF3C4"/>
          </a:solidFill>
          <a:ln w="17780">
            <a:solidFill>
              <a:srgbClr val="FF8A0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864608" y="2359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🥪</a:t>
            </a:r>
          </a:p>
        </p:txBody>
      </p:sp>
      <p:sp>
        <p:nvSpPr>
          <p:cNvPr id="14" name="Text 12"/>
          <p:cNvSpPr/>
          <p:nvPr/>
        </p:nvSpPr>
        <p:spPr>
          <a:xfrm>
            <a:off x="5376672" y="235915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Question 2</a:t>
            </a:r>
          </a:p>
        </p:txBody>
      </p:sp>
      <p:sp>
        <p:nvSpPr>
          <p:cNvPr id="15" name="Text 13"/>
          <p:cNvSpPr/>
          <p:nvPr/>
        </p:nvSpPr>
        <p:spPr>
          <a:xfrm>
            <a:off x="5376672" y="2670048"/>
            <a:ext cx="2286000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Can you _____?</a:t>
            </a:r>
          </a:p>
        </p:txBody>
      </p:sp>
      <p:sp>
        <p:nvSpPr>
          <p:cNvPr id="16" name="Shape 14"/>
          <p:cNvSpPr/>
          <p:nvPr/>
        </p:nvSpPr>
        <p:spPr>
          <a:xfrm>
            <a:off x="8366760" y="2194560"/>
            <a:ext cx="3200400" cy="1554480"/>
          </a:xfrm>
          <a:prstGeom prst="roundRect">
            <a:avLst>
              <a:gd name="adj" fmla="val 4706"/>
            </a:avLst>
          </a:prstGeom>
          <a:solidFill>
            <a:srgbClr val="E8F7FC"/>
          </a:solidFill>
          <a:ln w="17780">
            <a:solidFill>
              <a:srgbClr val="00A8C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567928" y="2359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💵</a:t>
            </a:r>
          </a:p>
        </p:txBody>
      </p:sp>
      <p:sp>
        <p:nvSpPr>
          <p:cNvPr id="18" name="Text 16"/>
          <p:cNvSpPr/>
          <p:nvPr/>
        </p:nvSpPr>
        <p:spPr>
          <a:xfrm>
            <a:off x="9079992" y="235915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Question 3</a:t>
            </a:r>
          </a:p>
        </p:txBody>
      </p:sp>
      <p:sp>
        <p:nvSpPr>
          <p:cNvPr id="19" name="Text 17"/>
          <p:cNvSpPr/>
          <p:nvPr/>
        </p:nvSpPr>
        <p:spPr>
          <a:xfrm>
            <a:off x="9079992" y="2670048"/>
            <a:ext cx="2286000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What can you do?</a:t>
            </a:r>
          </a:p>
        </p:txBody>
      </p:sp>
      <p:sp>
        <p:nvSpPr>
          <p:cNvPr id="20" name="Text 18"/>
          <p:cNvSpPr/>
          <p:nvPr/>
        </p:nvSpPr>
        <p:spPr>
          <a:xfrm>
            <a:off x="868680" y="50749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Bring one answer to next class.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Café Role-play - Day 6</dc:title>
  <dc:subject>Café Role-play - Day 6 - Speaking &amp; Listening</dc:subject>
  <dc:creator>OpenAI</dc:creator>
  <cp:lastModifiedBy>OpenAI</cp:lastModifiedBy>
  <cp:revision>1</cp:revision>
  <dcterms:created xsi:type="dcterms:W3CDTF">2026-07-05T07:06:56Z</dcterms:created>
  <dcterms:modified xsi:type="dcterms:W3CDTF">2026-07-05T07:06:56Z</dcterms:modified>
</cp:coreProperties>
</file>