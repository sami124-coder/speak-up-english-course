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Say: Today we will talk about daily routines. We will use simple action words, time words, and order words like first, then, after that, and finally.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repeat the mission. Use gestures: clock for time, walking fingers for routine, and two hands moving forward for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quick. Say: We will listen, practice routine words, ask many friends, and finish with a small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picture. Model with one student. Students stand and ask two friends. Accept one action first, then push for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2 or 3 students as a model, then students ask partners. Collect the class routines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point to a feeling first. Then they say one sentence. Encourage honest but positive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each routine word with an action. Wake up = stretch, brush teeth = brushing gesture, eat breakfast = spoon gesture, go to school = walk fingers.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reads sentences in random order. Students do the action. Round 2 is faster. Round 3: a student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call and response. Teach stress: I WAKE UP at SEVEN. THEN I eat BREAKFAST.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point to an action and a time to build the sentence. Stronger students add: First, then, after that, finally.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script 1. Read twice. First time: students only listen. Second time: students raise their hand when they hear the key phrases.
Mia: Alex, what do you do in the morning?
Alex: I wake up at seven.
Mia: What do you do next?
Alex: I brush my teeth. Then I eat breakfast at seven thirty.
Mia: What time do you go to school?
Alex: I go to school at eight.
Mia: Great. You have a busy morning!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answer with fingers. Then say full answers: Alex wakes up at seven. He eats breakfast at seven thirty. He goes to school at 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each pair routine cards. Student A says an action. Student B asks what time. Student A gives a time. Then switch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with one confident student. Then students repeat line by line. Finally pairs act it with different feelings: sleepy, happy, busy, surprised.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each pair one role-play. Give 3 minutes to prepare and 5-7 minutes for quick performances. Praise order words and clear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four picture cards in the classroom corners. Students move to a corner and tell one friend one routine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ask four friends and record short answers. For low-level students, allow drawing in the table. Strong students write full routine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script 2. Read twice. First listen: students only listen. Second listen: students fill the table.
Ben: Hi, Lily. What time do you wake up?
Lily: I wake up at six thirty. Then I eat breakfast at seven.
Ben: I wake up at seven. After school, I play football at four.
Sara: I do homework at five. Then I read at eight.
Answers: Lily - wake up/six thirty, breakfast/seven. Ben - wake up/seven, play football/four. Sara - homework/five, read/eight.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picture as a speaking prompt. Students choose one child and make a sentence. Encourage them to point and use at with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2-4 teams. Keep it light and positive. Do not overcorrect. Award bonus points for students who help shy classmates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final speaking task. Let students present in pairs or small groups if whole-class speaking is stressful.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repeat the class chant. Ask students to show thumbs up if they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self-assess. Ask students to choose one sentence they can say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must say one routine before leaving. Keep it positive and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teacher-only slide. Identify who can answer with a time, who can order routine sentences, and who needs more listening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cut. Use for pair role-plays, memory games, and classroom routines.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cut. Students match a routine card with a time card to make a full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cut. Give each pair four cards. Students ask and answer, then swap cards with another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optional homework. Students ask a family member or friend three questions and bring one answer. Keep homework oral, not writing-heavy.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67512"/>
            <a:ext cx="6126480" cy="5212080"/>
          </a:xfrm>
          <a:prstGeom prst="roundRect">
            <a:avLst>
              <a:gd name="adj" fmla="val 1404"/>
            </a:avLst>
          </a:prstGeom>
          <a:solidFill>
            <a:srgbClr val="FFFFFF">
              <a:alpha val="94000"/>
            </a:srgbClr>
          </a:solidFill>
          <a:ln w="14604">
            <a:solidFill>
              <a:srgbClr val="FFFFFF">
                <a:alpha val="0"/>
              </a:srgbClr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8" name="Rounded Rectangle 17"/>
          <p:cNvSpPr/>
          <p:nvPr/>
        </p:nvSpPr>
        <p:spPr>
          <a:xfrm>
            <a:off x="384048" y="512064"/>
            <a:ext cx="5212080" cy="48006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F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1"/>
          <p:cNvSpPr/>
          <p:nvPr/>
        </p:nvSpPr>
        <p:spPr>
          <a:xfrm>
            <a:off x="822960" y="987552"/>
            <a:ext cx="2057400" cy="393192"/>
          </a:xfrm>
          <a:prstGeom prst="roundRect">
            <a:avLst>
              <a:gd name="adj" fmla="val 18605"/>
            </a:avLst>
          </a:prstGeom>
          <a:solidFill>
            <a:srgbClr val="DEF8FC"/>
          </a:solidFill>
          <a:ln w="14604">
            <a:solidFill>
              <a:srgbClr val="009EAE">
                <a:alpha val="0"/>
              </a:srgbClr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DAY 9 · 90 MINUTES</a:t>
            </a:r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39496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4200" b="1">
                <a:solidFill>
                  <a:srgbClr val="005866"/>
                </a:solidFill>
                <a:latin typeface="Aptos Display"/>
              </a:rPr>
              <a:t>Shopping</a:t>
            </a:r>
          </a:p>
        </p:txBody>
      </p:sp>
      <p:sp>
        <p:nvSpPr>
          <p:cNvPr id="5" name="Text 3"/>
          <p:cNvSpPr/>
          <p:nvPr/>
        </p:nvSpPr>
        <p:spPr>
          <a:xfrm>
            <a:off x="841248" y="2560320"/>
            <a:ext cx="52120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700" b="0">
                <a:solidFill>
                  <a:srgbClr val="566269"/>
                </a:solidFill>
                <a:latin typeface="Aptos"/>
              </a:rPr>
              <a:t>Ask for prices and buy things politely.</a:t>
            </a:r>
          </a:p>
        </p:txBody>
      </p:sp>
      <p:sp>
        <p:nvSpPr>
          <p:cNvPr id="6" name="Shape 4"/>
          <p:cNvSpPr/>
          <p:nvPr/>
        </p:nvSpPr>
        <p:spPr>
          <a:xfrm>
            <a:off x="841248" y="2907792"/>
            <a:ext cx="4800600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7" name="Shape 5"/>
          <p:cNvSpPr/>
          <p:nvPr/>
        </p:nvSpPr>
        <p:spPr>
          <a:xfrm>
            <a:off x="841248" y="4160520"/>
            <a:ext cx="2359152" cy="822960"/>
          </a:xfrm>
          <a:prstGeom prst="roundRect">
            <a:avLst>
              <a:gd name="adj" fmla="val 8889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8" name="Text 6"/>
          <p:cNvSpPr/>
          <p:nvPr/>
        </p:nvSpPr>
        <p:spPr>
          <a:xfrm>
            <a:off x="1005840" y="434340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4361688"/>
            <a:ext cx="1490472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300" b="1">
                <a:solidFill>
                  <a:srgbClr val="005866"/>
                </a:solidFill>
                <a:latin typeface="Aptos"/>
              </a:rPr>
              <a:t>I can say…</a:t>
            </a:r>
          </a:p>
        </p:txBody>
      </p:sp>
      <p:sp>
        <p:nvSpPr>
          <p:cNvPr id="10" name="Text 8"/>
          <p:cNvSpPr/>
          <p:nvPr/>
        </p:nvSpPr>
        <p:spPr>
          <a:xfrm>
            <a:off x="1024128" y="4873752"/>
            <a:ext cx="1993392" cy="292608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“I’d like a pencil, please.”</a:t>
            </a:r>
          </a:p>
        </p:txBody>
      </p:sp>
      <p:sp>
        <p:nvSpPr>
          <p:cNvPr id="11" name="Shape 9"/>
          <p:cNvSpPr/>
          <p:nvPr/>
        </p:nvSpPr>
        <p:spPr>
          <a:xfrm>
            <a:off x="3401568" y="4160520"/>
            <a:ext cx="2395728" cy="822960"/>
          </a:xfrm>
          <a:prstGeom prst="roundRect">
            <a:avLst>
              <a:gd name="adj" fmla="val 8889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2" name="Text 10"/>
          <p:cNvSpPr/>
          <p:nvPr/>
        </p:nvSpPr>
        <p:spPr>
          <a:xfrm>
            <a:off x="3566160" y="434340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➡️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0" y="4361688"/>
            <a:ext cx="1527048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300" b="1">
                <a:solidFill>
                  <a:srgbClr val="005866"/>
                </a:solidFill>
                <a:latin typeface="Aptos"/>
              </a:rPr>
              <a:t>I can ask…</a:t>
            </a:r>
          </a:p>
        </p:txBody>
      </p:sp>
      <p:sp>
        <p:nvSpPr>
          <p:cNvPr id="14" name="Text 12"/>
          <p:cNvSpPr/>
          <p:nvPr/>
        </p:nvSpPr>
        <p:spPr>
          <a:xfrm>
            <a:off x="3584448" y="4873752"/>
            <a:ext cx="2029968" cy="292608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“How much is it?”</a:t>
            </a:r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6" name="Text 14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17" name="Text 15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2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Today’s Mission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Students learn to ask for items, prices, and quantities in a shop.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49808" y="1481328"/>
            <a:ext cx="9692640" cy="384048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By the end of class, I can shop politely and ask for the price.</a:t>
            </a:r>
          </a:p>
        </p:txBody>
      </p:sp>
      <p:sp>
        <p:nvSpPr>
          <p:cNvPr id="9" name="Shape 6"/>
          <p:cNvSpPr/>
          <p:nvPr/>
        </p:nvSpPr>
        <p:spPr>
          <a:xfrm>
            <a:off x="841248" y="2743200"/>
            <a:ext cx="2971800" cy="1645920"/>
          </a:xfrm>
          <a:prstGeom prst="roundRect">
            <a:avLst>
              <a:gd name="adj" fmla="val 4444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0" name="Text 7"/>
          <p:cNvSpPr/>
          <p:nvPr/>
        </p:nvSpPr>
        <p:spPr>
          <a:xfrm>
            <a:off x="1005840" y="292608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👂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54480" y="2944368"/>
            <a:ext cx="210312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3456432"/>
            <a:ext cx="2606040" cy="8686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I can hear shopping words and prices in a short conversation.</a:t>
            </a:r>
          </a:p>
        </p:txBody>
      </p:sp>
      <p:sp>
        <p:nvSpPr>
          <p:cNvPr id="13" name="Shape 10"/>
          <p:cNvSpPr/>
          <p:nvPr/>
        </p:nvSpPr>
        <p:spPr>
          <a:xfrm>
            <a:off x="4480560" y="2743200"/>
            <a:ext cx="2971800" cy="1645920"/>
          </a:xfrm>
          <a:prstGeom prst="roundRect">
            <a:avLst>
              <a:gd name="adj" fmla="val 4444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4" name="Text 11"/>
          <p:cNvSpPr/>
          <p:nvPr/>
        </p:nvSpPr>
        <p:spPr>
          <a:xfrm>
            <a:off x="4645152" y="292608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🗣️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93792" y="2944368"/>
            <a:ext cx="210312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Speak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63440" y="3456432"/>
            <a:ext cx="2606040" cy="8686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I can say: I’d like a notebook, please. How much is it?</a:t>
            </a:r>
          </a:p>
        </p:txBody>
      </p:sp>
      <p:sp>
        <p:nvSpPr>
          <p:cNvPr id="17" name="Shape 14"/>
          <p:cNvSpPr/>
          <p:nvPr/>
        </p:nvSpPr>
        <p:spPr>
          <a:xfrm>
            <a:off x="8119872" y="2743200"/>
            <a:ext cx="2971800" cy="1645920"/>
          </a:xfrm>
          <a:prstGeom prst="roundRect">
            <a:avLst>
              <a:gd name="adj" fmla="val 4444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8" name="Text 15"/>
          <p:cNvSpPr/>
          <p:nvPr/>
        </p:nvSpPr>
        <p:spPr>
          <a:xfrm>
            <a:off x="8284464" y="292608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833104" y="2944368"/>
            <a:ext cx="210312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02752" y="3456432"/>
            <a:ext cx="2606040" cy="8686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I can ask a friend: What do you want to buy?</a:t>
            </a:r>
          </a:p>
        </p:txBody>
      </p:sp>
      <p:sp>
        <p:nvSpPr>
          <p:cNvPr id="21" name="Text 18"/>
          <p:cNvSpPr/>
          <p:nvPr/>
        </p:nvSpPr>
        <p:spPr>
          <a:xfrm>
            <a:off x="1828800" y="5330952"/>
            <a:ext cx="8595360" cy="32918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Class promise: Use English first. Listen carefully. Say please and thank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39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90-Minute Class Map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Use this slide to tell students what will happen today.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02920" y="178308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594360" y="2011680"/>
            <a:ext cx="1234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0–10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1792" y="2404872"/>
            <a:ext cx="1179576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Quick Shop Talk</a:t>
            </a:r>
          </a:p>
        </p:txBody>
      </p:sp>
      <p:sp>
        <p:nvSpPr>
          <p:cNvPr id="11" name="Text 8"/>
          <p:cNvSpPr/>
          <p:nvPr/>
        </p:nvSpPr>
        <p:spPr>
          <a:xfrm>
            <a:off x="914400" y="3200400"/>
            <a:ext cx="594360" cy="4114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94360" y="4023360"/>
            <a:ext cx="1234440" cy="32918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warm-up items</a:t>
            </a:r>
          </a:p>
        </p:txBody>
      </p:sp>
      <p:sp>
        <p:nvSpPr>
          <p:cNvPr id="13" name="Shape 10"/>
          <p:cNvSpPr/>
          <p:nvPr/>
        </p:nvSpPr>
        <p:spPr>
          <a:xfrm>
            <a:off x="2249424" y="178308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4" name="Text 11"/>
          <p:cNvSpPr/>
          <p:nvPr/>
        </p:nvSpPr>
        <p:spPr>
          <a:xfrm>
            <a:off x="2340864" y="2011680"/>
            <a:ext cx="12344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10–25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368296" y="2404872"/>
            <a:ext cx="1179576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Listen &amp; Point</a:t>
            </a:r>
          </a:p>
        </p:txBody>
      </p:sp>
      <p:sp>
        <p:nvSpPr>
          <p:cNvPr id="16" name="Text 13"/>
          <p:cNvSpPr/>
          <p:nvPr/>
        </p:nvSpPr>
        <p:spPr>
          <a:xfrm>
            <a:off x="2660904" y="3200400"/>
            <a:ext cx="594360" cy="41148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👂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2340864" y="4023360"/>
            <a:ext cx="1234440" cy="32918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hear items</a:t>
            </a:r>
          </a:p>
        </p:txBody>
      </p:sp>
      <p:sp>
        <p:nvSpPr>
          <p:cNvPr id="18" name="Shape 15"/>
          <p:cNvSpPr/>
          <p:nvPr/>
        </p:nvSpPr>
        <p:spPr>
          <a:xfrm>
            <a:off x="3995928" y="178308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9" name="Text 16"/>
          <p:cNvSpPr/>
          <p:nvPr/>
        </p:nvSpPr>
        <p:spPr>
          <a:xfrm>
            <a:off x="4087368" y="2011680"/>
            <a:ext cx="1234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25–40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14800" y="2404872"/>
            <a:ext cx="1179576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Price Words</a:t>
            </a:r>
          </a:p>
        </p:txBody>
      </p:sp>
      <p:sp>
        <p:nvSpPr>
          <p:cNvPr id="21" name="Text 18"/>
          <p:cNvSpPr/>
          <p:nvPr/>
        </p:nvSpPr>
        <p:spPr>
          <a:xfrm>
            <a:off x="4407408" y="3200400"/>
            <a:ext cx="594360" cy="4114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4087368" y="4023360"/>
            <a:ext cx="1234440" cy="32918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one dollar / two yuan</a:t>
            </a:r>
          </a:p>
        </p:txBody>
      </p:sp>
      <p:sp>
        <p:nvSpPr>
          <p:cNvPr id="23" name="Shape 20"/>
          <p:cNvSpPr/>
          <p:nvPr/>
        </p:nvSpPr>
        <p:spPr>
          <a:xfrm>
            <a:off x="5742432" y="178308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4" name="Text 21"/>
          <p:cNvSpPr/>
          <p:nvPr/>
        </p:nvSpPr>
        <p:spPr>
          <a:xfrm>
            <a:off x="5833872" y="2011680"/>
            <a:ext cx="12344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40–55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61304" y="2404872"/>
            <a:ext cx="1179576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Shopping Dialogue</a:t>
            </a:r>
          </a:p>
        </p:txBody>
      </p:sp>
      <p:sp>
        <p:nvSpPr>
          <p:cNvPr id="26" name="Text 23"/>
          <p:cNvSpPr/>
          <p:nvPr/>
        </p:nvSpPr>
        <p:spPr>
          <a:xfrm>
            <a:off x="6153912" y="3200400"/>
            <a:ext cx="594360" cy="41148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5833872" y="4023360"/>
            <a:ext cx="1234440" cy="32918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find items + prices</a:t>
            </a:r>
          </a:p>
        </p:txBody>
      </p:sp>
      <p:sp>
        <p:nvSpPr>
          <p:cNvPr id="28" name="Shape 25"/>
          <p:cNvSpPr/>
          <p:nvPr/>
        </p:nvSpPr>
        <p:spPr>
          <a:xfrm>
            <a:off x="7488936" y="178308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9" name="Text 26"/>
          <p:cNvSpPr/>
          <p:nvPr/>
        </p:nvSpPr>
        <p:spPr>
          <a:xfrm>
            <a:off x="7580376" y="2011680"/>
            <a:ext cx="1234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55–75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607808" y="2404872"/>
            <a:ext cx="1179576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Speak &amp; Survey</a:t>
            </a:r>
          </a:p>
        </p:txBody>
      </p:sp>
      <p:sp>
        <p:nvSpPr>
          <p:cNvPr id="31" name="Text 28"/>
          <p:cNvSpPr/>
          <p:nvPr/>
        </p:nvSpPr>
        <p:spPr>
          <a:xfrm>
            <a:off x="7900416" y="3200400"/>
            <a:ext cx="594360" cy="4114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7580376" y="4023360"/>
            <a:ext cx="1234440" cy="32918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ask friends + total</a:t>
            </a:r>
          </a:p>
        </p:txBody>
      </p:sp>
      <p:sp>
        <p:nvSpPr>
          <p:cNvPr id="33" name="Shape 30"/>
          <p:cNvSpPr/>
          <p:nvPr/>
        </p:nvSpPr>
        <p:spPr>
          <a:xfrm>
            <a:off x="9235440" y="178308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4" name="Text 31"/>
          <p:cNvSpPr/>
          <p:nvPr/>
        </p:nvSpPr>
        <p:spPr>
          <a:xfrm>
            <a:off x="9326880" y="2011680"/>
            <a:ext cx="12344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75–90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9354312" y="2404872"/>
            <a:ext cx="1179576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Show &amp; Reflect</a:t>
            </a:r>
          </a:p>
        </p:txBody>
      </p:sp>
      <p:sp>
        <p:nvSpPr>
          <p:cNvPr id="36" name="Text 33"/>
          <p:cNvSpPr/>
          <p:nvPr/>
        </p:nvSpPr>
        <p:spPr>
          <a:xfrm>
            <a:off x="9646920" y="3200400"/>
            <a:ext cx="594360" cy="41148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9326880" y="4023360"/>
            <a:ext cx="1234440" cy="32918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mini shop talk + exit</a:t>
            </a:r>
          </a:p>
        </p:txBody>
      </p:sp>
      <p:sp>
        <p:nvSpPr>
          <p:cNvPr id="38" name="Text 35"/>
          <p:cNvSpPr/>
          <p:nvPr/>
        </p:nvSpPr>
        <p:spPr>
          <a:xfrm>
            <a:off x="1920240" y="5285232"/>
            <a:ext cx="8503920" cy="29260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Teacher tip: Students should say “please” and “How much is it?” many times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4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Quick Shopping Warm-up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Start speaking in the first 5 minutes.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26" name="Rounded Rectangle 25"/>
          <p:cNvSpPr/>
          <p:nvPr/>
        </p:nvSpPr>
        <p:spPr>
          <a:xfrm>
            <a:off x="448056" y="1179576"/>
            <a:ext cx="4681728" cy="36301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mage 0" descr="/mnt/data/a_bright_warm_cartoon_illustration_style_indoor_batch_2.png">    </p:cNvPr>
          <p:cNvPicPr>
            <a:picLocks noChangeAspect="1"/>
          </p:cNvPicPr>
          <p:nvPr/>
        </p:nvPicPr>
        <p:blipFill>
          <a:blip r:embed="rId1"/>
          <a:srcRect l="1199" r="1199" t="0" b="0"/>
          <a:stretch/>
        </p:blipFill>
        <p:spPr>
          <a:xfrm>
            <a:off x="502920" y="1234440"/>
            <a:ext cx="4572000" cy="35204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" y="1481328"/>
            <a:ext cx="4343400" cy="3337560"/>
          </a:xfrm>
          <a:prstGeom prst="roundRect">
            <a:avLst>
              <a:gd name="adj" fmla="val 1918"/>
            </a:avLst>
          </a:prstGeom>
          <a:solidFill>
            <a:srgbClr val="DEF8FC">
              <a:alpha val="0"/>
            </a:srgbClr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0" name="Text 6"/>
          <p:cNvSpPr/>
          <p:nvPr/>
        </p:nvSpPr>
        <p:spPr>
          <a:xfrm>
            <a:off x="612648" y="4892040"/>
            <a:ext cx="4343400" cy="182880"/>
          </a:xfrm>
          <a:prstGeom prst="rect">
            <a:avLst/>
          </a:prstGeom>
          <a:solidFill>
            <a:srgbClr val="FFFFFF"/>
          </a:solidFill>
          <a:ln w="14604">
            <a:solidFill>
              <a:srgbClr val="FFE1A5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00" b="0">
                <a:solidFill>
                  <a:srgbClr val="566269"/>
                </a:solidFill>
                <a:latin typeface="Aptos"/>
              </a:rPr>
              <a:t>New picture prompt: shopping at a store</a:t>
            </a:r>
          </a:p>
        </p:txBody>
      </p:sp>
      <p:sp>
        <p:nvSpPr>
          <p:cNvPr id="11" name="Text 7"/>
          <p:cNvSpPr/>
          <p:nvPr/>
        </p:nvSpPr>
        <p:spPr>
          <a:xfrm>
            <a:off x="5532120" y="1572768"/>
            <a:ext cx="5852160" cy="41148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Teacher: I’d like a pencil. What do you want to buy?</a:t>
            </a:r>
          </a:p>
        </p:txBody>
      </p:sp>
      <p:sp>
        <p:nvSpPr>
          <p:cNvPr id="12" name="Text 8"/>
          <p:cNvSpPr/>
          <p:nvPr/>
        </p:nvSpPr>
        <p:spPr>
          <a:xfrm>
            <a:off x="5568696" y="2240280"/>
            <a:ext cx="4754880" cy="292608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Student: I’d like _____.</a:t>
            </a:r>
          </a:p>
        </p:txBody>
      </p:sp>
      <p:sp>
        <p:nvSpPr>
          <p:cNvPr id="13" name="Text 9"/>
          <p:cNvSpPr/>
          <p:nvPr/>
        </p:nvSpPr>
        <p:spPr>
          <a:xfrm>
            <a:off x="5568696" y="2862072"/>
            <a:ext cx="4297680" cy="29260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Teacher: How much is it?</a:t>
            </a:r>
          </a:p>
        </p:txBody>
      </p:sp>
      <p:sp>
        <p:nvSpPr>
          <p:cNvPr id="14" name="Text 10"/>
          <p:cNvSpPr/>
          <p:nvPr/>
        </p:nvSpPr>
        <p:spPr>
          <a:xfrm>
            <a:off x="5568696" y="3474720"/>
            <a:ext cx="4297680" cy="292608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Student: It’s _____.</a:t>
            </a:r>
          </a:p>
        </p:txBody>
      </p:sp>
      <p:sp>
        <p:nvSpPr>
          <p:cNvPr id="15" name="Shape 11"/>
          <p:cNvSpPr/>
          <p:nvPr/>
        </p:nvSpPr>
        <p:spPr>
          <a:xfrm>
            <a:off x="5532120" y="4187952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6" name="Text 12"/>
          <p:cNvSpPr/>
          <p:nvPr/>
        </p:nvSpPr>
        <p:spPr>
          <a:xfrm>
            <a:off x="5696712" y="4370832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245352" y="4389120"/>
            <a:ext cx="150876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Shop</a:t>
            </a:r>
          </a:p>
        </p:txBody>
      </p:sp>
      <p:sp>
        <p:nvSpPr>
          <p:cNvPr id="18" name="Text 14"/>
          <p:cNvSpPr/>
          <p:nvPr/>
        </p:nvSpPr>
        <p:spPr>
          <a:xfrm>
            <a:off x="5715000" y="4901184"/>
            <a:ext cx="2011680" cy="9144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cashier · basket</a:t>
            </a:r>
          </a:p>
        </p:txBody>
      </p:sp>
      <p:sp>
        <p:nvSpPr>
          <p:cNvPr id="19" name="Shape 15"/>
          <p:cNvSpPr/>
          <p:nvPr/>
        </p:nvSpPr>
        <p:spPr>
          <a:xfrm>
            <a:off x="8183880" y="4187952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0" name="Text 16"/>
          <p:cNvSpPr/>
          <p:nvPr/>
        </p:nvSpPr>
        <p:spPr>
          <a:xfrm>
            <a:off x="8348472" y="4370832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897112" y="4389120"/>
            <a:ext cx="150876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Items</a:t>
            </a:r>
          </a:p>
        </p:txBody>
      </p:sp>
      <p:sp>
        <p:nvSpPr>
          <p:cNvPr id="22" name="Text 18"/>
          <p:cNvSpPr/>
          <p:nvPr/>
        </p:nvSpPr>
        <p:spPr>
          <a:xfrm>
            <a:off x="8366760" y="4901184"/>
            <a:ext cx="2011680" cy="9144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pencil · juice</a:t>
            </a:r>
          </a:p>
        </p:txBody>
      </p:sp>
      <p:sp>
        <p:nvSpPr>
          <p:cNvPr id="23" name="Text 19"/>
          <p:cNvSpPr/>
          <p:nvPr/>
        </p:nvSpPr>
        <p:spPr>
          <a:xfrm>
            <a:off x="5532120" y="5596128"/>
            <a:ext cx="4937760" cy="2743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Action: ask 2 classmates and remember one item.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33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Teacher Wants to Know You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Ask slowly. Students can answer with one word or a full sentence.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786384" y="150876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950976" y="169164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800" b="0">
                <a:solidFill>
                  <a:srgbClr val="263138"/>
                </a:solidFill>
                <a:latin typeface="Aptos"/>
              </a:rPr>
              <a:t>🛒</a:t>
            </a:r>
          </a:p>
        </p:txBody>
      </p:sp>
      <p:sp>
        <p:nvSpPr>
          <p:cNvPr id="10" name="Text 7"/>
          <p:cNvSpPr/>
          <p:nvPr/>
        </p:nvSpPr>
        <p:spPr>
          <a:xfrm>
            <a:off x="1499616" y="1709928"/>
            <a:ext cx="20116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What do you want to buy?</a:t>
            </a:r>
          </a:p>
        </p:txBody>
      </p:sp>
      <p:sp>
        <p:nvSpPr>
          <p:cNvPr id="11" name="Text 8"/>
          <p:cNvSpPr/>
          <p:nvPr/>
        </p:nvSpPr>
        <p:spPr>
          <a:xfrm>
            <a:off x="969264" y="2221992"/>
            <a:ext cx="251460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want to buy _____.</a:t>
            </a:r>
          </a:p>
        </p:txBody>
      </p:sp>
      <p:sp>
        <p:nvSpPr>
          <p:cNvPr id="12" name="Shape 9"/>
          <p:cNvSpPr/>
          <p:nvPr/>
        </p:nvSpPr>
        <p:spPr>
          <a:xfrm>
            <a:off x="4215384" y="150876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4379976" y="169164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800" b="0">
                <a:solidFill>
                  <a:srgbClr val="263138"/>
                </a:solidFill>
                <a:latin typeface="Aptos"/>
              </a:rPr>
              <a:t>🛍️</a:t>
            </a:r>
          </a:p>
        </p:txBody>
      </p:sp>
      <p:sp>
        <p:nvSpPr>
          <p:cNvPr id="14" name="Text 11"/>
          <p:cNvSpPr/>
          <p:nvPr/>
        </p:nvSpPr>
        <p:spPr>
          <a:xfrm>
            <a:off x="4928616" y="1709928"/>
            <a:ext cx="20116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Where do you shop?</a:t>
            </a:r>
          </a:p>
        </p:txBody>
      </p:sp>
      <p:sp>
        <p:nvSpPr>
          <p:cNvPr id="15" name="Text 12"/>
          <p:cNvSpPr/>
          <p:nvPr/>
        </p:nvSpPr>
        <p:spPr>
          <a:xfrm>
            <a:off x="4398264" y="2221992"/>
            <a:ext cx="251460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shop at the _____.</a:t>
            </a:r>
          </a:p>
        </p:txBody>
      </p:sp>
      <p:sp>
        <p:nvSpPr>
          <p:cNvPr id="16" name="Shape 13"/>
          <p:cNvSpPr/>
          <p:nvPr/>
        </p:nvSpPr>
        <p:spPr>
          <a:xfrm>
            <a:off x="7644384" y="150876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7808976" y="169164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800" b="0">
                <a:solidFill>
                  <a:srgbClr val="263138"/>
                </a:solidFill>
                <a:latin typeface="Aptos"/>
              </a:rPr>
              <a:t>🍎</a:t>
            </a:r>
          </a:p>
        </p:txBody>
      </p:sp>
      <p:sp>
        <p:nvSpPr>
          <p:cNvPr id="18" name="Text 15"/>
          <p:cNvSpPr/>
          <p:nvPr/>
        </p:nvSpPr>
        <p:spPr>
          <a:xfrm>
            <a:off x="8357616" y="1709928"/>
            <a:ext cx="20116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What food do you like to buy?</a:t>
            </a:r>
          </a:p>
        </p:txBody>
      </p:sp>
      <p:sp>
        <p:nvSpPr>
          <p:cNvPr id="19" name="Text 16"/>
          <p:cNvSpPr/>
          <p:nvPr/>
        </p:nvSpPr>
        <p:spPr>
          <a:xfrm>
            <a:off x="7827264" y="2221992"/>
            <a:ext cx="251460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like to buy _____.</a:t>
            </a:r>
          </a:p>
        </p:txBody>
      </p:sp>
      <p:sp>
        <p:nvSpPr>
          <p:cNvPr id="20" name="Shape 17"/>
          <p:cNvSpPr/>
          <p:nvPr/>
        </p:nvSpPr>
        <p:spPr>
          <a:xfrm>
            <a:off x="786384" y="329184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8"/>
          <p:cNvSpPr/>
          <p:nvPr/>
        </p:nvSpPr>
        <p:spPr>
          <a:xfrm>
            <a:off x="950976" y="347472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800" b="0">
                <a:solidFill>
                  <a:srgbClr val="263138"/>
                </a:solidFill>
                <a:latin typeface="Aptos"/>
              </a:rPr>
              <a:t>👕</a:t>
            </a:r>
          </a:p>
        </p:txBody>
      </p:sp>
      <p:sp>
        <p:nvSpPr>
          <p:cNvPr id="22" name="Text 19"/>
          <p:cNvSpPr/>
          <p:nvPr/>
        </p:nvSpPr>
        <p:spPr>
          <a:xfrm>
            <a:off x="1499616" y="3493008"/>
            <a:ext cx="20116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What color do you want?</a:t>
            </a:r>
          </a:p>
        </p:txBody>
      </p:sp>
      <p:sp>
        <p:nvSpPr>
          <p:cNvPr id="23" name="Text 20"/>
          <p:cNvSpPr/>
          <p:nvPr/>
        </p:nvSpPr>
        <p:spPr>
          <a:xfrm>
            <a:off x="969264" y="4005072"/>
            <a:ext cx="251460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want a _____ one.</a:t>
            </a:r>
          </a:p>
        </p:txBody>
      </p:sp>
      <p:sp>
        <p:nvSpPr>
          <p:cNvPr id="24" name="Shape 21"/>
          <p:cNvSpPr/>
          <p:nvPr/>
        </p:nvSpPr>
        <p:spPr>
          <a:xfrm>
            <a:off x="4215384" y="329184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5" name="Text 22"/>
          <p:cNvSpPr/>
          <p:nvPr/>
        </p:nvSpPr>
        <p:spPr>
          <a:xfrm>
            <a:off x="4379976" y="347472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800" b="0">
                <a:solidFill>
                  <a:srgbClr val="263138"/>
                </a:solidFill>
                <a:latin typeface="Aptos"/>
              </a:rPr>
              <a:t>💵</a:t>
            </a:r>
          </a:p>
        </p:txBody>
      </p:sp>
      <p:sp>
        <p:nvSpPr>
          <p:cNvPr id="26" name="Text 23"/>
          <p:cNvSpPr/>
          <p:nvPr/>
        </p:nvSpPr>
        <p:spPr>
          <a:xfrm>
            <a:off x="4928616" y="3493008"/>
            <a:ext cx="20116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How much is it?</a:t>
            </a:r>
          </a:p>
        </p:txBody>
      </p:sp>
      <p:sp>
        <p:nvSpPr>
          <p:cNvPr id="27" name="Text 24"/>
          <p:cNvSpPr/>
          <p:nvPr/>
        </p:nvSpPr>
        <p:spPr>
          <a:xfrm>
            <a:off x="4398264" y="4005072"/>
            <a:ext cx="251460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_____.</a:t>
            </a:r>
          </a:p>
        </p:txBody>
      </p:sp>
      <p:sp>
        <p:nvSpPr>
          <p:cNvPr id="28" name="Shape 25"/>
          <p:cNvSpPr/>
          <p:nvPr/>
        </p:nvSpPr>
        <p:spPr>
          <a:xfrm>
            <a:off x="7644384" y="329184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9" name="Text 26"/>
          <p:cNvSpPr/>
          <p:nvPr/>
        </p:nvSpPr>
        <p:spPr>
          <a:xfrm>
            <a:off x="7808976" y="347472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800" b="0">
                <a:solidFill>
                  <a:srgbClr val="263138"/>
                </a:solidFill>
                <a:latin typeface="Aptos"/>
              </a:rPr>
              <a:t>🎁</a:t>
            </a:r>
          </a:p>
        </p:txBody>
      </p:sp>
      <p:sp>
        <p:nvSpPr>
          <p:cNvPr id="30" name="Text 27"/>
          <p:cNvSpPr/>
          <p:nvPr/>
        </p:nvSpPr>
        <p:spPr>
          <a:xfrm>
            <a:off x="8357616" y="3493008"/>
            <a:ext cx="20116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Who is it for?</a:t>
            </a:r>
          </a:p>
        </p:txBody>
      </p:sp>
      <p:sp>
        <p:nvSpPr>
          <p:cNvPr id="31" name="Text 28"/>
          <p:cNvSpPr/>
          <p:nvPr/>
        </p:nvSpPr>
        <p:spPr>
          <a:xfrm>
            <a:off x="7827264" y="4005072"/>
            <a:ext cx="251460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for _____.</a:t>
            </a:r>
          </a:p>
        </p:txBody>
      </p:sp>
      <p:sp>
        <p:nvSpPr>
          <p:cNvPr id="32" name="Text 29"/>
          <p:cNvSpPr/>
          <p:nvPr/>
        </p:nvSpPr>
        <p:spPr>
          <a:xfrm>
            <a:off x="2834640" y="5504688"/>
            <a:ext cx="65836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Teacher note: Write one “class shopping” sentence on the 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9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How Is Your Shopping?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Students choose a feeling before saying a shopping sentence.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1737360" cy="2148840"/>
          </a:xfrm>
          <a:prstGeom prst="roundRect">
            <a:avLst>
              <a:gd name="adj" fmla="val 421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896112" y="192024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😊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444752" y="1938528"/>
            <a:ext cx="8686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easy</a:t>
            </a:r>
          </a:p>
        </p:txBody>
      </p:sp>
      <p:sp>
        <p:nvSpPr>
          <p:cNvPr id="11" name="Text 8"/>
          <p:cNvSpPr/>
          <p:nvPr/>
        </p:nvSpPr>
        <p:spPr>
          <a:xfrm>
            <a:off x="914400" y="2450592"/>
            <a:ext cx="1371600" cy="1371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Buying pencils is easy.</a:t>
            </a:r>
          </a:p>
        </p:txBody>
      </p:sp>
      <p:sp>
        <p:nvSpPr>
          <p:cNvPr id="12" name="Shape 9"/>
          <p:cNvSpPr/>
          <p:nvPr/>
        </p:nvSpPr>
        <p:spPr>
          <a:xfrm>
            <a:off x="2999232" y="1737360"/>
            <a:ext cx="1737360" cy="2148840"/>
          </a:xfrm>
          <a:prstGeom prst="roundRect">
            <a:avLst>
              <a:gd name="adj" fmla="val 421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3163824" y="192024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😴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3712464" y="1938528"/>
            <a:ext cx="8686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hungry</a:t>
            </a:r>
          </a:p>
        </p:txBody>
      </p:sp>
      <p:sp>
        <p:nvSpPr>
          <p:cNvPr id="15" name="Text 12"/>
          <p:cNvSpPr/>
          <p:nvPr/>
        </p:nvSpPr>
        <p:spPr>
          <a:xfrm>
            <a:off x="3182112" y="2450592"/>
            <a:ext cx="1371600" cy="1371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want a snack.</a:t>
            </a:r>
          </a:p>
        </p:txBody>
      </p:sp>
      <p:sp>
        <p:nvSpPr>
          <p:cNvPr id="16" name="Shape 13"/>
          <p:cNvSpPr/>
          <p:nvPr/>
        </p:nvSpPr>
        <p:spPr>
          <a:xfrm>
            <a:off x="5266944" y="1737360"/>
            <a:ext cx="1737360" cy="2148840"/>
          </a:xfrm>
          <a:prstGeom prst="roundRect">
            <a:avLst>
              <a:gd name="adj" fmla="val 421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5431536" y="192024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5980176" y="1938528"/>
            <a:ext cx="8686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busy</a:t>
            </a:r>
          </a:p>
        </p:txBody>
      </p:sp>
      <p:sp>
        <p:nvSpPr>
          <p:cNvPr id="19" name="Text 16"/>
          <p:cNvSpPr/>
          <p:nvPr/>
        </p:nvSpPr>
        <p:spPr>
          <a:xfrm>
            <a:off x="5449824" y="2450592"/>
            <a:ext cx="1371600" cy="1371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The shop is busy.</a:t>
            </a:r>
          </a:p>
        </p:txBody>
      </p:sp>
      <p:sp>
        <p:nvSpPr>
          <p:cNvPr id="20" name="Shape 17"/>
          <p:cNvSpPr/>
          <p:nvPr/>
        </p:nvSpPr>
        <p:spPr>
          <a:xfrm>
            <a:off x="7534656" y="1737360"/>
            <a:ext cx="1737360" cy="2148840"/>
          </a:xfrm>
          <a:prstGeom prst="roundRect">
            <a:avLst>
              <a:gd name="adj" fmla="val 421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8"/>
          <p:cNvSpPr/>
          <p:nvPr/>
        </p:nvSpPr>
        <p:spPr>
          <a:xfrm>
            <a:off x="7699248" y="192024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😎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8247888" y="1938528"/>
            <a:ext cx="8686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cool</a:t>
            </a:r>
          </a:p>
        </p:txBody>
      </p:sp>
      <p:sp>
        <p:nvSpPr>
          <p:cNvPr id="23" name="Text 20"/>
          <p:cNvSpPr/>
          <p:nvPr/>
        </p:nvSpPr>
        <p:spPr>
          <a:xfrm>
            <a:off x="7717536" y="2450592"/>
            <a:ext cx="1371600" cy="1371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This T-shirt is cool.</a:t>
            </a:r>
          </a:p>
        </p:txBody>
      </p:sp>
      <p:sp>
        <p:nvSpPr>
          <p:cNvPr id="24" name="Shape 21"/>
          <p:cNvSpPr/>
          <p:nvPr/>
        </p:nvSpPr>
        <p:spPr>
          <a:xfrm>
            <a:off x="9802368" y="1737360"/>
            <a:ext cx="1737360" cy="2148840"/>
          </a:xfrm>
          <a:prstGeom prst="roundRect">
            <a:avLst>
              <a:gd name="adj" fmla="val 421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5" name="Text 22"/>
          <p:cNvSpPr/>
          <p:nvPr/>
        </p:nvSpPr>
        <p:spPr>
          <a:xfrm>
            <a:off x="9966960" y="192024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😌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10515600" y="1938528"/>
            <a:ext cx="8686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expensive</a:t>
            </a:r>
          </a:p>
        </p:txBody>
      </p:sp>
      <p:sp>
        <p:nvSpPr>
          <p:cNvPr id="27" name="Text 24"/>
          <p:cNvSpPr/>
          <p:nvPr/>
        </p:nvSpPr>
        <p:spPr>
          <a:xfrm>
            <a:off x="9985248" y="2450592"/>
            <a:ext cx="1371600" cy="1371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That toy is expensive.</a:t>
            </a:r>
          </a:p>
        </p:txBody>
      </p:sp>
      <p:sp>
        <p:nvSpPr>
          <p:cNvPr id="28" name="Text 25"/>
          <p:cNvSpPr/>
          <p:nvPr/>
        </p:nvSpPr>
        <p:spPr>
          <a:xfrm>
            <a:off x="1828800" y="4892040"/>
            <a:ext cx="8321040" cy="36576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Speak with your partner: “I’d like _____. It is _____.”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49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10 Useful Shopping Words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Use gestures and quick repetition.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85800" y="148132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850392" y="166420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399032" y="1682496"/>
            <a:ext cx="10058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shop</a:t>
            </a:r>
          </a:p>
        </p:txBody>
      </p:sp>
      <p:sp>
        <p:nvSpPr>
          <p:cNvPr id="11" name="Text 8"/>
          <p:cNvSpPr/>
          <p:nvPr/>
        </p:nvSpPr>
        <p:spPr>
          <a:xfrm>
            <a:off x="868680" y="2194560"/>
            <a:ext cx="1508760" cy="59436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place to buy things</a:t>
            </a:r>
          </a:p>
        </p:txBody>
      </p:sp>
      <p:sp>
        <p:nvSpPr>
          <p:cNvPr id="12" name="Shape 9"/>
          <p:cNvSpPr/>
          <p:nvPr/>
        </p:nvSpPr>
        <p:spPr>
          <a:xfrm>
            <a:off x="2926080" y="148132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3090672" y="166420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🧥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3639312" y="1682496"/>
            <a:ext cx="10058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basket</a:t>
            </a:r>
          </a:p>
        </p:txBody>
      </p:sp>
      <p:sp>
        <p:nvSpPr>
          <p:cNvPr id="15" name="Text 12"/>
          <p:cNvSpPr/>
          <p:nvPr/>
        </p:nvSpPr>
        <p:spPr>
          <a:xfrm>
            <a:off x="3108960" y="2194560"/>
            <a:ext cx="1508760" cy="59436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carry items</a:t>
            </a:r>
          </a:p>
        </p:txBody>
      </p:sp>
      <p:sp>
        <p:nvSpPr>
          <p:cNvPr id="16" name="Shape 13"/>
          <p:cNvSpPr/>
          <p:nvPr/>
        </p:nvSpPr>
        <p:spPr>
          <a:xfrm>
            <a:off x="5166360" y="148132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5330952" y="166420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🪥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5879592" y="1682496"/>
            <a:ext cx="10058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cashier</a:t>
            </a:r>
          </a:p>
        </p:txBody>
      </p:sp>
      <p:sp>
        <p:nvSpPr>
          <p:cNvPr id="19" name="Text 16"/>
          <p:cNvSpPr/>
          <p:nvPr/>
        </p:nvSpPr>
        <p:spPr>
          <a:xfrm>
            <a:off x="5349240" y="2194560"/>
            <a:ext cx="1508760" cy="59436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person who takes money</a:t>
            </a:r>
          </a:p>
        </p:txBody>
      </p:sp>
      <p:sp>
        <p:nvSpPr>
          <p:cNvPr id="20" name="Shape 17"/>
          <p:cNvSpPr/>
          <p:nvPr/>
        </p:nvSpPr>
        <p:spPr>
          <a:xfrm>
            <a:off x="7406640" y="148132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8"/>
          <p:cNvSpPr/>
          <p:nvPr/>
        </p:nvSpPr>
        <p:spPr>
          <a:xfrm>
            <a:off x="7571232" y="166420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8119872" y="1682496"/>
            <a:ext cx="10058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money</a:t>
            </a:r>
          </a:p>
        </p:txBody>
      </p:sp>
      <p:sp>
        <p:nvSpPr>
          <p:cNvPr id="23" name="Text 20"/>
          <p:cNvSpPr/>
          <p:nvPr/>
        </p:nvSpPr>
        <p:spPr>
          <a:xfrm>
            <a:off x="7589520" y="2194560"/>
            <a:ext cx="1508760" cy="59436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pay for things</a:t>
            </a:r>
          </a:p>
        </p:txBody>
      </p:sp>
      <p:sp>
        <p:nvSpPr>
          <p:cNvPr id="24" name="Shape 21"/>
          <p:cNvSpPr/>
          <p:nvPr/>
        </p:nvSpPr>
        <p:spPr>
          <a:xfrm>
            <a:off x="9646920" y="148132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5" name="Text 22"/>
          <p:cNvSpPr/>
          <p:nvPr/>
        </p:nvSpPr>
        <p:spPr>
          <a:xfrm>
            <a:off x="9811512" y="166420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10360152" y="1682496"/>
            <a:ext cx="10058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price</a:t>
            </a:r>
          </a:p>
        </p:txBody>
      </p:sp>
      <p:sp>
        <p:nvSpPr>
          <p:cNvPr id="27" name="Text 24"/>
          <p:cNvSpPr/>
          <p:nvPr/>
        </p:nvSpPr>
        <p:spPr>
          <a:xfrm>
            <a:off x="9829800" y="2194560"/>
            <a:ext cx="1508760" cy="59436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how much it costs</a:t>
            </a:r>
          </a:p>
        </p:txBody>
      </p:sp>
      <p:sp>
        <p:nvSpPr>
          <p:cNvPr id="28" name="Shape 25"/>
          <p:cNvSpPr/>
          <p:nvPr/>
        </p:nvSpPr>
        <p:spPr>
          <a:xfrm>
            <a:off x="685800" y="335584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9" name="Text 26"/>
          <p:cNvSpPr/>
          <p:nvPr/>
        </p:nvSpPr>
        <p:spPr>
          <a:xfrm>
            <a:off x="850392" y="353872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🍱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399032" y="3557016"/>
            <a:ext cx="10058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buy</a:t>
            </a:r>
          </a:p>
        </p:txBody>
      </p:sp>
      <p:sp>
        <p:nvSpPr>
          <p:cNvPr id="31" name="Text 28"/>
          <p:cNvSpPr/>
          <p:nvPr/>
        </p:nvSpPr>
        <p:spPr>
          <a:xfrm>
            <a:off x="868680" y="4069080"/>
            <a:ext cx="1508760" cy="59436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get with money</a:t>
            </a:r>
          </a:p>
        </p:txBody>
      </p:sp>
      <p:sp>
        <p:nvSpPr>
          <p:cNvPr id="32" name="Shape 29"/>
          <p:cNvSpPr/>
          <p:nvPr/>
        </p:nvSpPr>
        <p:spPr>
          <a:xfrm>
            <a:off x="2926080" y="335584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3" name="Text 30"/>
          <p:cNvSpPr/>
          <p:nvPr/>
        </p:nvSpPr>
        <p:spPr>
          <a:xfrm>
            <a:off x="3090672" y="353872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639312" y="3557016"/>
            <a:ext cx="10058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sell</a:t>
            </a:r>
          </a:p>
        </p:txBody>
      </p:sp>
      <p:sp>
        <p:nvSpPr>
          <p:cNvPr id="35" name="Text 32"/>
          <p:cNvSpPr/>
          <p:nvPr/>
        </p:nvSpPr>
        <p:spPr>
          <a:xfrm>
            <a:off x="3108960" y="4069080"/>
            <a:ext cx="1508760" cy="59436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give for money</a:t>
            </a:r>
          </a:p>
        </p:txBody>
      </p:sp>
      <p:sp>
        <p:nvSpPr>
          <p:cNvPr id="36" name="Shape 33"/>
          <p:cNvSpPr/>
          <p:nvPr/>
        </p:nvSpPr>
        <p:spPr>
          <a:xfrm>
            <a:off x="5166360" y="335584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7" name="Text 34"/>
          <p:cNvSpPr/>
          <p:nvPr/>
        </p:nvSpPr>
        <p:spPr>
          <a:xfrm>
            <a:off x="5330952" y="353872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⚽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5879592" y="3557016"/>
            <a:ext cx="10058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clothes</a:t>
            </a:r>
          </a:p>
        </p:txBody>
      </p:sp>
      <p:sp>
        <p:nvSpPr>
          <p:cNvPr id="39" name="Text 36"/>
          <p:cNvSpPr/>
          <p:nvPr/>
        </p:nvSpPr>
        <p:spPr>
          <a:xfrm>
            <a:off x="5349240" y="4069080"/>
            <a:ext cx="1508760" cy="59436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things to wear</a:t>
            </a:r>
          </a:p>
        </p:txBody>
      </p:sp>
      <p:sp>
        <p:nvSpPr>
          <p:cNvPr id="40" name="Shape 37"/>
          <p:cNvSpPr/>
          <p:nvPr/>
        </p:nvSpPr>
        <p:spPr>
          <a:xfrm>
            <a:off x="7406640" y="335584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1" name="Text 38"/>
          <p:cNvSpPr/>
          <p:nvPr/>
        </p:nvSpPr>
        <p:spPr>
          <a:xfrm>
            <a:off x="7571232" y="353872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🚿</a:t>
            </a:r>
            <a:endParaRPr lang="en-US" sz="2100" dirty="0"/>
          </a:p>
        </p:txBody>
      </p:sp>
      <p:sp>
        <p:nvSpPr>
          <p:cNvPr id="42" name="Text 39"/>
          <p:cNvSpPr/>
          <p:nvPr/>
        </p:nvSpPr>
        <p:spPr>
          <a:xfrm>
            <a:off x="8119872" y="3557016"/>
            <a:ext cx="10058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snacks</a:t>
            </a:r>
          </a:p>
        </p:txBody>
      </p:sp>
      <p:sp>
        <p:nvSpPr>
          <p:cNvPr id="43" name="Text 40"/>
          <p:cNvSpPr/>
          <p:nvPr/>
        </p:nvSpPr>
        <p:spPr>
          <a:xfrm>
            <a:off x="7589520" y="4069080"/>
            <a:ext cx="1508760" cy="59436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small food</a:t>
            </a:r>
          </a:p>
        </p:txBody>
      </p:sp>
      <p:sp>
        <p:nvSpPr>
          <p:cNvPr id="44" name="Shape 41"/>
          <p:cNvSpPr/>
          <p:nvPr/>
        </p:nvSpPr>
        <p:spPr>
          <a:xfrm>
            <a:off x="9646920" y="335584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5" name="Text 42"/>
          <p:cNvSpPr/>
          <p:nvPr/>
        </p:nvSpPr>
        <p:spPr>
          <a:xfrm>
            <a:off x="9811512" y="353872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10360152" y="3557016"/>
            <a:ext cx="10058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receipt</a:t>
            </a:r>
          </a:p>
        </p:txBody>
      </p:sp>
      <p:sp>
        <p:nvSpPr>
          <p:cNvPr id="47" name="Text 44"/>
          <p:cNvSpPr/>
          <p:nvPr/>
        </p:nvSpPr>
        <p:spPr>
          <a:xfrm>
            <a:off x="9829800" y="4069080"/>
            <a:ext cx="1508760" cy="59436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paper after paying</a:t>
            </a:r>
          </a:p>
        </p:txBody>
      </p:sp>
      <p:sp>
        <p:nvSpPr>
          <p:cNvPr id="48" name="Text 45"/>
          <p:cNvSpPr/>
          <p:nvPr/>
        </p:nvSpPr>
        <p:spPr>
          <a:xfrm>
            <a:off x="2468880" y="5532120"/>
            <a:ext cx="7315200" cy="2743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Mini-drill: Teacher says the word → students do the gesture.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33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Listen &amp; Move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When you hear the sentence, do the action.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786384" y="148132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950976" y="1664208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99616" y="1682496"/>
            <a:ext cx="20116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take a basket.</a:t>
            </a:r>
          </a:p>
        </p:txBody>
      </p:sp>
      <p:sp>
        <p:nvSpPr>
          <p:cNvPr id="11" name="Text 8"/>
          <p:cNvSpPr/>
          <p:nvPr/>
        </p:nvSpPr>
        <p:spPr>
          <a:xfrm>
            <a:off x="969264" y="2194560"/>
            <a:ext cx="251460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carry gesture</a:t>
            </a:r>
          </a:p>
        </p:txBody>
      </p:sp>
      <p:sp>
        <p:nvSpPr>
          <p:cNvPr id="12" name="Shape 9"/>
          <p:cNvSpPr/>
          <p:nvPr/>
        </p:nvSpPr>
        <p:spPr>
          <a:xfrm>
            <a:off x="4215384" y="148132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4379976" y="1664208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🪥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28616" y="1682496"/>
            <a:ext cx="20116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choose a pencil.</a:t>
            </a:r>
          </a:p>
        </p:txBody>
      </p:sp>
      <p:sp>
        <p:nvSpPr>
          <p:cNvPr id="15" name="Text 12"/>
          <p:cNvSpPr/>
          <p:nvPr/>
        </p:nvSpPr>
        <p:spPr>
          <a:xfrm>
            <a:off x="4398264" y="2194560"/>
            <a:ext cx="251460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point gesture</a:t>
            </a:r>
          </a:p>
        </p:txBody>
      </p:sp>
      <p:sp>
        <p:nvSpPr>
          <p:cNvPr id="16" name="Shape 13"/>
          <p:cNvSpPr/>
          <p:nvPr/>
        </p:nvSpPr>
        <p:spPr>
          <a:xfrm>
            <a:off x="7644384" y="148132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7808976" y="1664208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357616" y="1682496"/>
            <a:ext cx="20116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ask the price.</a:t>
            </a:r>
          </a:p>
        </p:txBody>
      </p:sp>
      <p:sp>
        <p:nvSpPr>
          <p:cNvPr id="19" name="Text 16"/>
          <p:cNvSpPr/>
          <p:nvPr/>
        </p:nvSpPr>
        <p:spPr>
          <a:xfrm>
            <a:off x="7827264" y="2194560"/>
            <a:ext cx="251460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question gesture</a:t>
            </a:r>
          </a:p>
        </p:txBody>
      </p:sp>
      <p:sp>
        <p:nvSpPr>
          <p:cNvPr id="20" name="Shape 17"/>
          <p:cNvSpPr/>
          <p:nvPr/>
        </p:nvSpPr>
        <p:spPr>
          <a:xfrm>
            <a:off x="786384" y="326440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8"/>
          <p:cNvSpPr/>
          <p:nvPr/>
        </p:nvSpPr>
        <p:spPr>
          <a:xfrm>
            <a:off x="950976" y="3447288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499616" y="3465576"/>
            <a:ext cx="20116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pay money.</a:t>
            </a:r>
          </a:p>
        </p:txBody>
      </p:sp>
      <p:sp>
        <p:nvSpPr>
          <p:cNvPr id="23" name="Text 20"/>
          <p:cNvSpPr/>
          <p:nvPr/>
        </p:nvSpPr>
        <p:spPr>
          <a:xfrm>
            <a:off x="969264" y="3977640"/>
            <a:ext cx="251460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pay gesture</a:t>
            </a:r>
          </a:p>
        </p:txBody>
      </p:sp>
      <p:sp>
        <p:nvSpPr>
          <p:cNvPr id="24" name="Shape 21"/>
          <p:cNvSpPr/>
          <p:nvPr/>
        </p:nvSpPr>
        <p:spPr>
          <a:xfrm>
            <a:off x="4215384" y="326440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5" name="Text 22"/>
          <p:cNvSpPr/>
          <p:nvPr/>
        </p:nvSpPr>
        <p:spPr>
          <a:xfrm>
            <a:off x="4379976" y="3447288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928616" y="3465576"/>
            <a:ext cx="20116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get a receipt.</a:t>
            </a:r>
          </a:p>
        </p:txBody>
      </p:sp>
      <p:sp>
        <p:nvSpPr>
          <p:cNvPr id="27" name="Text 24"/>
          <p:cNvSpPr/>
          <p:nvPr/>
        </p:nvSpPr>
        <p:spPr>
          <a:xfrm>
            <a:off x="4398264" y="3977640"/>
            <a:ext cx="251460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paper gesture</a:t>
            </a:r>
          </a:p>
        </p:txBody>
      </p:sp>
      <p:sp>
        <p:nvSpPr>
          <p:cNvPr id="28" name="Shape 25"/>
          <p:cNvSpPr/>
          <p:nvPr/>
        </p:nvSpPr>
        <p:spPr>
          <a:xfrm>
            <a:off x="7644384" y="326440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9" name="Text 26"/>
          <p:cNvSpPr/>
          <p:nvPr/>
        </p:nvSpPr>
        <p:spPr>
          <a:xfrm>
            <a:off x="7808976" y="3447288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8357616" y="3465576"/>
            <a:ext cx="20116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say thank you.</a:t>
            </a:r>
          </a:p>
        </p:txBody>
      </p:sp>
      <p:sp>
        <p:nvSpPr>
          <p:cNvPr id="31" name="Text 28"/>
          <p:cNvSpPr/>
          <p:nvPr/>
        </p:nvSpPr>
        <p:spPr>
          <a:xfrm>
            <a:off x="7827264" y="3977640"/>
            <a:ext cx="251460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wave gesture</a:t>
            </a:r>
          </a:p>
        </p:txBody>
      </p:sp>
      <p:sp>
        <p:nvSpPr>
          <p:cNvPr id="32" name="Text 29"/>
          <p:cNvSpPr/>
          <p:nvPr/>
        </p:nvSpPr>
        <p:spPr>
          <a:xfrm>
            <a:off x="1417320" y="5358384"/>
            <a:ext cx="9509760" cy="32918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Challenge: Can your team do all six actions without speaking your first language?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33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Shopping Phrases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These phrases help students speak politely.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786384" y="148132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950976" y="166420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99616" y="1682496"/>
            <a:ext cx="20116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Excuse me,</a:t>
            </a:r>
          </a:p>
        </p:txBody>
      </p:sp>
      <p:sp>
        <p:nvSpPr>
          <p:cNvPr id="11" name="Text 8"/>
          <p:cNvSpPr/>
          <p:nvPr/>
        </p:nvSpPr>
        <p:spPr>
          <a:xfrm>
            <a:off x="969264" y="2194560"/>
            <a:ext cx="251460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start politely</a:t>
            </a:r>
          </a:p>
        </p:txBody>
      </p:sp>
      <p:sp>
        <p:nvSpPr>
          <p:cNvPr id="12" name="Shape 9"/>
          <p:cNvSpPr/>
          <p:nvPr/>
        </p:nvSpPr>
        <p:spPr>
          <a:xfrm>
            <a:off x="4215384" y="148132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4379976" y="166420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28616" y="1682496"/>
            <a:ext cx="20116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I’d like _____.</a:t>
            </a:r>
          </a:p>
        </p:txBody>
      </p:sp>
      <p:sp>
        <p:nvSpPr>
          <p:cNvPr id="15" name="Text 12"/>
          <p:cNvSpPr/>
          <p:nvPr/>
        </p:nvSpPr>
        <p:spPr>
          <a:xfrm>
            <a:off x="4398264" y="2194560"/>
            <a:ext cx="251460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ask for an item</a:t>
            </a:r>
          </a:p>
        </p:txBody>
      </p:sp>
      <p:sp>
        <p:nvSpPr>
          <p:cNvPr id="16" name="Shape 13"/>
          <p:cNvSpPr/>
          <p:nvPr/>
        </p:nvSpPr>
        <p:spPr>
          <a:xfrm>
            <a:off x="7644384" y="148132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7808976" y="166420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➡️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357616" y="1682496"/>
            <a:ext cx="20116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How much is it?</a:t>
            </a:r>
          </a:p>
        </p:txBody>
      </p:sp>
      <p:sp>
        <p:nvSpPr>
          <p:cNvPr id="19" name="Text 16"/>
          <p:cNvSpPr/>
          <p:nvPr/>
        </p:nvSpPr>
        <p:spPr>
          <a:xfrm>
            <a:off x="7827264" y="2194560"/>
            <a:ext cx="251460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ask the price</a:t>
            </a:r>
          </a:p>
        </p:txBody>
      </p:sp>
      <p:sp>
        <p:nvSpPr>
          <p:cNvPr id="20" name="Shape 17"/>
          <p:cNvSpPr/>
          <p:nvPr/>
        </p:nvSpPr>
        <p:spPr>
          <a:xfrm>
            <a:off x="786384" y="326440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8"/>
          <p:cNvSpPr/>
          <p:nvPr/>
        </p:nvSpPr>
        <p:spPr>
          <a:xfrm>
            <a:off x="950976" y="344728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499616" y="3465576"/>
            <a:ext cx="20116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_____.</a:t>
            </a:r>
          </a:p>
        </p:txBody>
      </p:sp>
      <p:sp>
        <p:nvSpPr>
          <p:cNvPr id="23" name="Text 20"/>
          <p:cNvSpPr/>
          <p:nvPr/>
        </p:nvSpPr>
        <p:spPr>
          <a:xfrm>
            <a:off x="969264" y="3977640"/>
            <a:ext cx="251460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say the price</a:t>
            </a:r>
          </a:p>
        </p:txBody>
      </p:sp>
      <p:sp>
        <p:nvSpPr>
          <p:cNvPr id="24" name="Shape 21"/>
          <p:cNvSpPr/>
          <p:nvPr/>
        </p:nvSpPr>
        <p:spPr>
          <a:xfrm>
            <a:off x="4215384" y="326440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5" name="Text 22"/>
          <p:cNvSpPr/>
          <p:nvPr/>
        </p:nvSpPr>
        <p:spPr>
          <a:xfrm>
            <a:off x="4379976" y="344728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🌆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928616" y="3465576"/>
            <a:ext cx="20116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Here you are.</a:t>
            </a:r>
          </a:p>
        </p:txBody>
      </p:sp>
      <p:sp>
        <p:nvSpPr>
          <p:cNvPr id="27" name="Text 24"/>
          <p:cNvSpPr/>
          <p:nvPr/>
        </p:nvSpPr>
        <p:spPr>
          <a:xfrm>
            <a:off x="4398264" y="3977640"/>
            <a:ext cx="251460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give money or item</a:t>
            </a:r>
          </a:p>
        </p:txBody>
      </p:sp>
      <p:sp>
        <p:nvSpPr>
          <p:cNvPr id="28" name="Shape 25"/>
          <p:cNvSpPr/>
          <p:nvPr/>
        </p:nvSpPr>
        <p:spPr>
          <a:xfrm>
            <a:off x="7644384" y="326440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9" name="Text 26"/>
          <p:cNvSpPr/>
          <p:nvPr/>
        </p:nvSpPr>
        <p:spPr>
          <a:xfrm>
            <a:off x="7808976" y="344728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8357616" y="3465576"/>
            <a:ext cx="20116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Thank you.</a:t>
            </a:r>
          </a:p>
        </p:txBody>
      </p:sp>
      <p:sp>
        <p:nvSpPr>
          <p:cNvPr id="31" name="Text 28"/>
          <p:cNvSpPr/>
          <p:nvPr/>
        </p:nvSpPr>
        <p:spPr>
          <a:xfrm>
            <a:off x="7827264" y="3977640"/>
            <a:ext cx="251460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finish politely</a:t>
            </a:r>
          </a:p>
        </p:txBody>
      </p:sp>
      <p:sp>
        <p:nvSpPr>
          <p:cNvPr id="32" name="Text 29"/>
          <p:cNvSpPr/>
          <p:nvPr/>
        </p:nvSpPr>
        <p:spPr>
          <a:xfrm>
            <a:off x="1371600" y="5358384"/>
            <a:ext cx="9509760" cy="32918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Repeat with rhythm: EXCUSE ME. I’D LIKE A PEN. HOW MUCH IS IT?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58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Build the Sentence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Students practice one useful pattern.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286000" y="1353312"/>
            <a:ext cx="7772400" cy="4572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I’d like + item + please.</a:t>
            </a:r>
          </a:p>
        </p:txBody>
      </p:sp>
      <p:sp>
        <p:nvSpPr>
          <p:cNvPr id="9" name="Shape 6"/>
          <p:cNvSpPr/>
          <p:nvPr/>
        </p:nvSpPr>
        <p:spPr>
          <a:xfrm>
            <a:off x="658368" y="205740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0" name="Text 7"/>
          <p:cNvSpPr/>
          <p:nvPr/>
        </p:nvSpPr>
        <p:spPr>
          <a:xfrm>
            <a:off x="822960" y="224028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71600" y="2258568"/>
            <a:ext cx="22860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Item</a:t>
            </a:r>
          </a:p>
        </p:txBody>
      </p:sp>
      <p:sp>
        <p:nvSpPr>
          <p:cNvPr id="12" name="Text 9"/>
          <p:cNvSpPr/>
          <p:nvPr/>
        </p:nvSpPr>
        <p:spPr>
          <a:xfrm>
            <a:off x="841248" y="2770632"/>
            <a:ext cx="2788920" cy="-27432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pencil</a:t>
            </a:r>
          </a:p>
        </p:txBody>
      </p:sp>
      <p:sp>
        <p:nvSpPr>
          <p:cNvPr id="13" name="Shape 10"/>
          <p:cNvSpPr/>
          <p:nvPr/>
        </p:nvSpPr>
        <p:spPr>
          <a:xfrm>
            <a:off x="4407408" y="205740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4" name="Text 11"/>
          <p:cNvSpPr/>
          <p:nvPr/>
        </p:nvSpPr>
        <p:spPr>
          <a:xfrm>
            <a:off x="4572000" y="224028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2258568"/>
            <a:ext cx="22860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Item</a:t>
            </a:r>
          </a:p>
        </p:txBody>
      </p:sp>
      <p:sp>
        <p:nvSpPr>
          <p:cNvPr id="16" name="Text 13"/>
          <p:cNvSpPr/>
          <p:nvPr/>
        </p:nvSpPr>
        <p:spPr>
          <a:xfrm>
            <a:off x="4590288" y="2770632"/>
            <a:ext cx="2788920" cy="-27432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notebook</a:t>
            </a:r>
          </a:p>
        </p:txBody>
      </p:sp>
      <p:sp>
        <p:nvSpPr>
          <p:cNvPr id="17" name="Shape 14"/>
          <p:cNvSpPr/>
          <p:nvPr/>
        </p:nvSpPr>
        <p:spPr>
          <a:xfrm>
            <a:off x="8156448" y="205740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8" name="Text 15"/>
          <p:cNvSpPr/>
          <p:nvPr/>
        </p:nvSpPr>
        <p:spPr>
          <a:xfrm>
            <a:off x="8321040" y="224028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869680" y="2258568"/>
            <a:ext cx="22860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Item</a:t>
            </a:r>
          </a:p>
        </p:txBody>
      </p:sp>
      <p:sp>
        <p:nvSpPr>
          <p:cNvPr id="20" name="Text 17"/>
          <p:cNvSpPr/>
          <p:nvPr/>
        </p:nvSpPr>
        <p:spPr>
          <a:xfrm>
            <a:off x="8339328" y="2770632"/>
            <a:ext cx="2788920" cy="-27432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juice</a:t>
            </a:r>
          </a:p>
        </p:txBody>
      </p:sp>
      <p:sp>
        <p:nvSpPr>
          <p:cNvPr id="21" name="Shape 18"/>
          <p:cNvSpPr/>
          <p:nvPr/>
        </p:nvSpPr>
        <p:spPr>
          <a:xfrm>
            <a:off x="658368" y="315468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2" name="Text 19"/>
          <p:cNvSpPr/>
          <p:nvPr/>
        </p:nvSpPr>
        <p:spPr>
          <a:xfrm>
            <a:off x="822960" y="333756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371600" y="3355848"/>
            <a:ext cx="22860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Item</a:t>
            </a:r>
          </a:p>
        </p:txBody>
      </p:sp>
      <p:sp>
        <p:nvSpPr>
          <p:cNvPr id="24" name="Text 21"/>
          <p:cNvSpPr/>
          <p:nvPr/>
        </p:nvSpPr>
        <p:spPr>
          <a:xfrm>
            <a:off x="841248" y="3867912"/>
            <a:ext cx="2788920" cy="-27432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sandwich</a:t>
            </a:r>
          </a:p>
        </p:txBody>
      </p:sp>
      <p:sp>
        <p:nvSpPr>
          <p:cNvPr id="25" name="Shape 22"/>
          <p:cNvSpPr/>
          <p:nvPr/>
        </p:nvSpPr>
        <p:spPr>
          <a:xfrm>
            <a:off x="4407408" y="315468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6" name="Text 23"/>
          <p:cNvSpPr/>
          <p:nvPr/>
        </p:nvSpPr>
        <p:spPr>
          <a:xfrm>
            <a:off x="4572000" y="333756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120640" y="3355848"/>
            <a:ext cx="22860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Item</a:t>
            </a:r>
          </a:p>
        </p:txBody>
      </p:sp>
      <p:sp>
        <p:nvSpPr>
          <p:cNvPr id="28" name="Text 25"/>
          <p:cNvSpPr/>
          <p:nvPr/>
        </p:nvSpPr>
        <p:spPr>
          <a:xfrm>
            <a:off x="4590288" y="3867912"/>
            <a:ext cx="2788920" cy="-27432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T-shirt</a:t>
            </a:r>
          </a:p>
        </p:txBody>
      </p:sp>
      <p:sp>
        <p:nvSpPr>
          <p:cNvPr id="29" name="Shape 26"/>
          <p:cNvSpPr/>
          <p:nvPr/>
        </p:nvSpPr>
        <p:spPr>
          <a:xfrm>
            <a:off x="8156448" y="315468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0" name="Text 27"/>
          <p:cNvSpPr/>
          <p:nvPr/>
        </p:nvSpPr>
        <p:spPr>
          <a:xfrm>
            <a:off x="8321040" y="333756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8869680" y="3355848"/>
            <a:ext cx="22860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Item</a:t>
            </a:r>
          </a:p>
        </p:txBody>
      </p:sp>
      <p:sp>
        <p:nvSpPr>
          <p:cNvPr id="32" name="Text 29"/>
          <p:cNvSpPr/>
          <p:nvPr/>
        </p:nvSpPr>
        <p:spPr>
          <a:xfrm>
            <a:off x="8339328" y="3867912"/>
            <a:ext cx="2788920" cy="-27432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toy</a:t>
            </a:r>
          </a:p>
        </p:txBody>
      </p:sp>
      <p:sp>
        <p:nvSpPr>
          <p:cNvPr id="33" name="Shape 30"/>
          <p:cNvSpPr/>
          <p:nvPr/>
        </p:nvSpPr>
        <p:spPr>
          <a:xfrm>
            <a:off x="658368" y="4096512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4" name="Text 31"/>
          <p:cNvSpPr/>
          <p:nvPr/>
        </p:nvSpPr>
        <p:spPr>
          <a:xfrm>
            <a:off x="822960" y="4279392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1371600" y="4297680"/>
            <a:ext cx="22860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Price</a:t>
            </a:r>
          </a:p>
        </p:txBody>
      </p:sp>
      <p:sp>
        <p:nvSpPr>
          <p:cNvPr id="36" name="Text 33"/>
          <p:cNvSpPr/>
          <p:nvPr/>
        </p:nvSpPr>
        <p:spPr>
          <a:xfrm>
            <a:off x="841248" y="4809744"/>
            <a:ext cx="2788920" cy="-118872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one dollar</a:t>
            </a:r>
          </a:p>
        </p:txBody>
      </p:sp>
      <p:sp>
        <p:nvSpPr>
          <p:cNvPr id="37" name="Shape 34"/>
          <p:cNvSpPr/>
          <p:nvPr/>
        </p:nvSpPr>
        <p:spPr>
          <a:xfrm>
            <a:off x="4407408" y="4096512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8" name="Text 35"/>
          <p:cNvSpPr/>
          <p:nvPr/>
        </p:nvSpPr>
        <p:spPr>
          <a:xfrm>
            <a:off x="4572000" y="4279392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5120640" y="4297680"/>
            <a:ext cx="22860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Price</a:t>
            </a:r>
          </a:p>
        </p:txBody>
      </p:sp>
      <p:sp>
        <p:nvSpPr>
          <p:cNvPr id="40" name="Text 37"/>
          <p:cNvSpPr/>
          <p:nvPr/>
        </p:nvSpPr>
        <p:spPr>
          <a:xfrm>
            <a:off x="4590288" y="4809744"/>
            <a:ext cx="2788920" cy="-118872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two dollars</a:t>
            </a:r>
          </a:p>
        </p:txBody>
      </p:sp>
      <p:sp>
        <p:nvSpPr>
          <p:cNvPr id="41" name="Shape 38"/>
          <p:cNvSpPr/>
          <p:nvPr/>
        </p:nvSpPr>
        <p:spPr>
          <a:xfrm>
            <a:off x="8156448" y="4096512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2" name="Text 39"/>
          <p:cNvSpPr/>
          <p:nvPr/>
        </p:nvSpPr>
        <p:spPr>
          <a:xfrm>
            <a:off x="8321040" y="4279392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8869680" y="4297680"/>
            <a:ext cx="22860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Price</a:t>
            </a:r>
          </a:p>
        </p:txBody>
      </p:sp>
      <p:sp>
        <p:nvSpPr>
          <p:cNvPr id="44" name="Text 41"/>
          <p:cNvSpPr/>
          <p:nvPr/>
        </p:nvSpPr>
        <p:spPr>
          <a:xfrm>
            <a:off x="8339328" y="4809744"/>
            <a:ext cx="2788920" cy="-118872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five dollars</a:t>
            </a:r>
          </a:p>
        </p:txBody>
      </p:sp>
      <p:sp>
        <p:nvSpPr>
          <p:cNvPr id="45" name="Shape 42"/>
          <p:cNvSpPr/>
          <p:nvPr/>
        </p:nvSpPr>
        <p:spPr>
          <a:xfrm>
            <a:off x="658368" y="4992624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6" name="Text 43"/>
          <p:cNvSpPr/>
          <p:nvPr/>
        </p:nvSpPr>
        <p:spPr>
          <a:xfrm>
            <a:off x="822960" y="5175504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1371600" y="5193792"/>
            <a:ext cx="22860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Price</a:t>
            </a:r>
          </a:p>
        </p:txBody>
      </p:sp>
      <p:sp>
        <p:nvSpPr>
          <p:cNvPr id="48" name="Text 45"/>
          <p:cNvSpPr/>
          <p:nvPr/>
        </p:nvSpPr>
        <p:spPr>
          <a:xfrm>
            <a:off x="841248" y="5705856"/>
            <a:ext cx="2788920" cy="-118872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ten yuan</a:t>
            </a:r>
          </a:p>
        </p:txBody>
      </p:sp>
      <p:sp>
        <p:nvSpPr>
          <p:cNvPr id="49" name="Shape 46"/>
          <p:cNvSpPr/>
          <p:nvPr/>
        </p:nvSpPr>
        <p:spPr>
          <a:xfrm>
            <a:off x="4407408" y="4992624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0" name="Text 47"/>
          <p:cNvSpPr/>
          <p:nvPr/>
        </p:nvSpPr>
        <p:spPr>
          <a:xfrm>
            <a:off x="4572000" y="5175504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51" name="Text 48"/>
          <p:cNvSpPr/>
          <p:nvPr/>
        </p:nvSpPr>
        <p:spPr>
          <a:xfrm>
            <a:off x="5120640" y="5193792"/>
            <a:ext cx="22860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Price</a:t>
            </a:r>
          </a:p>
        </p:txBody>
      </p:sp>
      <p:sp>
        <p:nvSpPr>
          <p:cNvPr id="52" name="Text 49"/>
          <p:cNvSpPr/>
          <p:nvPr/>
        </p:nvSpPr>
        <p:spPr>
          <a:xfrm>
            <a:off x="4590288" y="5705856"/>
            <a:ext cx="2788920" cy="-118872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six yuan</a:t>
            </a:r>
          </a:p>
        </p:txBody>
      </p:sp>
      <p:sp>
        <p:nvSpPr>
          <p:cNvPr id="53" name="Shape 50"/>
          <p:cNvSpPr/>
          <p:nvPr/>
        </p:nvSpPr>
        <p:spPr>
          <a:xfrm>
            <a:off x="8156448" y="4992624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4" name="Text 51"/>
          <p:cNvSpPr/>
          <p:nvPr/>
        </p:nvSpPr>
        <p:spPr>
          <a:xfrm>
            <a:off x="8321040" y="5175504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55" name="Text 52"/>
          <p:cNvSpPr/>
          <p:nvPr/>
        </p:nvSpPr>
        <p:spPr>
          <a:xfrm>
            <a:off x="8869680" y="5193792"/>
            <a:ext cx="22860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Price</a:t>
            </a:r>
          </a:p>
        </p:txBody>
      </p:sp>
      <p:sp>
        <p:nvSpPr>
          <p:cNvPr id="56" name="Text 53"/>
          <p:cNvSpPr/>
          <p:nvPr/>
        </p:nvSpPr>
        <p:spPr>
          <a:xfrm>
            <a:off x="8339328" y="5705856"/>
            <a:ext cx="2788920" cy="-118872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eight yuan</a:t>
            </a:r>
          </a:p>
        </p:txBody>
      </p:sp>
      <p:sp>
        <p:nvSpPr>
          <p:cNvPr id="57" name="Text 54"/>
          <p:cNvSpPr/>
          <p:nvPr/>
        </p:nvSpPr>
        <p:spPr>
          <a:xfrm>
            <a:off x="2743200" y="5852160"/>
            <a:ext cx="68580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Partner practice: Choose 3 items and 3 prices.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5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Listening 1: Alex Goes Shopping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Teacher reads. Students listen for items and prices.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27" name="Rounded Rectangle 26"/>
          <p:cNvSpPr/>
          <p:nvPr/>
        </p:nvSpPr>
        <p:spPr>
          <a:xfrm>
            <a:off x="448056" y="1179576"/>
            <a:ext cx="4681728" cy="36301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mage 0" descr="/mnt/data/a_bright_classroom_scene_overall_a_teacher_and_a_batch_1.png">    </p:cNvPr>
          <p:cNvPicPr>
            <a:picLocks noChangeAspect="1"/>
          </p:cNvPicPr>
          <p:nvPr/>
        </p:nvPicPr>
        <p:blipFill>
          <a:blip r:embed="rId1"/>
          <a:srcRect l="13380" r="13380" t="0" b="0"/>
          <a:stretch/>
        </p:blipFill>
        <p:spPr>
          <a:xfrm>
            <a:off x="502920" y="1234440"/>
            <a:ext cx="4572000" cy="35204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" y="1481328"/>
            <a:ext cx="4343400" cy="3337560"/>
          </a:xfrm>
          <a:prstGeom prst="roundRect">
            <a:avLst>
              <a:gd name="adj" fmla="val 1918"/>
            </a:avLst>
          </a:prstGeom>
          <a:solidFill>
            <a:srgbClr val="FFF0B4">
              <a:alpha val="0"/>
            </a:srgbClr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0" name="Text 6"/>
          <p:cNvSpPr/>
          <p:nvPr/>
        </p:nvSpPr>
        <p:spPr>
          <a:xfrm>
            <a:off x="612648" y="4892040"/>
            <a:ext cx="4343400" cy="182880"/>
          </a:xfrm>
          <a:prstGeom prst="rect">
            <a:avLst/>
          </a:prstGeom>
          <a:solidFill>
            <a:srgbClr val="FFFFFF"/>
          </a:solidFill>
          <a:ln w="14604">
            <a:solidFill>
              <a:srgbClr val="FFE1A5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00" b="0">
                <a:solidFill>
                  <a:srgbClr val="566269"/>
                </a:solidFill>
                <a:latin typeface="Aptos"/>
              </a:rPr>
              <a:t>New picture prompt: shopping cards</a:t>
            </a:r>
          </a:p>
        </p:txBody>
      </p:sp>
      <p:sp>
        <p:nvSpPr>
          <p:cNvPr id="11" name="Text 7"/>
          <p:cNvSpPr/>
          <p:nvPr/>
        </p:nvSpPr>
        <p:spPr>
          <a:xfrm>
            <a:off x="5532120" y="1463040"/>
            <a:ext cx="5303520" cy="2743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Listen. Put your hand up when you hear:</a:t>
            </a:r>
          </a:p>
        </p:txBody>
      </p:sp>
      <p:sp>
        <p:nvSpPr>
          <p:cNvPr id="12" name="Shape 8"/>
          <p:cNvSpPr/>
          <p:nvPr/>
        </p:nvSpPr>
        <p:spPr>
          <a:xfrm>
            <a:off x="5532120" y="192024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9"/>
          <p:cNvSpPr/>
          <p:nvPr/>
        </p:nvSpPr>
        <p:spPr>
          <a:xfrm>
            <a:off x="5696712" y="210312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245352" y="2121408"/>
            <a:ext cx="38862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I’d like a pencil, please.</a:t>
            </a:r>
          </a:p>
        </p:txBody>
      </p:sp>
      <p:sp>
        <p:nvSpPr>
          <p:cNvPr id="15" name="Shape 11"/>
          <p:cNvSpPr/>
          <p:nvPr/>
        </p:nvSpPr>
        <p:spPr>
          <a:xfrm>
            <a:off x="5532120" y="274320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6" name="Text 12"/>
          <p:cNvSpPr/>
          <p:nvPr/>
        </p:nvSpPr>
        <p:spPr>
          <a:xfrm>
            <a:off x="5696712" y="292608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🪥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245352" y="2944368"/>
            <a:ext cx="388620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How much is it?</a:t>
            </a:r>
          </a:p>
        </p:txBody>
      </p:sp>
      <p:sp>
        <p:nvSpPr>
          <p:cNvPr id="18" name="Shape 14"/>
          <p:cNvSpPr/>
          <p:nvPr/>
        </p:nvSpPr>
        <p:spPr>
          <a:xfrm>
            <a:off x="5532120" y="356616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9" name="Text 15"/>
          <p:cNvSpPr/>
          <p:nvPr/>
        </p:nvSpPr>
        <p:spPr>
          <a:xfrm>
            <a:off x="5696712" y="374904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245352" y="3767328"/>
            <a:ext cx="38862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one dollar.</a:t>
            </a:r>
          </a:p>
        </p:txBody>
      </p:sp>
      <p:sp>
        <p:nvSpPr>
          <p:cNvPr id="21" name="Shape 17"/>
          <p:cNvSpPr/>
          <p:nvPr/>
        </p:nvSpPr>
        <p:spPr>
          <a:xfrm>
            <a:off x="5532120" y="438912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2" name="Text 18"/>
          <p:cNvSpPr/>
          <p:nvPr/>
        </p:nvSpPr>
        <p:spPr>
          <a:xfrm>
            <a:off x="5696712" y="457200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6245352" y="4590288"/>
            <a:ext cx="388620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Here you are. Thank you.</a:t>
            </a:r>
          </a:p>
        </p:txBody>
      </p:sp>
      <p:sp>
        <p:nvSpPr>
          <p:cNvPr id="24" name="Text 20"/>
          <p:cNvSpPr/>
          <p:nvPr/>
        </p:nvSpPr>
        <p:spPr>
          <a:xfrm>
            <a:off x="5532120" y="5367528"/>
            <a:ext cx="4754880" cy="256032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Script is in speaker notes for the teacher.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5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Listening Check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Students answer with fingers: 1, 2, or 3.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22960" y="16002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987552" y="178308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👂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36192" y="1801368"/>
            <a:ext cx="36118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What does Alex buy?</a:t>
            </a:r>
          </a:p>
        </p:txBody>
      </p:sp>
      <p:sp>
        <p:nvSpPr>
          <p:cNvPr id="11" name="Text 8"/>
          <p:cNvSpPr/>
          <p:nvPr/>
        </p:nvSpPr>
        <p:spPr>
          <a:xfrm>
            <a:off x="1005840" y="2313432"/>
            <a:ext cx="4114800" cy="64008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1 pencil</a:t>
            </a:r>
          </a:p>
          <a:p>
            <a:r>
              <a:rPr sz="1250" b="1">
                <a:solidFill>
                  <a:srgbClr val="263138"/>
                </a:solidFill>
                <a:latin typeface="Aptos"/>
              </a:rPr>
              <a:t>2 pizza</a:t>
            </a:r>
          </a:p>
          <a:p>
            <a:r>
              <a:rPr sz="1250" b="1">
                <a:solidFill>
                  <a:srgbClr val="263138"/>
                </a:solidFill>
                <a:latin typeface="Aptos"/>
              </a:rPr>
              <a:t>3 football</a:t>
            </a:r>
          </a:p>
        </p:txBody>
      </p:sp>
      <p:sp>
        <p:nvSpPr>
          <p:cNvPr id="12" name="Shape 9"/>
          <p:cNvSpPr/>
          <p:nvPr/>
        </p:nvSpPr>
        <p:spPr>
          <a:xfrm>
            <a:off x="6126480" y="16002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6291072" y="178308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🪥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39712" y="1801368"/>
            <a:ext cx="36118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What does Alex ask?</a:t>
            </a:r>
          </a:p>
        </p:txBody>
      </p:sp>
      <p:sp>
        <p:nvSpPr>
          <p:cNvPr id="15" name="Text 12"/>
          <p:cNvSpPr/>
          <p:nvPr/>
        </p:nvSpPr>
        <p:spPr>
          <a:xfrm>
            <a:off x="6309360" y="2313432"/>
            <a:ext cx="4114800" cy="64008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1 What time?</a:t>
            </a:r>
          </a:p>
          <a:p>
            <a:r>
              <a:rPr sz="1150" b="0">
                <a:solidFill>
                  <a:srgbClr val="263138"/>
                </a:solidFill>
                <a:latin typeface="Aptos"/>
              </a:rPr>
              <a:t>2 How much?</a:t>
            </a:r>
          </a:p>
          <a:p>
            <a:r>
              <a:rPr sz="1150" b="0">
                <a:solidFill>
                  <a:srgbClr val="263138"/>
                </a:solidFill>
                <a:latin typeface="Aptos"/>
              </a:rPr>
              <a:t>3 Where are you?</a:t>
            </a:r>
          </a:p>
        </p:txBody>
      </p:sp>
      <p:sp>
        <p:nvSpPr>
          <p:cNvPr id="16" name="Shape 13"/>
          <p:cNvSpPr/>
          <p:nvPr/>
        </p:nvSpPr>
        <p:spPr>
          <a:xfrm>
            <a:off x="822960" y="34290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987552" y="361188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36192" y="3630168"/>
            <a:ext cx="36118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How much is the pencil?</a:t>
            </a:r>
          </a:p>
        </p:txBody>
      </p:sp>
      <p:sp>
        <p:nvSpPr>
          <p:cNvPr id="19" name="Text 16"/>
          <p:cNvSpPr/>
          <p:nvPr/>
        </p:nvSpPr>
        <p:spPr>
          <a:xfrm>
            <a:off x="1005840" y="4142232"/>
            <a:ext cx="4114800" cy="64008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1 one dollar</a:t>
            </a:r>
          </a:p>
          <a:p>
            <a:r>
              <a:rPr sz="1150" b="0">
                <a:solidFill>
                  <a:srgbClr val="263138"/>
                </a:solidFill>
                <a:latin typeface="Aptos"/>
              </a:rPr>
              <a:t>2 five dollars</a:t>
            </a:r>
          </a:p>
          <a:p>
            <a:r>
              <a:rPr sz="1150" b="0">
                <a:solidFill>
                  <a:srgbClr val="263138"/>
                </a:solidFill>
                <a:latin typeface="Aptos"/>
              </a:rPr>
              <a:t>3 ten dollars</a:t>
            </a:r>
          </a:p>
        </p:txBody>
      </p:sp>
      <p:sp>
        <p:nvSpPr>
          <p:cNvPr id="20" name="Shape 17"/>
          <p:cNvSpPr/>
          <p:nvPr/>
        </p:nvSpPr>
        <p:spPr>
          <a:xfrm>
            <a:off x="6126480" y="34290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8"/>
          <p:cNvSpPr/>
          <p:nvPr/>
        </p:nvSpPr>
        <p:spPr>
          <a:xfrm>
            <a:off x="6291072" y="361188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839712" y="3630168"/>
            <a:ext cx="36118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What does Alex say at the end?</a:t>
            </a:r>
          </a:p>
        </p:txBody>
      </p:sp>
      <p:sp>
        <p:nvSpPr>
          <p:cNvPr id="23" name="Text 20"/>
          <p:cNvSpPr/>
          <p:nvPr/>
        </p:nvSpPr>
        <p:spPr>
          <a:xfrm>
            <a:off x="6309360" y="4142232"/>
            <a:ext cx="4114800" cy="64008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1 goodbye</a:t>
            </a:r>
          </a:p>
          <a:p>
            <a:r>
              <a:rPr sz="1150" b="0">
                <a:solidFill>
                  <a:srgbClr val="263138"/>
                </a:solidFill>
                <a:latin typeface="Aptos"/>
              </a:rPr>
              <a:t>2 thank you</a:t>
            </a:r>
          </a:p>
          <a:p>
            <a:r>
              <a:rPr sz="1150" b="0">
                <a:solidFill>
                  <a:srgbClr val="263138"/>
                </a:solidFill>
                <a:latin typeface="Aptos"/>
              </a:rPr>
              <a:t>3 good night</a:t>
            </a:r>
          </a:p>
        </p:txBody>
      </p:sp>
      <p:sp>
        <p:nvSpPr>
          <p:cNvPr id="24" name="Text 21"/>
          <p:cNvSpPr/>
          <p:nvPr/>
        </p:nvSpPr>
        <p:spPr>
          <a:xfrm>
            <a:off x="2743200" y="5550408"/>
            <a:ext cx="6766560" cy="256032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Fast correction: Say the full answer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5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Speaking Game: Shopping Chain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Students build a longer answer together.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914400" y="18288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1581912" y="2029968"/>
            <a:ext cx="548640" cy="4114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51560" y="2743200"/>
            <a:ext cx="1645920" cy="4572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Pick a card.</a:t>
            </a:r>
          </a:p>
        </p:txBody>
      </p:sp>
      <p:sp>
        <p:nvSpPr>
          <p:cNvPr id="11" name="Text 8"/>
          <p:cNvSpPr/>
          <p:nvPr/>
        </p:nvSpPr>
        <p:spPr>
          <a:xfrm>
            <a:off x="1060704" y="3456432"/>
            <a:ext cx="1645920" cy="438912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pencil / snack / toy</a:t>
            </a:r>
          </a:p>
        </p:txBody>
      </p:sp>
      <p:sp>
        <p:nvSpPr>
          <p:cNvPr id="12" name="Shape 9"/>
          <p:cNvSpPr/>
          <p:nvPr/>
        </p:nvSpPr>
        <p:spPr>
          <a:xfrm>
            <a:off x="3657600" y="18288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4325112" y="2029968"/>
            <a:ext cx="548640" cy="4114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794760" y="2743200"/>
            <a:ext cx="1645920" cy="4572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Say the item.</a:t>
            </a:r>
          </a:p>
        </p:txBody>
      </p:sp>
      <p:sp>
        <p:nvSpPr>
          <p:cNvPr id="15" name="Text 12"/>
          <p:cNvSpPr/>
          <p:nvPr/>
        </p:nvSpPr>
        <p:spPr>
          <a:xfrm>
            <a:off x="3803904" y="3456432"/>
            <a:ext cx="1645920" cy="438912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I’d like a pencil.</a:t>
            </a:r>
          </a:p>
        </p:txBody>
      </p:sp>
      <p:sp>
        <p:nvSpPr>
          <p:cNvPr id="16" name="Shape 13"/>
          <p:cNvSpPr/>
          <p:nvPr/>
        </p:nvSpPr>
        <p:spPr>
          <a:xfrm>
            <a:off x="6400800" y="18288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7068312" y="2029968"/>
            <a:ext cx="548640" cy="4114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537960" y="2743200"/>
            <a:ext cx="1645920" cy="4572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Partner asks price.</a:t>
            </a:r>
          </a:p>
        </p:txBody>
      </p:sp>
      <p:sp>
        <p:nvSpPr>
          <p:cNvPr id="19" name="Text 16"/>
          <p:cNvSpPr/>
          <p:nvPr/>
        </p:nvSpPr>
        <p:spPr>
          <a:xfrm>
            <a:off x="6547104" y="3456432"/>
            <a:ext cx="1645920" cy="438912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How much?</a:t>
            </a:r>
          </a:p>
        </p:txBody>
      </p:sp>
      <p:sp>
        <p:nvSpPr>
          <p:cNvPr id="20" name="Shape 17"/>
          <p:cNvSpPr/>
          <p:nvPr/>
        </p:nvSpPr>
        <p:spPr>
          <a:xfrm>
            <a:off x="9144000" y="18288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8"/>
          <p:cNvSpPr/>
          <p:nvPr/>
        </p:nvSpPr>
        <p:spPr>
          <a:xfrm>
            <a:off x="9811512" y="2029968"/>
            <a:ext cx="548640" cy="4114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281160" y="2743200"/>
            <a:ext cx="1645920" cy="4572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Give the price.</a:t>
            </a:r>
          </a:p>
        </p:txBody>
      </p:sp>
      <p:sp>
        <p:nvSpPr>
          <p:cNvPr id="23" name="Text 20"/>
          <p:cNvSpPr/>
          <p:nvPr/>
        </p:nvSpPr>
        <p:spPr>
          <a:xfrm>
            <a:off x="9290304" y="3456432"/>
            <a:ext cx="1645920" cy="438912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two dollars.</a:t>
            </a:r>
          </a:p>
        </p:txBody>
      </p:sp>
      <p:sp>
        <p:nvSpPr>
          <p:cNvPr id="24" name="Text 21"/>
          <p:cNvSpPr/>
          <p:nvPr/>
        </p:nvSpPr>
        <p:spPr>
          <a:xfrm>
            <a:off x="2286000" y="5285232"/>
            <a:ext cx="758952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Use English only. Use gestures if you forget a word!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16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Dialogue Model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Students practice a short, safe conversation.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417320" y="1600200"/>
            <a:ext cx="94183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1874520" y="1874520"/>
            <a:ext cx="850392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A: Hello. Can I help you?</a:t>
            </a:r>
          </a:p>
        </p:txBody>
      </p:sp>
      <p:sp>
        <p:nvSpPr>
          <p:cNvPr id="10" name="Text 7"/>
          <p:cNvSpPr/>
          <p:nvPr/>
        </p:nvSpPr>
        <p:spPr>
          <a:xfrm>
            <a:off x="1874520" y="2286000"/>
            <a:ext cx="850392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B: I’d like a notebook, please.</a:t>
            </a:r>
          </a:p>
        </p:txBody>
      </p:sp>
      <p:sp>
        <p:nvSpPr>
          <p:cNvPr id="11" name="Text 8"/>
          <p:cNvSpPr/>
          <p:nvPr/>
        </p:nvSpPr>
        <p:spPr>
          <a:xfrm>
            <a:off x="1874520" y="2697480"/>
            <a:ext cx="850392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A: How much is it?</a:t>
            </a:r>
          </a:p>
        </p:txBody>
      </p:sp>
      <p:sp>
        <p:nvSpPr>
          <p:cNvPr id="12" name="Text 9"/>
          <p:cNvSpPr/>
          <p:nvPr/>
        </p:nvSpPr>
        <p:spPr>
          <a:xfrm>
            <a:off x="1874520" y="3108960"/>
            <a:ext cx="850392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B: It is three dollars.</a:t>
            </a:r>
          </a:p>
        </p:txBody>
      </p:sp>
      <p:sp>
        <p:nvSpPr>
          <p:cNvPr id="13" name="Text 10"/>
          <p:cNvSpPr/>
          <p:nvPr/>
        </p:nvSpPr>
        <p:spPr>
          <a:xfrm>
            <a:off x="1874520" y="3520440"/>
            <a:ext cx="850392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A: Here you are.</a:t>
            </a:r>
          </a:p>
        </p:txBody>
      </p:sp>
      <p:sp>
        <p:nvSpPr>
          <p:cNvPr id="14" name="Text 11"/>
          <p:cNvSpPr/>
          <p:nvPr/>
        </p:nvSpPr>
        <p:spPr>
          <a:xfrm>
            <a:off x="1874520" y="3931920"/>
            <a:ext cx="850392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B: Thank you.</a:t>
            </a:r>
          </a:p>
        </p:txBody>
      </p:sp>
      <p:sp>
        <p:nvSpPr>
          <p:cNvPr id="15" name="Text 12"/>
          <p:cNvSpPr/>
          <p:nvPr/>
        </p:nvSpPr>
        <p:spPr>
          <a:xfrm>
            <a:off x="1920240" y="5230368"/>
            <a:ext cx="8412480" cy="310896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Practice 3 times: slow voice → normal voice → acting voice.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5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Choose a Role-play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Students make shopping useful in real conversations.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22960" y="16002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987552" y="178308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36192" y="1801368"/>
            <a:ext cx="36118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Problem 1 · School supplies</a:t>
            </a:r>
          </a:p>
        </p:txBody>
      </p:sp>
      <p:sp>
        <p:nvSpPr>
          <p:cNvPr id="11" name="Text 8"/>
          <p:cNvSpPr/>
          <p:nvPr/>
        </p:nvSpPr>
        <p:spPr>
          <a:xfrm>
            <a:off x="1005840" y="2313432"/>
            <a:ext cx="4114800" cy="6400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Buy a pencil, notebook, or ruler.</a:t>
            </a:r>
          </a:p>
        </p:txBody>
      </p:sp>
      <p:sp>
        <p:nvSpPr>
          <p:cNvPr id="12" name="Shape 9"/>
          <p:cNvSpPr/>
          <p:nvPr/>
        </p:nvSpPr>
        <p:spPr>
          <a:xfrm>
            <a:off x="6126480" y="16002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6291072" y="178308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39712" y="1801368"/>
            <a:ext cx="36118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Problem 2 · Snack shop</a:t>
            </a:r>
          </a:p>
        </p:txBody>
      </p:sp>
      <p:sp>
        <p:nvSpPr>
          <p:cNvPr id="15" name="Text 12"/>
          <p:cNvSpPr/>
          <p:nvPr/>
        </p:nvSpPr>
        <p:spPr>
          <a:xfrm>
            <a:off x="6309360" y="2313432"/>
            <a:ext cx="4114800" cy="6400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Ask for juice, fruit, or a sandwich.</a:t>
            </a:r>
          </a:p>
        </p:txBody>
      </p:sp>
      <p:sp>
        <p:nvSpPr>
          <p:cNvPr id="16" name="Shape 13"/>
          <p:cNvSpPr/>
          <p:nvPr/>
        </p:nvSpPr>
        <p:spPr>
          <a:xfrm>
            <a:off x="822960" y="34290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987552" y="361188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36192" y="3630168"/>
            <a:ext cx="36118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Problem 3 · Clothes shop</a:t>
            </a:r>
          </a:p>
        </p:txBody>
      </p:sp>
      <p:sp>
        <p:nvSpPr>
          <p:cNvPr id="19" name="Text 16"/>
          <p:cNvSpPr/>
          <p:nvPr/>
        </p:nvSpPr>
        <p:spPr>
          <a:xfrm>
            <a:off x="1005840" y="4142232"/>
            <a:ext cx="4114800" cy="6400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Talk about color, size, and price.</a:t>
            </a:r>
          </a:p>
        </p:txBody>
      </p:sp>
      <p:sp>
        <p:nvSpPr>
          <p:cNvPr id="20" name="Shape 17"/>
          <p:cNvSpPr/>
          <p:nvPr/>
        </p:nvSpPr>
        <p:spPr>
          <a:xfrm>
            <a:off x="6126480" y="34290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8"/>
          <p:cNvSpPr/>
          <p:nvPr/>
        </p:nvSpPr>
        <p:spPr>
          <a:xfrm>
            <a:off x="6291072" y="361188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839712" y="3630168"/>
            <a:ext cx="36118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Problem 4 · Toy shop</a:t>
            </a:r>
          </a:p>
        </p:txBody>
      </p:sp>
      <p:sp>
        <p:nvSpPr>
          <p:cNvPr id="23" name="Text 20"/>
          <p:cNvSpPr/>
          <p:nvPr/>
        </p:nvSpPr>
        <p:spPr>
          <a:xfrm>
            <a:off x="6309360" y="4142232"/>
            <a:ext cx="4114800" cy="64008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Buy a gift and say thank you.</a:t>
            </a:r>
          </a:p>
        </p:txBody>
      </p:sp>
      <p:sp>
        <p:nvSpPr>
          <p:cNvPr id="24" name="Text 21"/>
          <p:cNvSpPr/>
          <p:nvPr/>
        </p:nvSpPr>
        <p:spPr>
          <a:xfrm>
            <a:off x="1874520" y="5550408"/>
            <a:ext cx="8503920" cy="2743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Performance rule: everyone speaks at least one line with a price.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5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Shopping Corners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Students move, choose, and explain.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68680" y="1691640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1033272" y="18745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81912" y="1892808"/>
            <a:ext cx="3520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Supplies</a:t>
            </a:r>
          </a:p>
        </p:txBody>
      </p:sp>
      <p:sp>
        <p:nvSpPr>
          <p:cNvPr id="11" name="Text 8"/>
          <p:cNvSpPr/>
          <p:nvPr/>
        </p:nvSpPr>
        <p:spPr>
          <a:xfrm>
            <a:off x="1051560" y="2404872"/>
            <a:ext cx="4023360" cy="52120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I’d like a pencil, please.</a:t>
            </a:r>
          </a:p>
        </p:txBody>
      </p:sp>
      <p:sp>
        <p:nvSpPr>
          <p:cNvPr id="12" name="Shape 9"/>
          <p:cNvSpPr/>
          <p:nvPr/>
        </p:nvSpPr>
        <p:spPr>
          <a:xfrm>
            <a:off x="6126480" y="1691640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6291072" y="18745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39712" y="1892808"/>
            <a:ext cx="3520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Food</a:t>
            </a:r>
          </a:p>
        </p:txBody>
      </p:sp>
      <p:sp>
        <p:nvSpPr>
          <p:cNvPr id="15" name="Text 12"/>
          <p:cNvSpPr/>
          <p:nvPr/>
        </p:nvSpPr>
        <p:spPr>
          <a:xfrm>
            <a:off x="6309360" y="2404872"/>
            <a:ext cx="4023360" cy="52120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I’d like juice, please.</a:t>
            </a:r>
          </a:p>
        </p:txBody>
      </p:sp>
      <p:sp>
        <p:nvSpPr>
          <p:cNvPr id="16" name="Shape 13"/>
          <p:cNvSpPr/>
          <p:nvPr/>
        </p:nvSpPr>
        <p:spPr>
          <a:xfrm>
            <a:off x="868680" y="3447288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1033272" y="3630168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🌆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81912" y="3648456"/>
            <a:ext cx="3520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Clothes</a:t>
            </a:r>
          </a:p>
        </p:txBody>
      </p:sp>
      <p:sp>
        <p:nvSpPr>
          <p:cNvPr id="19" name="Text 16"/>
          <p:cNvSpPr/>
          <p:nvPr/>
        </p:nvSpPr>
        <p:spPr>
          <a:xfrm>
            <a:off x="1051560" y="4160520"/>
            <a:ext cx="4023360" cy="52120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I’d like a blue T-shirt.</a:t>
            </a:r>
          </a:p>
        </p:txBody>
      </p:sp>
      <p:sp>
        <p:nvSpPr>
          <p:cNvPr id="20" name="Shape 17"/>
          <p:cNvSpPr/>
          <p:nvPr/>
        </p:nvSpPr>
        <p:spPr>
          <a:xfrm>
            <a:off x="6126480" y="3447288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8"/>
          <p:cNvSpPr/>
          <p:nvPr/>
        </p:nvSpPr>
        <p:spPr>
          <a:xfrm>
            <a:off x="6291072" y="3630168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839712" y="3648456"/>
            <a:ext cx="3520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Toys</a:t>
            </a:r>
          </a:p>
        </p:txBody>
      </p:sp>
      <p:sp>
        <p:nvSpPr>
          <p:cNvPr id="23" name="Text 20"/>
          <p:cNvSpPr/>
          <p:nvPr/>
        </p:nvSpPr>
        <p:spPr>
          <a:xfrm>
            <a:off x="6309360" y="4160520"/>
            <a:ext cx="4023360" cy="52120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I’d like a small toy.</a:t>
            </a:r>
          </a:p>
        </p:txBody>
      </p:sp>
      <p:sp>
        <p:nvSpPr>
          <p:cNvPr id="24" name="Text 21"/>
          <p:cNvSpPr/>
          <p:nvPr/>
        </p:nvSpPr>
        <p:spPr>
          <a:xfrm>
            <a:off x="1371600" y="5349240"/>
            <a:ext cx="950976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Rule: Move to a corner → tell one friend your sentence → change corner.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49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Mingle Survey: Ask 4 Friends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Students ask, answer, and remember prices.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22960" y="1600200"/>
            <a:ext cx="1920240" cy="5029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868680" y="1691640"/>
            <a:ext cx="1828800" cy="38404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0" y="1600200"/>
            <a:ext cx="2286000" cy="5029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1" name="Text 8"/>
          <p:cNvSpPr/>
          <p:nvPr/>
        </p:nvSpPr>
        <p:spPr>
          <a:xfrm>
            <a:off x="2788920" y="1691640"/>
            <a:ext cx="2194560" cy="38404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Item wanted</a:t>
            </a:r>
          </a:p>
        </p:txBody>
      </p:sp>
      <p:sp>
        <p:nvSpPr>
          <p:cNvPr id="12" name="Shape 9"/>
          <p:cNvSpPr/>
          <p:nvPr/>
        </p:nvSpPr>
        <p:spPr>
          <a:xfrm>
            <a:off x="5029200" y="1600200"/>
            <a:ext cx="1920240" cy="5029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5074920" y="1691640"/>
            <a:ext cx="1828800" cy="38404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Price</a:t>
            </a:r>
          </a:p>
        </p:txBody>
      </p:sp>
      <p:sp>
        <p:nvSpPr>
          <p:cNvPr id="14" name="Shape 11"/>
          <p:cNvSpPr/>
          <p:nvPr/>
        </p:nvSpPr>
        <p:spPr>
          <a:xfrm>
            <a:off x="6949440" y="1600200"/>
            <a:ext cx="1920240" cy="5029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5" name="Text 12"/>
          <p:cNvSpPr/>
          <p:nvPr/>
        </p:nvSpPr>
        <p:spPr>
          <a:xfrm>
            <a:off x="6995160" y="1691640"/>
            <a:ext cx="1828800" cy="38404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Shop</a:t>
            </a:r>
          </a:p>
        </p:txBody>
      </p:sp>
      <p:sp>
        <p:nvSpPr>
          <p:cNvPr id="16" name="Shape 13"/>
          <p:cNvSpPr/>
          <p:nvPr/>
        </p:nvSpPr>
        <p:spPr>
          <a:xfrm>
            <a:off x="8869680" y="1600200"/>
            <a:ext cx="1920240" cy="5029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8915400" y="1691640"/>
            <a:ext cx="1828800" cy="38404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Total</a:t>
            </a:r>
          </a:p>
        </p:txBody>
      </p:sp>
      <p:sp>
        <p:nvSpPr>
          <p:cNvPr id="18" name="Shape 15"/>
          <p:cNvSpPr/>
          <p:nvPr/>
        </p:nvSpPr>
        <p:spPr>
          <a:xfrm>
            <a:off x="822960" y="21031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9" name="Shape 16"/>
          <p:cNvSpPr/>
          <p:nvPr/>
        </p:nvSpPr>
        <p:spPr>
          <a:xfrm>
            <a:off x="2743200" y="2103120"/>
            <a:ext cx="2286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0" name="Shape 17"/>
          <p:cNvSpPr/>
          <p:nvPr/>
        </p:nvSpPr>
        <p:spPr>
          <a:xfrm>
            <a:off x="5029200" y="21031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Shape 18"/>
          <p:cNvSpPr/>
          <p:nvPr/>
        </p:nvSpPr>
        <p:spPr>
          <a:xfrm>
            <a:off x="6949440" y="21031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2" name="Shape 19"/>
          <p:cNvSpPr/>
          <p:nvPr/>
        </p:nvSpPr>
        <p:spPr>
          <a:xfrm>
            <a:off x="8869680" y="21031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3" name="Shape 20"/>
          <p:cNvSpPr/>
          <p:nvPr/>
        </p:nvSpPr>
        <p:spPr>
          <a:xfrm>
            <a:off x="822960" y="260604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4" name="Shape 21"/>
          <p:cNvSpPr/>
          <p:nvPr/>
        </p:nvSpPr>
        <p:spPr>
          <a:xfrm>
            <a:off x="2743200" y="2606040"/>
            <a:ext cx="2286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5" name="Shape 22"/>
          <p:cNvSpPr/>
          <p:nvPr/>
        </p:nvSpPr>
        <p:spPr>
          <a:xfrm>
            <a:off x="5029200" y="260604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6" name="Shape 23"/>
          <p:cNvSpPr/>
          <p:nvPr/>
        </p:nvSpPr>
        <p:spPr>
          <a:xfrm>
            <a:off x="6949440" y="260604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7" name="Shape 24"/>
          <p:cNvSpPr/>
          <p:nvPr/>
        </p:nvSpPr>
        <p:spPr>
          <a:xfrm>
            <a:off x="8869680" y="260604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8" name="Shape 25"/>
          <p:cNvSpPr/>
          <p:nvPr/>
        </p:nvSpPr>
        <p:spPr>
          <a:xfrm>
            <a:off x="822960" y="310896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9" name="Shape 26"/>
          <p:cNvSpPr/>
          <p:nvPr/>
        </p:nvSpPr>
        <p:spPr>
          <a:xfrm>
            <a:off x="2743200" y="3108960"/>
            <a:ext cx="2286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0" name="Shape 27"/>
          <p:cNvSpPr/>
          <p:nvPr/>
        </p:nvSpPr>
        <p:spPr>
          <a:xfrm>
            <a:off x="5029200" y="310896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1" name="Shape 28"/>
          <p:cNvSpPr/>
          <p:nvPr/>
        </p:nvSpPr>
        <p:spPr>
          <a:xfrm>
            <a:off x="6949440" y="310896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2" name="Shape 29"/>
          <p:cNvSpPr/>
          <p:nvPr/>
        </p:nvSpPr>
        <p:spPr>
          <a:xfrm>
            <a:off x="8869680" y="310896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3" name="Shape 30"/>
          <p:cNvSpPr/>
          <p:nvPr/>
        </p:nvSpPr>
        <p:spPr>
          <a:xfrm>
            <a:off x="822960" y="361188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4" name="Shape 31"/>
          <p:cNvSpPr/>
          <p:nvPr/>
        </p:nvSpPr>
        <p:spPr>
          <a:xfrm>
            <a:off x="2743200" y="3611880"/>
            <a:ext cx="2286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5" name="Shape 32"/>
          <p:cNvSpPr/>
          <p:nvPr/>
        </p:nvSpPr>
        <p:spPr>
          <a:xfrm>
            <a:off x="5029200" y="361188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6" name="Shape 33"/>
          <p:cNvSpPr/>
          <p:nvPr/>
        </p:nvSpPr>
        <p:spPr>
          <a:xfrm>
            <a:off x="6949440" y="361188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7" name="Shape 34"/>
          <p:cNvSpPr/>
          <p:nvPr/>
        </p:nvSpPr>
        <p:spPr>
          <a:xfrm>
            <a:off x="8869680" y="361188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8" name="Shape 35"/>
          <p:cNvSpPr/>
          <p:nvPr/>
        </p:nvSpPr>
        <p:spPr>
          <a:xfrm>
            <a:off x="822960" y="411480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9" name="Shape 36"/>
          <p:cNvSpPr/>
          <p:nvPr/>
        </p:nvSpPr>
        <p:spPr>
          <a:xfrm>
            <a:off x="2743200" y="4114800"/>
            <a:ext cx="2286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0" name="Shape 37"/>
          <p:cNvSpPr/>
          <p:nvPr/>
        </p:nvSpPr>
        <p:spPr>
          <a:xfrm>
            <a:off x="5029200" y="411480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1" name="Shape 38"/>
          <p:cNvSpPr/>
          <p:nvPr/>
        </p:nvSpPr>
        <p:spPr>
          <a:xfrm>
            <a:off x="6949440" y="411480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2" name="Shape 39"/>
          <p:cNvSpPr/>
          <p:nvPr/>
        </p:nvSpPr>
        <p:spPr>
          <a:xfrm>
            <a:off x="8869680" y="411480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3" name="Shape 40"/>
          <p:cNvSpPr/>
          <p:nvPr/>
        </p:nvSpPr>
        <p:spPr>
          <a:xfrm>
            <a:off x="822960" y="46177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4" name="Shape 41"/>
          <p:cNvSpPr/>
          <p:nvPr/>
        </p:nvSpPr>
        <p:spPr>
          <a:xfrm>
            <a:off x="2743200" y="4617720"/>
            <a:ext cx="2286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5" name="Shape 42"/>
          <p:cNvSpPr/>
          <p:nvPr/>
        </p:nvSpPr>
        <p:spPr>
          <a:xfrm>
            <a:off x="5029200" y="46177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6" name="Shape 43"/>
          <p:cNvSpPr/>
          <p:nvPr/>
        </p:nvSpPr>
        <p:spPr>
          <a:xfrm>
            <a:off x="6949440" y="46177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7" name="Shape 44"/>
          <p:cNvSpPr/>
          <p:nvPr/>
        </p:nvSpPr>
        <p:spPr>
          <a:xfrm>
            <a:off x="8869680" y="46177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8" name="Text 45"/>
          <p:cNvSpPr/>
          <p:nvPr/>
        </p:nvSpPr>
        <p:spPr>
          <a:xfrm>
            <a:off x="1097280" y="5349240"/>
            <a:ext cx="9875520" cy="310896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Ask: “What do you want to buy?” → “How much?” → Write one price.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36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Listening 2: The Busy Shop Club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Students listen for names, items, and prices.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005840" y="1600200"/>
            <a:ext cx="1920240" cy="59436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1051560" y="1691640"/>
            <a:ext cx="1828800" cy="47548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26080" y="1600200"/>
            <a:ext cx="2468880" cy="59436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1" name="Text 8"/>
          <p:cNvSpPr/>
          <p:nvPr/>
        </p:nvSpPr>
        <p:spPr>
          <a:xfrm>
            <a:off x="2971800" y="1691640"/>
            <a:ext cx="2377440" cy="47548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Item 1</a:t>
            </a:r>
          </a:p>
        </p:txBody>
      </p:sp>
      <p:sp>
        <p:nvSpPr>
          <p:cNvPr id="12" name="Shape 9"/>
          <p:cNvSpPr/>
          <p:nvPr/>
        </p:nvSpPr>
        <p:spPr>
          <a:xfrm>
            <a:off x="5394960" y="1600200"/>
            <a:ext cx="1920240" cy="59436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5440680" y="1691640"/>
            <a:ext cx="1828800" cy="47548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Price</a:t>
            </a:r>
          </a:p>
        </p:txBody>
      </p:sp>
      <p:sp>
        <p:nvSpPr>
          <p:cNvPr id="14" name="Shape 11"/>
          <p:cNvSpPr/>
          <p:nvPr/>
        </p:nvSpPr>
        <p:spPr>
          <a:xfrm>
            <a:off x="7315200" y="1600200"/>
            <a:ext cx="2468880" cy="59436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5" name="Text 12"/>
          <p:cNvSpPr/>
          <p:nvPr/>
        </p:nvSpPr>
        <p:spPr>
          <a:xfrm>
            <a:off x="7360920" y="1691640"/>
            <a:ext cx="2377440" cy="47548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Item 2</a:t>
            </a:r>
          </a:p>
        </p:txBody>
      </p:sp>
      <p:sp>
        <p:nvSpPr>
          <p:cNvPr id="16" name="Shape 13"/>
          <p:cNvSpPr/>
          <p:nvPr/>
        </p:nvSpPr>
        <p:spPr>
          <a:xfrm>
            <a:off x="1005840" y="219456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1051560" y="2286000"/>
            <a:ext cx="1828800" cy="475488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dirty="0" b="1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Lily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926080" y="219456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9" name="Shape 16"/>
          <p:cNvSpPr/>
          <p:nvPr/>
        </p:nvSpPr>
        <p:spPr>
          <a:xfrm>
            <a:off x="5394960" y="219456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0" name="Shape 17"/>
          <p:cNvSpPr/>
          <p:nvPr/>
        </p:nvSpPr>
        <p:spPr>
          <a:xfrm>
            <a:off x="7315200" y="219456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Shape 18"/>
          <p:cNvSpPr/>
          <p:nvPr/>
        </p:nvSpPr>
        <p:spPr>
          <a:xfrm>
            <a:off x="1005840" y="278892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2" name="Text 19"/>
          <p:cNvSpPr/>
          <p:nvPr/>
        </p:nvSpPr>
        <p:spPr>
          <a:xfrm>
            <a:off x="1051560" y="2880360"/>
            <a:ext cx="1828800" cy="475488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dirty="0" b="1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Ben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926080" y="278892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4" name="Shape 21"/>
          <p:cNvSpPr/>
          <p:nvPr/>
        </p:nvSpPr>
        <p:spPr>
          <a:xfrm>
            <a:off x="5394960" y="278892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5" name="Shape 22"/>
          <p:cNvSpPr/>
          <p:nvPr/>
        </p:nvSpPr>
        <p:spPr>
          <a:xfrm>
            <a:off x="7315200" y="278892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6" name="Shape 23"/>
          <p:cNvSpPr/>
          <p:nvPr/>
        </p:nvSpPr>
        <p:spPr>
          <a:xfrm>
            <a:off x="1005840" y="338328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7" name="Text 24"/>
          <p:cNvSpPr/>
          <p:nvPr/>
        </p:nvSpPr>
        <p:spPr>
          <a:xfrm>
            <a:off x="1051560" y="3474720"/>
            <a:ext cx="1828800" cy="475488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dirty="0" b="1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Sara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926080" y="338328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9" name="Shape 26"/>
          <p:cNvSpPr/>
          <p:nvPr/>
        </p:nvSpPr>
        <p:spPr>
          <a:xfrm>
            <a:off x="5394960" y="338328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0" name="Shape 27"/>
          <p:cNvSpPr/>
          <p:nvPr/>
        </p:nvSpPr>
        <p:spPr>
          <a:xfrm>
            <a:off x="7315200" y="338328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1" name="Shape 28"/>
          <p:cNvSpPr/>
          <p:nvPr/>
        </p:nvSpPr>
        <p:spPr>
          <a:xfrm>
            <a:off x="1005840" y="397764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2" name="Shape 29"/>
          <p:cNvSpPr/>
          <p:nvPr/>
        </p:nvSpPr>
        <p:spPr>
          <a:xfrm>
            <a:off x="2926080" y="397764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3" name="Shape 30"/>
          <p:cNvSpPr/>
          <p:nvPr/>
        </p:nvSpPr>
        <p:spPr>
          <a:xfrm>
            <a:off x="5394960" y="397764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4" name="Shape 31"/>
          <p:cNvSpPr/>
          <p:nvPr/>
        </p:nvSpPr>
        <p:spPr>
          <a:xfrm>
            <a:off x="7315200" y="397764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5" name="Text 32"/>
          <p:cNvSpPr/>
          <p:nvPr/>
        </p:nvSpPr>
        <p:spPr>
          <a:xfrm>
            <a:off x="2377440" y="5349240"/>
            <a:ext cx="7315200" cy="310896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Share answers with your partner before teacher feedback.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4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What Do They Buy?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Look at the picture. Choose an item and make a sentence.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00" dirty="0"/>
          </a:p>
        </p:txBody>
      </p:sp>
      <p:sp>
        <p:nvSpPr>
          <p:cNvPr id="26" name="Rounded Rectangle 25"/>
          <p:cNvSpPr/>
          <p:nvPr/>
        </p:nvSpPr>
        <p:spPr>
          <a:xfrm>
            <a:off x="448056" y="1179576"/>
            <a:ext cx="4681728" cy="36301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mage 0" descr="/mnt/data/a_bright_colorful_classroom_scene_illustrated_in_batch_4.png">    </p:cNvPr>
          <p:cNvPicPr>
            <a:picLocks noChangeAspect="1"/>
          </p:cNvPicPr>
          <p:nvPr/>
        </p:nvPicPr>
        <p:blipFill>
          <a:blip r:embed="rId1"/>
          <a:srcRect l="1199" r="1199" t="0" b="0"/>
          <a:stretch/>
        </p:blipFill>
        <p:spPr>
          <a:xfrm>
            <a:off x="502920" y="1234440"/>
            <a:ext cx="4572000" cy="35204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" y="1444752"/>
            <a:ext cx="4343400" cy="3337560"/>
          </a:xfrm>
          <a:prstGeom prst="roundRect">
            <a:avLst>
              <a:gd name="adj" fmla="val 1918"/>
            </a:avLst>
          </a:prstGeom>
          <a:solidFill>
            <a:srgbClr val="FFF0B4">
              <a:alpha val="0"/>
            </a:srgbClr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0" name="Text 6"/>
          <p:cNvSpPr/>
          <p:nvPr/>
        </p:nvSpPr>
        <p:spPr>
          <a:xfrm>
            <a:off x="612648" y="4855464"/>
            <a:ext cx="4343400" cy="182880"/>
          </a:xfrm>
          <a:prstGeom prst="rect">
            <a:avLst/>
          </a:prstGeom>
          <a:solidFill>
            <a:srgbClr val="FFFFFF"/>
          </a:solidFill>
          <a:ln w="14604">
            <a:solidFill>
              <a:srgbClr val="FFE1A5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00" b="0">
                <a:solidFill>
                  <a:srgbClr val="566269"/>
                </a:solidFill>
                <a:latin typeface="Aptos"/>
              </a:rPr>
              <a:t>New picture prompt: students shopping</a:t>
            </a:r>
          </a:p>
        </p:txBody>
      </p:sp>
      <p:sp>
        <p:nvSpPr>
          <p:cNvPr id="11" name="Shape 7"/>
          <p:cNvSpPr/>
          <p:nvPr/>
        </p:nvSpPr>
        <p:spPr>
          <a:xfrm>
            <a:off x="5532120" y="1572768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2" name="Text 8"/>
          <p:cNvSpPr/>
          <p:nvPr/>
        </p:nvSpPr>
        <p:spPr>
          <a:xfrm>
            <a:off x="5696712" y="1755648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245352" y="1773936"/>
            <a:ext cx="388620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He buys a pencil for one dollar.</a:t>
            </a:r>
          </a:p>
        </p:txBody>
      </p:sp>
      <p:sp>
        <p:nvSpPr>
          <p:cNvPr id="14" name="Shape 10"/>
          <p:cNvSpPr/>
          <p:nvPr/>
        </p:nvSpPr>
        <p:spPr>
          <a:xfrm>
            <a:off x="5532120" y="2487168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5" name="Text 11"/>
          <p:cNvSpPr/>
          <p:nvPr/>
        </p:nvSpPr>
        <p:spPr>
          <a:xfrm>
            <a:off x="5696712" y="267004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245352" y="2688336"/>
            <a:ext cx="38862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She buys juice for two dollars.</a:t>
            </a:r>
          </a:p>
        </p:txBody>
      </p:sp>
      <p:sp>
        <p:nvSpPr>
          <p:cNvPr id="17" name="Shape 13"/>
          <p:cNvSpPr/>
          <p:nvPr/>
        </p:nvSpPr>
        <p:spPr>
          <a:xfrm>
            <a:off x="5532120" y="3401568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8" name="Text 14"/>
          <p:cNvSpPr/>
          <p:nvPr/>
        </p:nvSpPr>
        <p:spPr>
          <a:xfrm>
            <a:off x="5696712" y="3584448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245352" y="3602736"/>
            <a:ext cx="388620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He asks: How much is it?</a:t>
            </a:r>
          </a:p>
        </p:txBody>
      </p:sp>
      <p:sp>
        <p:nvSpPr>
          <p:cNvPr id="20" name="Shape 16"/>
          <p:cNvSpPr/>
          <p:nvPr/>
        </p:nvSpPr>
        <p:spPr>
          <a:xfrm>
            <a:off x="5532120" y="4315968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7"/>
          <p:cNvSpPr/>
          <p:nvPr/>
        </p:nvSpPr>
        <p:spPr>
          <a:xfrm>
            <a:off x="5696712" y="4498848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245352" y="4517136"/>
            <a:ext cx="388620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She says thank you at the cashier.</a:t>
            </a:r>
          </a:p>
        </p:txBody>
      </p:sp>
      <p:sp>
        <p:nvSpPr>
          <p:cNvPr id="23" name="Text 19"/>
          <p:cNvSpPr/>
          <p:nvPr/>
        </p:nvSpPr>
        <p:spPr>
          <a:xfrm>
            <a:off x="5532120" y="5394960"/>
            <a:ext cx="4754880" cy="2743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Pair talk: “I think he / she buys…”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1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Team Challenge: Shopping Race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A fast review game before the final speaking task.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914400" y="182880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1078992" y="201168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🎭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27632" y="2029968"/>
            <a:ext cx="19202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Round 1</a:t>
            </a:r>
          </a:p>
        </p:txBody>
      </p:sp>
      <p:sp>
        <p:nvSpPr>
          <p:cNvPr id="11" name="Text 8"/>
          <p:cNvSpPr/>
          <p:nvPr/>
        </p:nvSpPr>
        <p:spPr>
          <a:xfrm>
            <a:off x="1097280" y="2542032"/>
            <a:ext cx="2423160" cy="11430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Teacher shows a card. Team says: I’d like _____.</a:t>
            </a:r>
          </a:p>
        </p:txBody>
      </p:sp>
      <p:sp>
        <p:nvSpPr>
          <p:cNvPr id="12" name="Shape 9"/>
          <p:cNvSpPr/>
          <p:nvPr/>
        </p:nvSpPr>
        <p:spPr>
          <a:xfrm>
            <a:off x="4572000" y="182880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4736592" y="201168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👂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285232" y="2029968"/>
            <a:ext cx="19202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Round 2</a:t>
            </a:r>
          </a:p>
        </p:txBody>
      </p:sp>
      <p:sp>
        <p:nvSpPr>
          <p:cNvPr id="15" name="Text 12"/>
          <p:cNvSpPr/>
          <p:nvPr/>
        </p:nvSpPr>
        <p:spPr>
          <a:xfrm>
            <a:off x="4754880" y="2542032"/>
            <a:ext cx="2423160" cy="11430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Teacher says a price. Team guesses the item.</a:t>
            </a:r>
          </a:p>
        </p:txBody>
      </p:sp>
      <p:sp>
        <p:nvSpPr>
          <p:cNvPr id="16" name="Shape 13"/>
          <p:cNvSpPr/>
          <p:nvPr/>
        </p:nvSpPr>
        <p:spPr>
          <a:xfrm>
            <a:off x="8229600" y="182880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8394192" y="201168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942832" y="2029968"/>
            <a:ext cx="19202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Round 3</a:t>
            </a:r>
          </a:p>
        </p:txBody>
      </p:sp>
      <p:sp>
        <p:nvSpPr>
          <p:cNvPr id="19" name="Text 16"/>
          <p:cNvSpPr/>
          <p:nvPr/>
        </p:nvSpPr>
        <p:spPr>
          <a:xfrm>
            <a:off x="8412480" y="2542032"/>
            <a:ext cx="2423160" cy="11430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One student asks: How much? Another answers.</a:t>
            </a:r>
          </a:p>
        </p:txBody>
      </p:sp>
      <p:sp>
        <p:nvSpPr>
          <p:cNvPr id="20" name="Text 17"/>
          <p:cNvSpPr/>
          <p:nvPr/>
        </p:nvSpPr>
        <p:spPr>
          <a:xfrm>
            <a:off x="1371600" y="4983480"/>
            <a:ext cx="9509760" cy="36576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Scoring: 1 point for clear English · 1 point for price · 1 point for teamwork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30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Mini Presentation: My Shopping List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Students speak for 20–30 seconds.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68680" y="1417320"/>
            <a:ext cx="54864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1234440" y="1691640"/>
            <a:ext cx="475488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600" b="0">
                <a:solidFill>
                  <a:srgbClr val="263138"/>
                </a:solidFill>
                <a:latin typeface="Aptos"/>
              </a:rPr>
              <a:t>Hello. My name is ____.</a:t>
            </a:r>
          </a:p>
        </p:txBody>
      </p:sp>
      <p:sp>
        <p:nvSpPr>
          <p:cNvPr id="10" name="Text 7"/>
          <p:cNvSpPr/>
          <p:nvPr/>
        </p:nvSpPr>
        <p:spPr>
          <a:xfrm>
            <a:off x="1234440" y="2167128"/>
            <a:ext cx="47548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want to buy _____.</a:t>
            </a:r>
          </a:p>
        </p:txBody>
      </p:sp>
      <p:sp>
        <p:nvSpPr>
          <p:cNvPr id="11" name="Text 8"/>
          <p:cNvSpPr/>
          <p:nvPr/>
        </p:nvSpPr>
        <p:spPr>
          <a:xfrm>
            <a:off x="1234440" y="2642616"/>
            <a:ext cx="47548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_____.</a:t>
            </a:r>
          </a:p>
        </p:txBody>
      </p:sp>
      <p:sp>
        <p:nvSpPr>
          <p:cNvPr id="12" name="Text 9"/>
          <p:cNvSpPr/>
          <p:nvPr/>
        </p:nvSpPr>
        <p:spPr>
          <a:xfrm>
            <a:off x="1234440" y="3118104"/>
            <a:ext cx="47548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Then I want _____.</a:t>
            </a:r>
          </a:p>
        </p:txBody>
      </p:sp>
      <p:sp>
        <p:nvSpPr>
          <p:cNvPr id="13" name="Text 10"/>
          <p:cNvSpPr/>
          <p:nvPr/>
        </p:nvSpPr>
        <p:spPr>
          <a:xfrm>
            <a:off x="1234440" y="3593592"/>
            <a:ext cx="47548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The total is _____.</a:t>
            </a:r>
          </a:p>
        </p:txBody>
      </p:sp>
      <p:sp>
        <p:nvSpPr>
          <p:cNvPr id="14" name="Text 11"/>
          <p:cNvSpPr/>
          <p:nvPr/>
        </p:nvSpPr>
        <p:spPr>
          <a:xfrm>
            <a:off x="1234440" y="4069080"/>
            <a:ext cx="47548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Thank you.</a:t>
            </a:r>
          </a:p>
        </p:txBody>
      </p:sp>
      <p:sp>
        <p:nvSpPr>
          <p:cNvPr id="15" name="Shape 12"/>
          <p:cNvSpPr/>
          <p:nvPr/>
        </p:nvSpPr>
        <p:spPr>
          <a:xfrm>
            <a:off x="6720840" y="141732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6" name="Text 13"/>
          <p:cNvSpPr/>
          <p:nvPr/>
        </p:nvSpPr>
        <p:spPr>
          <a:xfrm>
            <a:off x="6885432" y="160020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👀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434072" y="1618488"/>
            <a:ext cx="22402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Look up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20840" y="2130552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9" name="Text 16"/>
          <p:cNvSpPr/>
          <p:nvPr/>
        </p:nvSpPr>
        <p:spPr>
          <a:xfrm>
            <a:off x="6885432" y="2313432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🗣️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434072" y="2331720"/>
            <a:ext cx="22402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Speak clearly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720840" y="2843784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2" name="Text 19"/>
          <p:cNvSpPr/>
          <p:nvPr/>
        </p:nvSpPr>
        <p:spPr>
          <a:xfrm>
            <a:off x="6885432" y="3026664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434072" y="3044952"/>
            <a:ext cx="22402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Say prices</a:t>
            </a:r>
          </a:p>
        </p:txBody>
      </p:sp>
      <p:sp>
        <p:nvSpPr>
          <p:cNvPr id="24" name="Shape 21"/>
          <p:cNvSpPr/>
          <p:nvPr/>
        </p:nvSpPr>
        <p:spPr>
          <a:xfrm>
            <a:off x="6720840" y="3557016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5" name="Text 22"/>
          <p:cNvSpPr/>
          <p:nvPr/>
        </p:nvSpPr>
        <p:spPr>
          <a:xfrm>
            <a:off x="6885432" y="3739896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➡️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434072" y="3758184"/>
            <a:ext cx="224028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Use please</a:t>
            </a:r>
          </a:p>
        </p:txBody>
      </p:sp>
      <p:sp>
        <p:nvSpPr>
          <p:cNvPr id="27" name="Shape 24"/>
          <p:cNvSpPr/>
          <p:nvPr/>
        </p:nvSpPr>
        <p:spPr>
          <a:xfrm>
            <a:off x="6720840" y="4270248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8" name="Text 25"/>
          <p:cNvSpPr/>
          <p:nvPr/>
        </p:nvSpPr>
        <p:spPr>
          <a:xfrm>
            <a:off x="6885432" y="4453128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😊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434072" y="4471416"/>
            <a:ext cx="224028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Smile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5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Our Speaking Class Rules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Create a safe classroom when role-playing shopping.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68680" y="1691640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1033272" y="18745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81912" y="1892808"/>
            <a:ext cx="3520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Use English first.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404872"/>
            <a:ext cx="4023360" cy="52120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Even one word + please is okay.</a:t>
            </a:r>
          </a:p>
        </p:txBody>
      </p:sp>
      <p:sp>
        <p:nvSpPr>
          <p:cNvPr id="12" name="Shape 9"/>
          <p:cNvSpPr/>
          <p:nvPr/>
        </p:nvSpPr>
        <p:spPr>
          <a:xfrm>
            <a:off x="6126480" y="1691640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6291072" y="18745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39712" y="1892808"/>
            <a:ext cx="3520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Help your partner.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09360" y="2404872"/>
            <a:ext cx="4023360" cy="52120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15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Point, gesture, or whisper a word.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3447288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1033272" y="3630168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👂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81912" y="3648456"/>
            <a:ext cx="3520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Listen for prices.</a:t>
            </a:r>
          </a:p>
        </p:txBody>
      </p:sp>
      <p:sp>
        <p:nvSpPr>
          <p:cNvPr id="19" name="Text 16"/>
          <p:cNvSpPr/>
          <p:nvPr/>
        </p:nvSpPr>
        <p:spPr>
          <a:xfrm>
            <a:off x="1051560" y="4160520"/>
            <a:ext cx="4023360" cy="52120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Hear “one dollar” and “How much?”</a:t>
            </a:r>
          </a:p>
        </p:txBody>
      </p:sp>
      <p:sp>
        <p:nvSpPr>
          <p:cNvPr id="20" name="Shape 17"/>
          <p:cNvSpPr/>
          <p:nvPr/>
        </p:nvSpPr>
        <p:spPr>
          <a:xfrm>
            <a:off x="6126480" y="3447288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8"/>
          <p:cNvSpPr/>
          <p:nvPr/>
        </p:nvSpPr>
        <p:spPr>
          <a:xfrm>
            <a:off x="6291072" y="3630168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839712" y="3648456"/>
            <a:ext cx="3520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Mistakes help us learn.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09360" y="4160520"/>
            <a:ext cx="4023360" cy="52120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dirty="0" b="1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Try again with a smile.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743200" y="5349240"/>
            <a:ext cx="685800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Class chant: “Please. Price. Pay. Smile.”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6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Speaking Passport: Day 9 Stamp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indent="0" marL="0">
              <a:buNone/>
            </a:pPr>
            <a:r>
              <a:rPr lang="en-US" sz="1250" dirty="0" b="1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Self-check at the end.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22960" y="1417320"/>
            <a:ext cx="274320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Today I can…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1828800"/>
            <a:ext cx="4389120" cy="1024128"/>
          </a:xfrm>
          <a:prstGeom prst="roundRect">
            <a:avLst>
              <a:gd name="adj" fmla="val 7143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0" name="Text 7"/>
          <p:cNvSpPr/>
          <p:nvPr/>
        </p:nvSpPr>
        <p:spPr>
          <a:xfrm>
            <a:off x="1033272" y="201168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81912" y="2029968"/>
            <a:ext cx="3520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say an item</a:t>
            </a:r>
          </a:p>
        </p:txBody>
      </p:sp>
      <p:sp>
        <p:nvSpPr>
          <p:cNvPr id="12" name="Text 9"/>
          <p:cNvSpPr/>
          <p:nvPr/>
        </p:nvSpPr>
        <p:spPr>
          <a:xfrm>
            <a:off x="1051560" y="2542032"/>
            <a:ext cx="4023360" cy="24688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I’d like a pencil.</a:t>
            </a:r>
          </a:p>
        </p:txBody>
      </p:sp>
      <p:sp>
        <p:nvSpPr>
          <p:cNvPr id="13" name="Shape 10"/>
          <p:cNvSpPr/>
          <p:nvPr/>
        </p:nvSpPr>
        <p:spPr>
          <a:xfrm>
            <a:off x="6126480" y="1828800"/>
            <a:ext cx="4389120" cy="1024128"/>
          </a:xfrm>
          <a:prstGeom prst="roundRect">
            <a:avLst>
              <a:gd name="adj" fmla="val 7143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4" name="Text 11"/>
          <p:cNvSpPr/>
          <p:nvPr/>
        </p:nvSpPr>
        <p:spPr>
          <a:xfrm>
            <a:off x="6291072" y="201168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839712" y="2029968"/>
            <a:ext cx="3520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ask a friend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09360" y="2542032"/>
            <a:ext cx="4023360" cy="24688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How much is it?</a:t>
            </a:r>
          </a:p>
        </p:txBody>
      </p:sp>
      <p:sp>
        <p:nvSpPr>
          <p:cNvPr id="17" name="Shape 14"/>
          <p:cNvSpPr/>
          <p:nvPr/>
        </p:nvSpPr>
        <p:spPr>
          <a:xfrm>
            <a:off x="868680" y="3291840"/>
            <a:ext cx="4389120" cy="1024128"/>
          </a:xfrm>
          <a:prstGeom prst="roundRect">
            <a:avLst>
              <a:gd name="adj" fmla="val 7143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8" name="Text 15"/>
          <p:cNvSpPr/>
          <p:nvPr/>
        </p:nvSpPr>
        <p:spPr>
          <a:xfrm>
            <a:off x="1033272" y="34747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➡️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581912" y="3493008"/>
            <a:ext cx="3520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use polite words</a:t>
            </a:r>
          </a:p>
        </p:txBody>
      </p:sp>
      <p:sp>
        <p:nvSpPr>
          <p:cNvPr id="20" name="Text 17"/>
          <p:cNvSpPr/>
          <p:nvPr/>
        </p:nvSpPr>
        <p:spPr>
          <a:xfrm>
            <a:off x="1051560" y="4005072"/>
            <a:ext cx="4023360" cy="24688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please and thank you</a:t>
            </a:r>
          </a:p>
        </p:txBody>
      </p:sp>
      <p:sp>
        <p:nvSpPr>
          <p:cNvPr id="21" name="Shape 18"/>
          <p:cNvSpPr/>
          <p:nvPr/>
        </p:nvSpPr>
        <p:spPr>
          <a:xfrm>
            <a:off x="6126480" y="3291840"/>
            <a:ext cx="4389120" cy="1024128"/>
          </a:xfrm>
          <a:prstGeom prst="roundRect">
            <a:avLst>
              <a:gd name="adj" fmla="val 7143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2" name="Text 19"/>
          <p:cNvSpPr/>
          <p:nvPr/>
        </p:nvSpPr>
        <p:spPr>
          <a:xfrm>
            <a:off x="6291072" y="34747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839712" y="3493008"/>
            <a:ext cx="35204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say the price</a:t>
            </a:r>
          </a:p>
        </p:txBody>
      </p:sp>
      <p:sp>
        <p:nvSpPr>
          <p:cNvPr id="24" name="Text 21"/>
          <p:cNvSpPr/>
          <p:nvPr/>
        </p:nvSpPr>
        <p:spPr>
          <a:xfrm>
            <a:off x="6309360" y="4005072"/>
            <a:ext cx="4023360" cy="246888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two dollars.</a:t>
            </a:r>
          </a:p>
        </p:txBody>
      </p:sp>
      <p:sp>
        <p:nvSpPr>
          <p:cNvPr id="25" name="Text 22"/>
          <p:cNvSpPr/>
          <p:nvPr/>
        </p:nvSpPr>
        <p:spPr>
          <a:xfrm>
            <a:off x="2103120" y="5440680"/>
            <a:ext cx="804672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Circle one:  🙂 I can do it   😐 I need practice   🙁 I need help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1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Exit Ticket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A quick closing shopping task.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143000" y="19659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1307592" y="214884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56232" y="2167128"/>
            <a:ext cx="187452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Say one item</a:t>
            </a:r>
          </a:p>
        </p:txBody>
      </p:sp>
      <p:sp>
        <p:nvSpPr>
          <p:cNvPr id="11" name="Text 8"/>
          <p:cNvSpPr/>
          <p:nvPr/>
        </p:nvSpPr>
        <p:spPr>
          <a:xfrm>
            <a:off x="1325880" y="2679192"/>
            <a:ext cx="2377440" cy="11887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“I’d like a pencil.”</a:t>
            </a:r>
          </a:p>
        </p:txBody>
      </p:sp>
      <p:sp>
        <p:nvSpPr>
          <p:cNvPr id="12" name="Shape 9"/>
          <p:cNvSpPr/>
          <p:nvPr/>
        </p:nvSpPr>
        <p:spPr>
          <a:xfrm>
            <a:off x="4663440" y="19659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4828032" y="214884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376672" y="2167128"/>
            <a:ext cx="187452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Add one price</a:t>
            </a:r>
          </a:p>
        </p:txBody>
      </p:sp>
      <p:sp>
        <p:nvSpPr>
          <p:cNvPr id="15" name="Text 12"/>
          <p:cNvSpPr/>
          <p:nvPr/>
        </p:nvSpPr>
        <p:spPr>
          <a:xfrm>
            <a:off x="4846320" y="2679192"/>
            <a:ext cx="2377440" cy="11887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“It is two dollars.”</a:t>
            </a:r>
          </a:p>
        </p:txBody>
      </p:sp>
      <p:sp>
        <p:nvSpPr>
          <p:cNvPr id="16" name="Shape 13"/>
          <p:cNvSpPr/>
          <p:nvPr/>
        </p:nvSpPr>
        <p:spPr>
          <a:xfrm>
            <a:off x="8183880" y="19659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8348472" y="214884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➡️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897112" y="2167128"/>
            <a:ext cx="187452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Add polite words</a:t>
            </a:r>
          </a:p>
        </p:txBody>
      </p:sp>
      <p:sp>
        <p:nvSpPr>
          <p:cNvPr id="19" name="Text 16"/>
          <p:cNvSpPr/>
          <p:nvPr/>
        </p:nvSpPr>
        <p:spPr>
          <a:xfrm>
            <a:off x="8366760" y="2679192"/>
            <a:ext cx="2377440" cy="11887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“Please and thank you.”</a:t>
            </a:r>
          </a:p>
        </p:txBody>
      </p:sp>
      <p:sp>
        <p:nvSpPr>
          <p:cNvPr id="20" name="Text 17"/>
          <p:cNvSpPr/>
          <p:nvPr/>
        </p:nvSpPr>
        <p:spPr>
          <a:xfrm>
            <a:off x="2194560" y="5120640"/>
            <a:ext cx="7772400" cy="2743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Teacher says goodbye using each student’s name when possible.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47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</a:ln>
        </p:spPr>
        <p:txBody>
          <a:bodyPr wrap="square" lIns="41148" tIns="41148" rIns="41148" bIns="41148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Teacher Quick Assessment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Use this to understand your students after class 9.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00" dirty="0"/>
          </a:p>
        </p:txBody>
      </p:sp>
      <p:sp>
        <p:nvSpPr>
          <p:cNvPr id="49" name="Rounded Rectangle 48"/>
          <p:cNvSpPr/>
          <p:nvPr/>
        </p:nvSpPr>
        <p:spPr>
          <a:xfrm>
            <a:off x="448056" y="1243584"/>
            <a:ext cx="4270248" cy="3310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F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mage 0" descr="/mnt/data/a_bright_warm_cartoon_illustration_style_collage.png">    </p:cNvPr>
          <p:cNvPicPr>
            <a:picLocks noChangeAspect="1"/>
          </p:cNvPicPr>
          <p:nvPr/>
        </p:nvPicPr>
        <p:blipFill>
          <a:blip r:embed="rId1"/>
          <a:srcRect l="1199" r="1199" t="0" b="0"/>
          <a:stretch/>
        </p:blipFill>
        <p:spPr>
          <a:xfrm>
            <a:off x="502920" y="1298448"/>
            <a:ext cx="4160520" cy="3200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" y="1444752"/>
            <a:ext cx="4343400" cy="3337560"/>
          </a:xfrm>
          <a:prstGeom prst="roundRect">
            <a:avLst>
              <a:gd name="adj" fmla="val 1918"/>
            </a:avLst>
          </a:prstGeom>
          <a:solidFill>
            <a:srgbClr val="FFFFFF">
              <a:alpha val="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0" name="Text 6"/>
          <p:cNvSpPr/>
          <p:nvPr/>
        </p:nvSpPr>
        <p:spPr>
          <a:xfrm>
            <a:off x="612648" y="4855464"/>
            <a:ext cx="4343400" cy="182880"/>
          </a:xfrm>
          <a:prstGeom prst="rect">
            <a:avLst/>
          </a:prstGeom>
          <a:solidFill>
            <a:srgbClr val="FFFFFF"/>
          </a:solidFill>
          <a:ln w="14604">
            <a:solidFill>
              <a:srgbClr val="FFE1A5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00" b="0">
                <a:solidFill>
                  <a:srgbClr val="566269"/>
                </a:solidFill>
                <a:latin typeface="Aptos"/>
              </a:rPr>
              <a:t>New image: shopping speaking activity</a:t>
            </a:r>
          </a:p>
        </p:txBody>
      </p:sp>
      <p:sp>
        <p:nvSpPr>
          <p:cNvPr id="11" name="Shape 7"/>
          <p:cNvSpPr/>
          <p:nvPr/>
        </p:nvSpPr>
        <p:spPr>
          <a:xfrm>
            <a:off x="5230368" y="1508760"/>
            <a:ext cx="1325880" cy="5029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2" name="Text 8"/>
          <p:cNvSpPr/>
          <p:nvPr/>
        </p:nvSpPr>
        <p:spPr>
          <a:xfrm>
            <a:off x="5276088" y="1600200"/>
            <a:ext cx="1234440" cy="38404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556248" y="1508760"/>
            <a:ext cx="1143000" cy="5029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4" name="Text 10"/>
          <p:cNvSpPr/>
          <p:nvPr/>
        </p:nvSpPr>
        <p:spPr>
          <a:xfrm>
            <a:off x="6601968" y="1600200"/>
            <a:ext cx="1051560" cy="38404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Can ask for item</a:t>
            </a:r>
          </a:p>
        </p:txBody>
      </p:sp>
      <p:sp>
        <p:nvSpPr>
          <p:cNvPr id="15" name="Shape 11"/>
          <p:cNvSpPr/>
          <p:nvPr/>
        </p:nvSpPr>
        <p:spPr>
          <a:xfrm>
            <a:off x="7699248" y="1508760"/>
            <a:ext cx="1325880" cy="5029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6" name="Text 12"/>
          <p:cNvSpPr/>
          <p:nvPr/>
        </p:nvSpPr>
        <p:spPr>
          <a:xfrm>
            <a:off x="7744968" y="1600200"/>
            <a:ext cx="1234440" cy="38404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Can say price</a:t>
            </a:r>
          </a:p>
        </p:txBody>
      </p:sp>
      <p:sp>
        <p:nvSpPr>
          <p:cNvPr id="17" name="Shape 13"/>
          <p:cNvSpPr/>
          <p:nvPr/>
        </p:nvSpPr>
        <p:spPr>
          <a:xfrm>
            <a:off x="9025128" y="1508760"/>
            <a:ext cx="1325880" cy="5029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8" name="Text 14"/>
          <p:cNvSpPr/>
          <p:nvPr/>
        </p:nvSpPr>
        <p:spPr>
          <a:xfrm>
            <a:off x="9070848" y="1600200"/>
            <a:ext cx="1234440" cy="38404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Can role-play</a:t>
            </a:r>
          </a:p>
        </p:txBody>
      </p:sp>
      <p:sp>
        <p:nvSpPr>
          <p:cNvPr id="19" name="Shape 15"/>
          <p:cNvSpPr/>
          <p:nvPr/>
        </p:nvSpPr>
        <p:spPr>
          <a:xfrm>
            <a:off x="10351008" y="1508760"/>
            <a:ext cx="1143000" cy="5029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0" name="Text 16"/>
          <p:cNvSpPr/>
          <p:nvPr/>
        </p:nvSpPr>
        <p:spPr>
          <a:xfrm>
            <a:off x="10396728" y="1600200"/>
            <a:ext cx="1051560" cy="384048"/>
          </a:xfrm>
          <a:prstGeom prst="rect">
            <a:avLst/>
          </a:prstGeom>
          <a:solidFill>
            <a:srgbClr val="009EAE"/>
          </a:solidFill>
          <a:ln w="14604">
            <a:solidFill>
              <a:srgbClr val="005866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Support needed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230368" y="201168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2" name="Shape 18"/>
          <p:cNvSpPr/>
          <p:nvPr/>
        </p:nvSpPr>
        <p:spPr>
          <a:xfrm>
            <a:off x="6556248" y="201168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3" name="Shape 19"/>
          <p:cNvSpPr/>
          <p:nvPr/>
        </p:nvSpPr>
        <p:spPr>
          <a:xfrm>
            <a:off x="7699248" y="201168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4" name="Shape 20"/>
          <p:cNvSpPr/>
          <p:nvPr/>
        </p:nvSpPr>
        <p:spPr>
          <a:xfrm>
            <a:off x="9025128" y="201168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5" name="Shape 21"/>
          <p:cNvSpPr/>
          <p:nvPr/>
        </p:nvSpPr>
        <p:spPr>
          <a:xfrm>
            <a:off x="10351008" y="201168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6" name="Shape 22"/>
          <p:cNvSpPr/>
          <p:nvPr/>
        </p:nvSpPr>
        <p:spPr>
          <a:xfrm>
            <a:off x="5230368" y="251460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7" name="Shape 23"/>
          <p:cNvSpPr/>
          <p:nvPr/>
        </p:nvSpPr>
        <p:spPr>
          <a:xfrm>
            <a:off x="6556248" y="251460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8" name="Shape 24"/>
          <p:cNvSpPr/>
          <p:nvPr/>
        </p:nvSpPr>
        <p:spPr>
          <a:xfrm>
            <a:off x="7699248" y="251460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9" name="Shape 25"/>
          <p:cNvSpPr/>
          <p:nvPr/>
        </p:nvSpPr>
        <p:spPr>
          <a:xfrm>
            <a:off x="9025128" y="251460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0" name="Shape 26"/>
          <p:cNvSpPr/>
          <p:nvPr/>
        </p:nvSpPr>
        <p:spPr>
          <a:xfrm>
            <a:off x="10351008" y="251460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1" name="Shape 27"/>
          <p:cNvSpPr/>
          <p:nvPr/>
        </p:nvSpPr>
        <p:spPr>
          <a:xfrm>
            <a:off x="5230368" y="301752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2" name="Shape 28"/>
          <p:cNvSpPr/>
          <p:nvPr/>
        </p:nvSpPr>
        <p:spPr>
          <a:xfrm>
            <a:off x="6556248" y="301752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3" name="Shape 29"/>
          <p:cNvSpPr/>
          <p:nvPr/>
        </p:nvSpPr>
        <p:spPr>
          <a:xfrm>
            <a:off x="7699248" y="301752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4" name="Shape 30"/>
          <p:cNvSpPr/>
          <p:nvPr/>
        </p:nvSpPr>
        <p:spPr>
          <a:xfrm>
            <a:off x="9025128" y="301752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5" name="Shape 31"/>
          <p:cNvSpPr/>
          <p:nvPr/>
        </p:nvSpPr>
        <p:spPr>
          <a:xfrm>
            <a:off x="10351008" y="301752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6" name="Shape 32"/>
          <p:cNvSpPr/>
          <p:nvPr/>
        </p:nvSpPr>
        <p:spPr>
          <a:xfrm>
            <a:off x="5230368" y="352044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7" name="Shape 33"/>
          <p:cNvSpPr/>
          <p:nvPr/>
        </p:nvSpPr>
        <p:spPr>
          <a:xfrm>
            <a:off x="6556248" y="352044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8" name="Shape 34"/>
          <p:cNvSpPr/>
          <p:nvPr/>
        </p:nvSpPr>
        <p:spPr>
          <a:xfrm>
            <a:off x="7699248" y="352044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9" name="Shape 35"/>
          <p:cNvSpPr/>
          <p:nvPr/>
        </p:nvSpPr>
        <p:spPr>
          <a:xfrm>
            <a:off x="9025128" y="352044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0" name="Shape 36"/>
          <p:cNvSpPr/>
          <p:nvPr/>
        </p:nvSpPr>
        <p:spPr>
          <a:xfrm>
            <a:off x="10351008" y="352044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1" name="Shape 37"/>
          <p:cNvSpPr/>
          <p:nvPr/>
        </p:nvSpPr>
        <p:spPr>
          <a:xfrm>
            <a:off x="5230368" y="402336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2" name="Shape 38"/>
          <p:cNvSpPr/>
          <p:nvPr/>
        </p:nvSpPr>
        <p:spPr>
          <a:xfrm>
            <a:off x="6556248" y="402336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3" name="Shape 39"/>
          <p:cNvSpPr/>
          <p:nvPr/>
        </p:nvSpPr>
        <p:spPr>
          <a:xfrm>
            <a:off x="7699248" y="402336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4" name="Shape 40"/>
          <p:cNvSpPr/>
          <p:nvPr/>
        </p:nvSpPr>
        <p:spPr>
          <a:xfrm>
            <a:off x="9025128" y="402336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5" name="Shape 41"/>
          <p:cNvSpPr/>
          <p:nvPr/>
        </p:nvSpPr>
        <p:spPr>
          <a:xfrm>
            <a:off x="10351008" y="402336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14604">
            <a:solidFill>
              <a:srgbClr val="CFE8E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46" name="Text 42"/>
          <p:cNvSpPr/>
          <p:nvPr/>
        </p:nvSpPr>
        <p:spPr>
          <a:xfrm>
            <a:off x="5303520" y="5166360"/>
            <a:ext cx="6217920" cy="274320"/>
          </a:xfrm>
          <a:prstGeom prst="rect">
            <a:avLst/>
          </a:prstGeom>
          <a:solidFill>
            <a:srgbClr val="FFFFFF"/>
          </a:solidFill>
          <a:ln w="14604">
            <a:solidFill>
              <a:srgbClr val="CFE8E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After class, group students by confidence, price words, and dialogue control.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41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Printable Cards: Shop Items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indent="0" marL="0">
              <a:buNone/>
            </a:pPr>
            <a:r>
              <a:rPr lang="en-US" sz="115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Print this slide and cut into cards.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8580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850392" y="160020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99032" y="161848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want a pencil.</a:t>
            </a:r>
          </a:p>
        </p:txBody>
      </p:sp>
      <p:sp>
        <p:nvSpPr>
          <p:cNvPr id="11" name="Text 8"/>
          <p:cNvSpPr/>
          <p:nvPr/>
        </p:nvSpPr>
        <p:spPr>
          <a:xfrm>
            <a:off x="868680" y="213055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Ask: How much?</a:t>
            </a:r>
          </a:p>
        </p:txBody>
      </p:sp>
      <p:sp>
        <p:nvSpPr>
          <p:cNvPr id="12" name="Shape 9"/>
          <p:cNvSpPr/>
          <p:nvPr/>
        </p:nvSpPr>
        <p:spPr>
          <a:xfrm>
            <a:off x="352044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3685032" y="160020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🛏️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233672" y="161848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want a notebook.</a:t>
            </a:r>
          </a:p>
        </p:txBody>
      </p:sp>
      <p:sp>
        <p:nvSpPr>
          <p:cNvPr id="15" name="Text 12"/>
          <p:cNvSpPr/>
          <p:nvPr/>
        </p:nvSpPr>
        <p:spPr>
          <a:xfrm>
            <a:off x="3703320" y="213055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Ask: How much?</a:t>
            </a:r>
          </a:p>
        </p:txBody>
      </p:sp>
      <p:sp>
        <p:nvSpPr>
          <p:cNvPr id="16" name="Shape 13"/>
          <p:cNvSpPr/>
          <p:nvPr/>
        </p:nvSpPr>
        <p:spPr>
          <a:xfrm>
            <a:off x="635508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6519672" y="160020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🧥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068312" y="161848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want an eraser.</a:t>
            </a:r>
          </a:p>
        </p:txBody>
      </p:sp>
      <p:sp>
        <p:nvSpPr>
          <p:cNvPr id="19" name="Text 16"/>
          <p:cNvSpPr/>
          <p:nvPr/>
        </p:nvSpPr>
        <p:spPr>
          <a:xfrm>
            <a:off x="6537960" y="213055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Ask: How much?</a:t>
            </a:r>
          </a:p>
        </p:txBody>
      </p:sp>
      <p:sp>
        <p:nvSpPr>
          <p:cNvPr id="20" name="Shape 17"/>
          <p:cNvSpPr/>
          <p:nvPr/>
        </p:nvSpPr>
        <p:spPr>
          <a:xfrm>
            <a:off x="918972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8"/>
          <p:cNvSpPr/>
          <p:nvPr/>
        </p:nvSpPr>
        <p:spPr>
          <a:xfrm>
            <a:off x="9354312" y="160020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🪥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902952" y="161848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want a ruler.</a:t>
            </a:r>
          </a:p>
        </p:txBody>
      </p:sp>
      <p:sp>
        <p:nvSpPr>
          <p:cNvPr id="23" name="Text 20"/>
          <p:cNvSpPr/>
          <p:nvPr/>
        </p:nvSpPr>
        <p:spPr>
          <a:xfrm>
            <a:off x="9372600" y="213055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Ask: How much?</a:t>
            </a:r>
          </a:p>
        </p:txBody>
      </p:sp>
      <p:sp>
        <p:nvSpPr>
          <p:cNvPr id="24" name="Shape 21"/>
          <p:cNvSpPr/>
          <p:nvPr/>
        </p:nvSpPr>
        <p:spPr>
          <a:xfrm>
            <a:off x="68580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5" name="Text 22"/>
          <p:cNvSpPr/>
          <p:nvPr/>
        </p:nvSpPr>
        <p:spPr>
          <a:xfrm>
            <a:off x="850392" y="34747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399032" y="349300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want juice.</a:t>
            </a:r>
          </a:p>
        </p:txBody>
      </p:sp>
      <p:sp>
        <p:nvSpPr>
          <p:cNvPr id="27" name="Text 24"/>
          <p:cNvSpPr/>
          <p:nvPr/>
        </p:nvSpPr>
        <p:spPr>
          <a:xfrm>
            <a:off x="868680" y="400507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Ask: How much?</a:t>
            </a:r>
          </a:p>
        </p:txBody>
      </p:sp>
      <p:sp>
        <p:nvSpPr>
          <p:cNvPr id="28" name="Shape 25"/>
          <p:cNvSpPr/>
          <p:nvPr/>
        </p:nvSpPr>
        <p:spPr>
          <a:xfrm>
            <a:off x="352044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9" name="Text 26"/>
          <p:cNvSpPr/>
          <p:nvPr/>
        </p:nvSpPr>
        <p:spPr>
          <a:xfrm>
            <a:off x="3685032" y="34747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🎒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4233672" y="349300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want a sandwich.</a:t>
            </a:r>
          </a:p>
        </p:txBody>
      </p:sp>
      <p:sp>
        <p:nvSpPr>
          <p:cNvPr id="31" name="Text 28"/>
          <p:cNvSpPr/>
          <p:nvPr/>
        </p:nvSpPr>
        <p:spPr>
          <a:xfrm>
            <a:off x="3703320" y="400507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Ask: How much?</a:t>
            </a:r>
          </a:p>
        </p:txBody>
      </p:sp>
      <p:sp>
        <p:nvSpPr>
          <p:cNvPr id="32" name="Shape 29"/>
          <p:cNvSpPr/>
          <p:nvPr/>
        </p:nvSpPr>
        <p:spPr>
          <a:xfrm>
            <a:off x="635508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3" name="Text 30"/>
          <p:cNvSpPr/>
          <p:nvPr/>
        </p:nvSpPr>
        <p:spPr>
          <a:xfrm>
            <a:off x="6519672" y="34747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068312" y="349300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want a T-shirt.</a:t>
            </a:r>
          </a:p>
        </p:txBody>
      </p:sp>
      <p:sp>
        <p:nvSpPr>
          <p:cNvPr id="35" name="Text 32"/>
          <p:cNvSpPr/>
          <p:nvPr/>
        </p:nvSpPr>
        <p:spPr>
          <a:xfrm>
            <a:off x="6537960" y="400507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Ask: How much?</a:t>
            </a:r>
          </a:p>
        </p:txBody>
      </p:sp>
      <p:sp>
        <p:nvSpPr>
          <p:cNvPr id="36" name="Shape 33"/>
          <p:cNvSpPr/>
          <p:nvPr/>
        </p:nvSpPr>
        <p:spPr>
          <a:xfrm>
            <a:off x="918972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7" name="Text 34"/>
          <p:cNvSpPr/>
          <p:nvPr/>
        </p:nvSpPr>
        <p:spPr>
          <a:xfrm>
            <a:off x="9354312" y="34747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👋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9902952" y="349300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 want a toy.</a:t>
            </a:r>
          </a:p>
        </p:txBody>
      </p:sp>
      <p:sp>
        <p:nvSpPr>
          <p:cNvPr id="39" name="Text 36"/>
          <p:cNvSpPr/>
          <p:nvPr/>
        </p:nvSpPr>
        <p:spPr>
          <a:xfrm>
            <a:off x="9372600" y="400507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Ask: How much?</a:t>
            </a:r>
          </a:p>
        </p:txBody>
      </p:sp>
      <p:sp>
        <p:nvSpPr>
          <p:cNvPr id="40" name="Text 37"/>
          <p:cNvSpPr/>
          <p:nvPr/>
        </p:nvSpPr>
        <p:spPr>
          <a:xfrm>
            <a:off x="1828800" y="5623560"/>
            <a:ext cx="8595360" cy="2743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Teacher idea: Give one card to each student. They must add “please.”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41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Printable Cards: Prices &amp; Money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Students pick a card and finish the sentence.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8580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850392" y="160020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🍱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99032" y="1618488"/>
            <a:ext cx="14630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one dollar.</a:t>
            </a:r>
          </a:p>
        </p:txBody>
      </p:sp>
      <p:sp>
        <p:nvSpPr>
          <p:cNvPr id="11" name="Text 8"/>
          <p:cNvSpPr/>
          <p:nvPr/>
        </p:nvSpPr>
        <p:spPr>
          <a:xfrm>
            <a:off x="868680" y="2130552"/>
            <a:ext cx="196596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pay ____</a:t>
            </a:r>
          </a:p>
        </p:txBody>
      </p:sp>
      <p:sp>
        <p:nvSpPr>
          <p:cNvPr id="12" name="Shape 9"/>
          <p:cNvSpPr/>
          <p:nvPr/>
        </p:nvSpPr>
        <p:spPr>
          <a:xfrm>
            <a:off x="352044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3685032" y="160020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⚽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233672" y="1618488"/>
            <a:ext cx="14630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two dollars.</a:t>
            </a:r>
          </a:p>
        </p:txBody>
      </p:sp>
      <p:sp>
        <p:nvSpPr>
          <p:cNvPr id="15" name="Text 12"/>
          <p:cNvSpPr/>
          <p:nvPr/>
        </p:nvSpPr>
        <p:spPr>
          <a:xfrm>
            <a:off x="3703320" y="2130552"/>
            <a:ext cx="196596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pay ____</a:t>
            </a:r>
          </a:p>
        </p:txBody>
      </p:sp>
      <p:sp>
        <p:nvSpPr>
          <p:cNvPr id="16" name="Shape 13"/>
          <p:cNvSpPr/>
          <p:nvPr/>
        </p:nvSpPr>
        <p:spPr>
          <a:xfrm>
            <a:off x="635508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6519672" y="160020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068312" y="1618488"/>
            <a:ext cx="14630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five dollars.</a:t>
            </a:r>
          </a:p>
        </p:txBody>
      </p:sp>
      <p:sp>
        <p:nvSpPr>
          <p:cNvPr id="19" name="Text 16"/>
          <p:cNvSpPr/>
          <p:nvPr/>
        </p:nvSpPr>
        <p:spPr>
          <a:xfrm>
            <a:off x="6537960" y="2130552"/>
            <a:ext cx="196596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pay ____</a:t>
            </a:r>
          </a:p>
        </p:txBody>
      </p:sp>
      <p:sp>
        <p:nvSpPr>
          <p:cNvPr id="20" name="Shape 17"/>
          <p:cNvSpPr/>
          <p:nvPr/>
        </p:nvSpPr>
        <p:spPr>
          <a:xfrm>
            <a:off x="918972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8"/>
          <p:cNvSpPr/>
          <p:nvPr/>
        </p:nvSpPr>
        <p:spPr>
          <a:xfrm>
            <a:off x="9354312" y="160020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🍽️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902952" y="1618488"/>
            <a:ext cx="14630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ten yuan.</a:t>
            </a:r>
          </a:p>
        </p:txBody>
      </p:sp>
      <p:sp>
        <p:nvSpPr>
          <p:cNvPr id="23" name="Text 20"/>
          <p:cNvSpPr/>
          <p:nvPr/>
        </p:nvSpPr>
        <p:spPr>
          <a:xfrm>
            <a:off x="9372600" y="2130552"/>
            <a:ext cx="196596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pay ____</a:t>
            </a:r>
          </a:p>
        </p:txBody>
      </p:sp>
      <p:sp>
        <p:nvSpPr>
          <p:cNvPr id="24" name="Shape 21"/>
          <p:cNvSpPr/>
          <p:nvPr/>
        </p:nvSpPr>
        <p:spPr>
          <a:xfrm>
            <a:off x="68580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5" name="Text 22"/>
          <p:cNvSpPr/>
          <p:nvPr/>
        </p:nvSpPr>
        <p:spPr>
          <a:xfrm>
            <a:off x="850392" y="347472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🚿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399032" y="3493008"/>
            <a:ext cx="14630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six yuan.</a:t>
            </a:r>
          </a:p>
        </p:txBody>
      </p:sp>
      <p:sp>
        <p:nvSpPr>
          <p:cNvPr id="27" name="Text 24"/>
          <p:cNvSpPr/>
          <p:nvPr/>
        </p:nvSpPr>
        <p:spPr>
          <a:xfrm>
            <a:off x="868680" y="4005072"/>
            <a:ext cx="196596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pay ____</a:t>
            </a:r>
          </a:p>
        </p:txBody>
      </p:sp>
      <p:sp>
        <p:nvSpPr>
          <p:cNvPr id="28" name="Shape 25"/>
          <p:cNvSpPr/>
          <p:nvPr/>
        </p:nvSpPr>
        <p:spPr>
          <a:xfrm>
            <a:off x="352044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9" name="Text 26"/>
          <p:cNvSpPr/>
          <p:nvPr/>
        </p:nvSpPr>
        <p:spPr>
          <a:xfrm>
            <a:off x="3685032" y="347472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4233672" y="3493008"/>
            <a:ext cx="14630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eight yuan.</a:t>
            </a:r>
          </a:p>
        </p:txBody>
      </p:sp>
      <p:sp>
        <p:nvSpPr>
          <p:cNvPr id="31" name="Text 28"/>
          <p:cNvSpPr/>
          <p:nvPr/>
        </p:nvSpPr>
        <p:spPr>
          <a:xfrm>
            <a:off x="3703320" y="4005072"/>
            <a:ext cx="196596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pay ____</a:t>
            </a:r>
          </a:p>
        </p:txBody>
      </p:sp>
      <p:sp>
        <p:nvSpPr>
          <p:cNvPr id="32" name="Shape 29"/>
          <p:cNvSpPr/>
          <p:nvPr/>
        </p:nvSpPr>
        <p:spPr>
          <a:xfrm>
            <a:off x="635508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3" name="Text 30"/>
          <p:cNvSpPr/>
          <p:nvPr/>
        </p:nvSpPr>
        <p:spPr>
          <a:xfrm>
            <a:off x="6519672" y="347472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🧸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068312" y="3493008"/>
            <a:ext cx="14630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cheap.</a:t>
            </a:r>
          </a:p>
        </p:txBody>
      </p:sp>
      <p:sp>
        <p:nvSpPr>
          <p:cNvPr id="35" name="Text 32"/>
          <p:cNvSpPr/>
          <p:nvPr/>
        </p:nvSpPr>
        <p:spPr>
          <a:xfrm>
            <a:off x="6537960" y="4005072"/>
            <a:ext cx="196596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say why</a:t>
            </a:r>
          </a:p>
        </p:txBody>
      </p:sp>
      <p:sp>
        <p:nvSpPr>
          <p:cNvPr id="36" name="Shape 33"/>
          <p:cNvSpPr/>
          <p:nvPr/>
        </p:nvSpPr>
        <p:spPr>
          <a:xfrm>
            <a:off x="918972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EF8FC"/>
          </a:solidFill>
          <a:ln w="14604">
            <a:solidFill>
              <a:srgbClr val="009EAE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7" name="Text 34"/>
          <p:cNvSpPr/>
          <p:nvPr/>
        </p:nvSpPr>
        <p:spPr>
          <a:xfrm>
            <a:off x="9354312" y="3474720"/>
            <a:ext cx="41148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9902952" y="3493008"/>
            <a:ext cx="1463040" cy="22860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It is expensive.</a:t>
            </a:r>
          </a:p>
        </p:txBody>
      </p:sp>
      <p:sp>
        <p:nvSpPr>
          <p:cNvPr id="39" name="Text 36"/>
          <p:cNvSpPr/>
          <p:nvPr/>
        </p:nvSpPr>
        <p:spPr>
          <a:xfrm>
            <a:off x="9372600" y="4005072"/>
            <a:ext cx="1965960" cy="5486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say why</a:t>
            </a:r>
          </a:p>
        </p:txBody>
      </p:sp>
      <p:sp>
        <p:nvSpPr>
          <p:cNvPr id="40" name="Text 37"/>
          <p:cNvSpPr/>
          <p:nvPr/>
        </p:nvSpPr>
        <p:spPr>
          <a:xfrm>
            <a:off x="2834640" y="5623560"/>
            <a:ext cx="6583680" cy="2743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Extension: Students create one new price card.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41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Printable Cards: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indent="0" marL="0">
              <a:buNone/>
            </a:pPr>
            <a:r>
              <a:rPr lang="en-US" sz="115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Use for interviews, mingle, or small-group speaking.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8580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9" name="Text 6"/>
          <p:cNvSpPr/>
          <p:nvPr/>
        </p:nvSpPr>
        <p:spPr>
          <a:xfrm>
            <a:off x="850392" y="160020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99032" y="161848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Can I help you?</a:t>
            </a:r>
          </a:p>
        </p:txBody>
      </p:sp>
      <p:sp>
        <p:nvSpPr>
          <p:cNvPr id="11" name="Text 8"/>
          <p:cNvSpPr/>
          <p:nvPr/>
        </p:nvSpPr>
        <p:spPr>
          <a:xfrm>
            <a:off x="868680" y="213055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Answer with Yes, please</a:t>
            </a:r>
          </a:p>
        </p:txBody>
      </p:sp>
      <p:sp>
        <p:nvSpPr>
          <p:cNvPr id="12" name="Shape 9"/>
          <p:cNvSpPr/>
          <p:nvPr/>
        </p:nvSpPr>
        <p:spPr>
          <a:xfrm>
            <a:off x="352044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3" name="Text 10"/>
          <p:cNvSpPr/>
          <p:nvPr/>
        </p:nvSpPr>
        <p:spPr>
          <a:xfrm>
            <a:off x="3685032" y="160020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233672" y="161848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What would you like?</a:t>
            </a:r>
          </a:p>
        </p:txBody>
      </p:sp>
      <p:sp>
        <p:nvSpPr>
          <p:cNvPr id="15" name="Text 12"/>
          <p:cNvSpPr/>
          <p:nvPr/>
        </p:nvSpPr>
        <p:spPr>
          <a:xfrm>
            <a:off x="3703320" y="213055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Answer with I’d like ____</a:t>
            </a:r>
          </a:p>
        </p:txBody>
      </p:sp>
      <p:sp>
        <p:nvSpPr>
          <p:cNvPr id="16" name="Shape 13"/>
          <p:cNvSpPr/>
          <p:nvPr/>
        </p:nvSpPr>
        <p:spPr>
          <a:xfrm>
            <a:off x="635508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7" name="Text 14"/>
          <p:cNvSpPr/>
          <p:nvPr/>
        </p:nvSpPr>
        <p:spPr>
          <a:xfrm>
            <a:off x="6519672" y="160020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068312" y="161848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How much is it?</a:t>
            </a:r>
          </a:p>
        </p:txBody>
      </p:sp>
      <p:sp>
        <p:nvSpPr>
          <p:cNvPr id="19" name="Text 16"/>
          <p:cNvSpPr/>
          <p:nvPr/>
        </p:nvSpPr>
        <p:spPr>
          <a:xfrm>
            <a:off x="6537960" y="213055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Answer with It is ____</a:t>
            </a:r>
          </a:p>
        </p:txBody>
      </p:sp>
      <p:sp>
        <p:nvSpPr>
          <p:cNvPr id="20" name="Shape 17"/>
          <p:cNvSpPr/>
          <p:nvPr/>
        </p:nvSpPr>
        <p:spPr>
          <a:xfrm>
            <a:off x="918972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1" name="Text 18"/>
          <p:cNvSpPr/>
          <p:nvPr/>
        </p:nvSpPr>
        <p:spPr>
          <a:xfrm>
            <a:off x="9354312" y="160020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902952" y="161848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Do you want a bag?</a:t>
            </a:r>
          </a:p>
        </p:txBody>
      </p:sp>
      <p:sp>
        <p:nvSpPr>
          <p:cNvPr id="23" name="Text 20"/>
          <p:cNvSpPr/>
          <p:nvPr/>
        </p:nvSpPr>
        <p:spPr>
          <a:xfrm>
            <a:off x="9372600" y="213055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Answer with yes / no</a:t>
            </a:r>
          </a:p>
        </p:txBody>
      </p:sp>
      <p:sp>
        <p:nvSpPr>
          <p:cNvPr id="24" name="Shape 21"/>
          <p:cNvSpPr/>
          <p:nvPr/>
        </p:nvSpPr>
        <p:spPr>
          <a:xfrm>
            <a:off x="68580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5" name="Text 22"/>
          <p:cNvSpPr/>
          <p:nvPr/>
        </p:nvSpPr>
        <p:spPr>
          <a:xfrm>
            <a:off x="850392" y="34747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⚽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399032" y="349300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What color do you want?</a:t>
            </a:r>
          </a:p>
        </p:txBody>
      </p:sp>
      <p:sp>
        <p:nvSpPr>
          <p:cNvPr id="27" name="Text 24"/>
          <p:cNvSpPr/>
          <p:nvPr/>
        </p:nvSpPr>
        <p:spPr>
          <a:xfrm>
            <a:off x="868680" y="400507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Answer with I want ____</a:t>
            </a:r>
          </a:p>
        </p:txBody>
      </p:sp>
      <p:sp>
        <p:nvSpPr>
          <p:cNvPr id="28" name="Shape 25"/>
          <p:cNvSpPr/>
          <p:nvPr/>
        </p:nvSpPr>
        <p:spPr>
          <a:xfrm>
            <a:off x="352044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29" name="Text 26"/>
          <p:cNvSpPr/>
          <p:nvPr/>
        </p:nvSpPr>
        <p:spPr>
          <a:xfrm>
            <a:off x="3685032" y="34747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🍽️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4233672" y="349300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What size do you want?</a:t>
            </a:r>
          </a:p>
        </p:txBody>
      </p:sp>
      <p:sp>
        <p:nvSpPr>
          <p:cNvPr id="31" name="Text 28"/>
          <p:cNvSpPr/>
          <p:nvPr/>
        </p:nvSpPr>
        <p:spPr>
          <a:xfrm>
            <a:off x="3703320" y="400507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Answer with small / big</a:t>
            </a:r>
          </a:p>
        </p:txBody>
      </p:sp>
      <p:sp>
        <p:nvSpPr>
          <p:cNvPr id="32" name="Shape 29"/>
          <p:cNvSpPr/>
          <p:nvPr/>
        </p:nvSpPr>
        <p:spPr>
          <a:xfrm>
            <a:off x="635508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3" name="Text 30"/>
          <p:cNvSpPr/>
          <p:nvPr/>
        </p:nvSpPr>
        <p:spPr>
          <a:xfrm>
            <a:off x="6519672" y="34747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068312" y="349300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Where is the cashier?</a:t>
            </a:r>
          </a:p>
        </p:txBody>
      </p:sp>
      <p:sp>
        <p:nvSpPr>
          <p:cNvPr id="35" name="Text 32"/>
          <p:cNvSpPr/>
          <p:nvPr/>
        </p:nvSpPr>
        <p:spPr>
          <a:xfrm>
            <a:off x="6537960" y="400507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Answer with over there</a:t>
            </a:r>
          </a:p>
        </p:txBody>
      </p:sp>
      <p:sp>
        <p:nvSpPr>
          <p:cNvPr id="36" name="Shape 33"/>
          <p:cNvSpPr/>
          <p:nvPr/>
        </p:nvSpPr>
        <p:spPr>
          <a:xfrm>
            <a:off x="918972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37" name="Text 34"/>
          <p:cNvSpPr/>
          <p:nvPr/>
        </p:nvSpPr>
        <p:spPr>
          <a:xfrm>
            <a:off x="9354312" y="347472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➡️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9902952" y="3493008"/>
            <a:ext cx="146304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What do you want to buy?</a:t>
            </a:r>
          </a:p>
        </p:txBody>
      </p:sp>
      <p:sp>
        <p:nvSpPr>
          <p:cNvPr id="39" name="Text 36"/>
          <p:cNvSpPr/>
          <p:nvPr/>
        </p:nvSpPr>
        <p:spPr>
          <a:xfrm>
            <a:off x="9372600" y="4005072"/>
            <a:ext cx="1965960" cy="5486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Answer with I want ____</a:t>
            </a:r>
          </a:p>
        </p:txBody>
      </p:sp>
      <p:sp>
        <p:nvSpPr>
          <p:cNvPr id="40" name="Text 37"/>
          <p:cNvSpPr/>
          <p:nvPr/>
        </p:nvSpPr>
        <p:spPr>
          <a:xfrm>
            <a:off x="2834640" y="5623560"/>
            <a:ext cx="6583680" cy="2743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Extension: Students create one new question card.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esign title line"/>
          <p:cNvSpPr/>
          <p:nvPr/>
        </p:nvSpPr>
        <p:spPr>
          <a:xfrm>
            <a:off x="384048" y="1042415"/>
            <a:ext cx="9966960" cy="22860"/>
          </a:xfrm>
          <a:prstGeom prst="rect">
            <a:avLst/>
          </a:prstGeom>
          <a:solidFill>
            <a:srgbClr val="009EAE"/>
          </a:solidFill>
          <a:ln>
            <a:solidFill>
              <a:srgbClr val="009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2" name="Design accent bar"/>
          <p:cNvSpPr/>
          <p:nvPr/>
        </p:nvSpPr>
        <p:spPr>
          <a:xfrm>
            <a:off x="301752" y="246888"/>
            <a:ext cx="118872" cy="411480"/>
          </a:xfrm>
          <a:prstGeom prst="round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" rIns="41148" tIns="41148" bIns="41148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Home Practice</a:t>
            </a:r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Ask someone at home 3 questions.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r>
              <a:rPr sz="750" b="0">
                <a:solidFill>
                  <a:srgbClr val="005866"/>
                </a:solidFill>
                <a:latin typeface="Aptos"/>
              </a:rPr>
              <a:t>Shopping · Day 9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41148" tIns="41148" rIns="41148" bIns="41148" rtlCol="0" anchor="ctr"/>
          <a:lstStyle/>
          <a:p>
            <a:pPr algn="r" indent="0" marL="0">
              <a:buNone/>
            </a:pPr>
            <a:r>
              <a:rPr lang="en-US" sz="800" dirty="0" b="1">
                <a:solidFill>
                  <a:srgbClr val="00586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703320" y="1371600"/>
            <a:ext cx="493776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Use English with family or a friend.</a:t>
            </a:r>
          </a:p>
        </p:txBody>
      </p:sp>
      <p:sp>
        <p:nvSpPr>
          <p:cNvPr id="9" name="Shape 6"/>
          <p:cNvSpPr/>
          <p:nvPr/>
        </p:nvSpPr>
        <p:spPr>
          <a:xfrm>
            <a:off x="1143000" y="2011680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0" name="Text 7"/>
          <p:cNvSpPr/>
          <p:nvPr/>
        </p:nvSpPr>
        <p:spPr>
          <a:xfrm>
            <a:off x="1307592" y="219456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856232" y="2212848"/>
            <a:ext cx="187452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25880" y="2724912"/>
            <a:ext cx="2377440" cy="109728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What do you want to buy?</a:t>
            </a:r>
          </a:p>
        </p:txBody>
      </p:sp>
      <p:sp>
        <p:nvSpPr>
          <p:cNvPr id="13" name="Shape 10"/>
          <p:cNvSpPr/>
          <p:nvPr/>
        </p:nvSpPr>
        <p:spPr>
          <a:xfrm>
            <a:off x="4663440" y="2011680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4" name="Text 11"/>
          <p:cNvSpPr/>
          <p:nvPr/>
        </p:nvSpPr>
        <p:spPr>
          <a:xfrm>
            <a:off x="4828032" y="219456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🌆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376672" y="2212848"/>
            <a:ext cx="187452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46320" y="2724912"/>
            <a:ext cx="2377440" cy="109728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How much is it?</a:t>
            </a:r>
          </a:p>
        </p:txBody>
      </p:sp>
      <p:sp>
        <p:nvSpPr>
          <p:cNvPr id="17" name="Shape 14"/>
          <p:cNvSpPr/>
          <p:nvPr/>
        </p:nvSpPr>
        <p:spPr>
          <a:xfrm>
            <a:off x="8183880" y="2011680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FFF0B4"/>
          </a:solidFill>
          <a:ln w="14604">
            <a:solidFill>
              <a:srgbClr val="FF9F1C"/>
            </a:solidFill>
            <a:prstDash val="solid"/>
          </a:ln>
        </p:spPr>
        <p:txBody>
          <a:bodyPr lIns="41148" rIns="41148" tIns="41148" bIns="41148" anchor="ctr"/>
          <a:p/>
        </p:txBody>
      </p:sp>
      <p:sp>
        <p:nvSpPr>
          <p:cNvPr id="18" name="Text 15"/>
          <p:cNvSpPr/>
          <p:nvPr/>
        </p:nvSpPr>
        <p:spPr>
          <a:xfrm>
            <a:off x="8348472" y="2194560"/>
            <a:ext cx="411480" cy="32004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pPr algn="ctr" indent="0" marL="0">
              <a:buNone/>
            </a:pPr>
            <a:r>
              <a:rPr lang="en-US" sz="1800" dirty="0" b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897112" y="2212848"/>
            <a:ext cx="1874520" cy="22860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8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66760" y="2724912"/>
            <a:ext cx="2377440" cy="1097280"/>
          </a:xfrm>
          <a:prstGeom prst="rect">
            <a:avLst/>
          </a:prstGeom>
          <a:solidFill>
            <a:srgbClr val="DEF8FC"/>
          </a:solidFill>
          <a:ln w="14604">
            <a:solidFill>
              <a:srgbClr val="009EAE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250" b="1">
                <a:solidFill>
                  <a:srgbClr val="263138"/>
                </a:solidFill>
                <a:latin typeface="Aptos"/>
              </a:rPr>
              <a:t>Do you like shopping?</a:t>
            </a:r>
          </a:p>
        </p:txBody>
      </p:sp>
      <p:sp>
        <p:nvSpPr>
          <p:cNvPr id="21" name="Text 18"/>
          <p:cNvSpPr/>
          <p:nvPr/>
        </p:nvSpPr>
        <p:spPr>
          <a:xfrm>
            <a:off x="3657600" y="5166360"/>
            <a:ext cx="4937760" cy="320040"/>
          </a:xfrm>
          <a:prstGeom prst="rect">
            <a:avLst/>
          </a:prstGeom>
          <a:solidFill>
            <a:srgbClr val="FFF0B4"/>
          </a:solidFill>
          <a:ln w="14604">
            <a:solidFill>
              <a:srgbClr val="FF9F1C"/>
            </a:solidFill>
          </a:ln>
        </p:spPr>
        <p:txBody>
          <a:bodyPr wrap="square" lIns="41148" tIns="41148" rIns="41148" bIns="41148" rtlCol="0" anchor="ctr"/>
          <a:lstStyle/>
          <a:p>
            <a:r>
              <a:rPr sz="1150" b="0">
                <a:solidFill>
                  <a:srgbClr val="263138"/>
                </a:solidFill>
                <a:latin typeface="Aptos"/>
              </a:rPr>
              <a:t>Bring one answer to next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Speak Up English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Routines - Day 4</dc:title>
  <dc:subject>Day 4 Daily Routines, speaking and listening lesson for ages 8-12</dc:subject>
  <dc:creator>OpenAI</dc:creator>
  <cp:lastModifiedBy>OpenAI</cp:lastModifiedBy>
  <cp:revision>1</cp:revision>
  <dcterms:created xsi:type="dcterms:W3CDTF">2026-07-04T07:03:50Z</dcterms:created>
  <dcterms:modified xsi:type="dcterms:W3CDTF">2026-07-04T07:03:50Z</dcterms:modified>
</cp:coreProperties>
</file>