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Point to the title and say: Today we will talk about people who are important to us: family and friends. The goal is friendly English, clear voice, and brave speaking. Students do not need to share private information; they can choose a real or imaginary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repeat the mission line. Use gestures: ear for listen, mouth for speak, heart for family/friends. Explain that students can talk about a real family member, a friend, or an imaginary character if they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teacher map. Do not spend long here. Say: We will learn words, listen to a story, talk with friends, and present one special person. Remind students that they may choose a friend, pet, or imaginary character if they want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or sit in a circle. Model with yourself first: My special person is my brother because he is funny. If a student is shy, let them say only the name. The class replies, That’s nice!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learn student comfort levels. Ask 2-3 students as a model, then students ask partners. Do not force students to share family details. They can use friend, classmate, or favorite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pronunciation with claps: mo-ther, fa-ther, sis-ter, bro-ther. Students repeat as class, rows, then pairs. Use gestures or simple board icons. Keep it positive and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appearance words carefully and respectfully. Avoid comments that could feel unkind. Use neutral examples and remind students: We describe kindly. Then practice He is kind. She has long 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reads the sentences in random order. Round 1: students point. Round 2: students repeat. Round 3: a student says a sentence and the class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call-and-response. Teacher says phrase naturally, then in chunks. Students repeat as a class, rows, then pairs. Praise clear voice and kind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point to a word and build a sentence. Then ask a partner to build another sentence. Stronger students add: because. Example: He is funny because he tells jokes.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script 1. Read twice. First time: students only listen. Second time: students put a hand up when they hear a family word or describing word.
Mia: Look at my family photo. This is my mother. She is kind. This is my father. He is tall. This is my brother, Leo. He is funny and he likes football.
Omar: Who is she?
Mia: She is my sister, Hana. She has long hair and she likes drawing.
Omar: Your family looks friendly!
After listening, ask: Who is Leo? What does Hana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silently with fingers to keep it quick. Then ask them to say a full answer: Leo is her brother. Hana likes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pair 3-4 description cards. Example card: She is kind. She has long hair. She likes drawing. Student A describes. Student B guesses: Is it your sister? Rotate cards every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with one confident student. Then students repeat line by line. Finally pairs act it with emotion: proud, curious, happy. For lower-level students, allow them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each pair one role-play. Give 3 minutes to prepare and 5-7 minutes for quick performances. Keep the class supportive: clap after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use the simple family tree. They can draw their own in notebooks or use this one. Pair A asks, Pair B answers, then switch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target: Ask 3 friends and remember 1 fact from each. Use a timer for 6-8 minutes. For large classes, keep students in two circles: inner circle stays, outer circle rotates.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script 2. Read twice. First listen: students only listen. Second listen: students fill the table.
Omar: This is my best friend, Ben. He is not in my family, but he is very important to me.
Lily: What is he like?
Omar: He is friendly and funny. He has short hair.
Lily: What does he like?
Omar: He likes basketball and computer games. We play together after school.
Lily: He sounds nice.
Answers: name Ben; relationship best friend; description friendly/funny/short hair; favorite thing basketball/computer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clue as a speaking prompt. Students choose the best word and explain with a simple sentence. Then students create one clue for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2-4 teams. Keep it light and positive. Do not overcorrect. Award bonus points for students who help shy classmates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speaking task. Let students present in pairs or small groups if whole-class speaking is too stressful. For stronger students, add one more sentence with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repeat the class chant. Ask them to show thumbs up if they agree. Reinforce privacy and kind description rules before 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self-assess. This can be a printed passport, a notebook checklist, or oral check. Ask students to choose one sentence they will use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must say one thing before leaving. Keep it positive and fast. Example: Today I learned sister. My friend Ali is funny.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teacher-only slide. During or after class, identify: who is shy, who can model, who needs more listening support, and who uses kind descriptions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and cut. Use for pair role-plays, memory games, and family tree activities. Students pick a card and say: This is my _____.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and cut. Put cards face down. Student picks a word, says the sentence, and adds a person: My friend is funny. My sister has long 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and cut. Give each pair 4 cards. Students ask and answer, then swap cards with another pair. Stronger students can add: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optional homework. Students ask a family member or friend three questions and bring one answer. Keep homework oral, not writing-heavy.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02A43"/>
          </a:solidFill>
          <a:ln w="12700">
            <a:solidFill>
              <a:srgbClr val="102A43"/>
            </a:solidFill>
            <a:prstDash val="solid"/>
          </a:ln>
        </p:spPr>
      </p:sp>
      <p:sp>
        <p:nvSpPr>
          <p:cNvPr id="3" name="Shape 1"/>
          <p:cNvSpPr/>
          <p:nvPr/>
        </p:nvSpPr>
        <p:spPr>
          <a:xfrm>
            <a:off x="502920" y="640080"/>
            <a:ext cx="6080760" cy="4800600"/>
          </a:xfrm>
          <a:prstGeom prst="roundRect">
            <a:avLst>
              <a:gd name="adj" fmla="val 2286"/>
            </a:avLst>
          </a:prstGeom>
          <a:solidFill>
            <a:srgbClr val="FFFFFF"/>
          </a:solidFill>
          <a:ln w="17780">
            <a:solidFill>
              <a:srgbClr val="FFFFFF"/>
            </a:solidFill>
            <a:prstDash val="solid"/>
          </a:ln>
        </p:spPr>
      </p:sp>
      <p:sp>
        <p:nvSpPr>
          <p:cNvPr id="4" name="Shape 2"/>
          <p:cNvSpPr/>
          <p:nvPr/>
        </p:nvSpPr>
        <p:spPr>
          <a:xfrm>
            <a:off x="822960" y="960120"/>
            <a:ext cx="2011680" cy="384048"/>
          </a:xfrm>
          <a:prstGeom prst="roundRect">
            <a:avLst>
              <a:gd name="adj" fmla="val 28571"/>
            </a:avLst>
          </a:prstGeom>
          <a:solidFill>
            <a:srgbClr val="F77F00"/>
          </a:solidFill>
          <a:ln w="17780">
            <a:solidFill>
              <a:srgbClr val="F77F00"/>
            </a:solidFill>
            <a:prstDash val="solid"/>
          </a:ln>
        </p:spPr>
      </p:sp>
      <p:sp>
        <p:nvSpPr>
          <p:cNvPr id="5" name="Text 3"/>
          <p:cNvSpPr/>
          <p:nvPr/>
        </p:nvSpPr>
        <p:spPr>
          <a:xfrm>
            <a:off x="896112" y="1033272"/>
            <a:ext cx="1865376" cy="27432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DAY 3 · 90 MINUTES</a:t>
            </a:r>
            <a:endParaRPr lang="en-US" sz="900" dirty="0"/>
          </a:p>
        </p:txBody>
      </p:sp>
      <p:sp>
        <p:nvSpPr>
          <p:cNvPr id="6" name="Text 4"/>
          <p:cNvSpPr/>
          <p:nvPr/>
        </p:nvSpPr>
        <p:spPr>
          <a:xfrm>
            <a:off x="822960" y="1417320"/>
            <a:ext cx="5303520" cy="731520"/>
          </a:xfrm>
          <a:prstGeom prst="rect">
            <a:avLst/>
          </a:prstGeom>
          <a:noFill/>
          <a:ln/>
        </p:spPr>
        <p:txBody>
          <a:bodyPr wrap="square" lIns="0" tIns="0" rIns="0" bIns="0" rtlCol="0" anchor="ctr">
            <a:normAutofit/>
          </a:bodyPr>
          <a:lstStyle/>
          <a:p>
            <a:pPr indent="0" marL="0">
              <a:buNone/>
            </a:pPr>
            <a:r>
              <a:rPr lang="en-US" sz="3200" b="1" dirty="0">
                <a:solidFill>
                  <a:srgbClr val="173B57"/>
                </a:solidFill>
                <a:latin typeface="Aptos Display" pitchFamily="34" charset="0"/>
                <a:ea typeface="Aptos Display" pitchFamily="34" charset="-122"/>
                <a:cs typeface="Aptos Display" pitchFamily="34" charset="-120"/>
              </a:rPr>
              <a:t>Family &amp; Friends</a:t>
            </a:r>
            <a:endParaRPr lang="en-US" sz="3200" dirty="0"/>
          </a:p>
        </p:txBody>
      </p:sp>
      <p:sp>
        <p:nvSpPr>
          <p:cNvPr id="7" name="Text 5"/>
          <p:cNvSpPr/>
          <p:nvPr/>
        </p:nvSpPr>
        <p:spPr>
          <a:xfrm>
            <a:off x="841248" y="2212848"/>
            <a:ext cx="5349240" cy="411480"/>
          </a:xfrm>
          <a:prstGeom prst="rect">
            <a:avLst/>
          </a:prstGeom>
          <a:noFill/>
          <a:ln/>
        </p:spPr>
        <p:txBody>
          <a:bodyPr wrap="square" lIns="0" tIns="0" rIns="0" bIns="0" rtlCol="0" anchor="ctr">
            <a:normAutofit/>
          </a:bodyPr>
          <a:lstStyle/>
          <a:p>
            <a:pPr indent="0" marL="0">
              <a:buNone/>
            </a:pPr>
            <a:r>
              <a:rPr lang="en-US" sz="1800" b="1" dirty="0">
                <a:solidFill>
                  <a:srgbClr val="EF476F"/>
                </a:solidFill>
                <a:latin typeface="Aptos" pitchFamily="34" charset="0"/>
                <a:ea typeface="Aptos" pitchFamily="34" charset="-122"/>
                <a:cs typeface="Aptos" pitchFamily="34" charset="-120"/>
              </a:rPr>
              <a:t>Talk about people you love and care about.</a:t>
            </a:r>
            <a:endParaRPr lang="en-US" sz="1800" dirty="0"/>
          </a:p>
        </p:txBody>
      </p:sp>
      <p:sp>
        <p:nvSpPr>
          <p:cNvPr id="8" name="Shape 6"/>
          <p:cNvSpPr/>
          <p:nvPr/>
        </p:nvSpPr>
        <p:spPr>
          <a:xfrm>
            <a:off x="841248" y="2761488"/>
            <a:ext cx="4754880" cy="0"/>
          </a:xfrm>
          <a:prstGeom prst="line">
            <a:avLst/>
          </a:prstGeom>
          <a:noFill/>
          <a:ln w="25400">
            <a:solidFill>
              <a:srgbClr val="C9E6F5"/>
            </a:solidFill>
            <a:prstDash val="solid"/>
          </a:ln>
        </p:spPr>
      </p:sp>
      <p:sp>
        <p:nvSpPr>
          <p:cNvPr id="9" name="Text 7"/>
          <p:cNvSpPr/>
          <p:nvPr/>
        </p:nvSpPr>
        <p:spPr>
          <a:xfrm>
            <a:off x="841248" y="2962656"/>
            <a:ext cx="5074920" cy="77724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Students learn family words, describe a person, ask about friends, and give a short “someone special” presentation.</a:t>
            </a:r>
            <a:endParaRPr lang="en-US" sz="1550" dirty="0"/>
          </a:p>
        </p:txBody>
      </p:sp>
      <p:sp>
        <p:nvSpPr>
          <p:cNvPr id="10" name="Shape 8"/>
          <p:cNvSpPr/>
          <p:nvPr/>
        </p:nvSpPr>
        <p:spPr>
          <a:xfrm>
            <a:off x="841248" y="4069080"/>
            <a:ext cx="2331720" cy="841248"/>
          </a:xfrm>
          <a:prstGeom prst="roundRect">
            <a:avLst>
              <a:gd name="adj" fmla="val 13043"/>
            </a:avLst>
          </a:prstGeom>
          <a:solidFill>
            <a:srgbClr val="DFF4FF"/>
          </a:solidFill>
          <a:ln w="17780">
            <a:solidFill>
              <a:srgbClr val="1C8DD8"/>
            </a:solidFill>
            <a:prstDash val="solid"/>
          </a:ln>
        </p:spPr>
      </p:sp>
      <p:sp>
        <p:nvSpPr>
          <p:cNvPr id="11" name="Text 9"/>
          <p:cNvSpPr/>
          <p:nvPr/>
        </p:nvSpPr>
        <p:spPr>
          <a:xfrm>
            <a:off x="978408" y="41788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Text 10"/>
          <p:cNvSpPr/>
          <p:nvPr/>
        </p:nvSpPr>
        <p:spPr>
          <a:xfrm>
            <a:off x="1527048" y="4215384"/>
            <a:ext cx="1463040" cy="310896"/>
          </a:xfrm>
          <a:prstGeom prst="rect">
            <a:avLst/>
          </a:prstGeom>
          <a:noFill/>
          <a:ln/>
        </p:spPr>
        <p:txBody>
          <a:bodyPr wrap="square" lIns="0" tIns="0" rIns="0" bIns="0" rtlCol="0" anchor="ctr">
            <a:normAutofit/>
          </a:bodyPr>
          <a:lstStyle/>
          <a:p>
            <a:pPr indent="0" marL="0">
              <a:buNone/>
            </a:pPr>
            <a:r>
              <a:rPr lang="en-US" sz="1450" b="1" dirty="0">
                <a:solidFill>
                  <a:srgbClr val="173B57"/>
                </a:solidFill>
                <a:latin typeface="Aptos Display" pitchFamily="34" charset="0"/>
                <a:ea typeface="Aptos Display" pitchFamily="34" charset="-122"/>
                <a:cs typeface="Aptos Display" pitchFamily="34" charset="-120"/>
              </a:rPr>
              <a:t>I can say…</a:t>
            </a:r>
            <a:endParaRPr lang="en-US" sz="1450" dirty="0"/>
          </a:p>
        </p:txBody>
      </p:sp>
      <p:sp>
        <p:nvSpPr>
          <p:cNvPr id="13" name="Text 11"/>
          <p:cNvSpPr/>
          <p:nvPr/>
        </p:nvSpPr>
        <p:spPr>
          <a:xfrm>
            <a:off x="1005840" y="4636008"/>
            <a:ext cx="2002536" cy="155448"/>
          </a:xfrm>
          <a:prstGeom prst="rect">
            <a:avLst/>
          </a:prstGeom>
          <a:noFill/>
          <a:ln/>
        </p:spPr>
        <p:txBody>
          <a:bodyPr wrap="square" lIns="0" tIns="0" rIns="0" bIns="0" rtlCol="0" anchor="t">
            <a:normAutofit/>
          </a:bodyPr>
          <a:lstStyle/>
          <a:p>
            <a:pPr indent="0" marL="0">
              <a:buNone/>
            </a:pPr>
            <a:r>
              <a:rPr lang="en-US" sz="1050" dirty="0">
                <a:solidFill>
                  <a:srgbClr val="1F2933"/>
                </a:solidFill>
                <a:latin typeface="Aptos" pitchFamily="34" charset="0"/>
                <a:ea typeface="Aptos" pitchFamily="34" charset="-122"/>
                <a:cs typeface="Aptos" pitchFamily="34" charset="-120"/>
              </a:rPr>
              <a:t>“This is my sister.”</a:t>
            </a:r>
            <a:endParaRPr lang="en-US" sz="1050" dirty="0"/>
          </a:p>
        </p:txBody>
      </p:sp>
      <p:sp>
        <p:nvSpPr>
          <p:cNvPr id="14" name="Shape 12"/>
          <p:cNvSpPr/>
          <p:nvPr/>
        </p:nvSpPr>
        <p:spPr>
          <a:xfrm>
            <a:off x="3429000" y="4069080"/>
            <a:ext cx="2331720" cy="841248"/>
          </a:xfrm>
          <a:prstGeom prst="roundRect">
            <a:avLst>
              <a:gd name="adj" fmla="val 13043"/>
            </a:avLst>
          </a:prstGeom>
          <a:solidFill>
            <a:srgbClr val="FFF4CC"/>
          </a:solidFill>
          <a:ln w="17780">
            <a:solidFill>
              <a:srgbClr val="FFD166"/>
            </a:solidFill>
            <a:prstDash val="solid"/>
          </a:ln>
        </p:spPr>
      </p:sp>
      <p:sp>
        <p:nvSpPr>
          <p:cNvPr id="15" name="Text 13"/>
          <p:cNvSpPr/>
          <p:nvPr/>
        </p:nvSpPr>
        <p:spPr>
          <a:xfrm>
            <a:off x="3566160" y="41788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6" name="Text 14"/>
          <p:cNvSpPr/>
          <p:nvPr/>
        </p:nvSpPr>
        <p:spPr>
          <a:xfrm>
            <a:off x="4114800" y="4215384"/>
            <a:ext cx="1463040" cy="310896"/>
          </a:xfrm>
          <a:prstGeom prst="rect">
            <a:avLst/>
          </a:prstGeom>
          <a:noFill/>
          <a:ln/>
        </p:spPr>
        <p:txBody>
          <a:bodyPr wrap="square" lIns="0" tIns="0" rIns="0" bIns="0" rtlCol="0" anchor="ctr">
            <a:normAutofit/>
          </a:bodyPr>
          <a:lstStyle/>
          <a:p>
            <a:pPr indent="0" marL="0">
              <a:buNone/>
            </a:pPr>
            <a:r>
              <a:rPr lang="en-US" sz="1450" b="1" dirty="0">
                <a:solidFill>
                  <a:srgbClr val="173B57"/>
                </a:solidFill>
                <a:latin typeface="Aptos Display" pitchFamily="34" charset="0"/>
                <a:ea typeface="Aptos Display" pitchFamily="34" charset="-122"/>
                <a:cs typeface="Aptos Display" pitchFamily="34" charset="-120"/>
              </a:rPr>
              <a:t>I can describe…</a:t>
            </a:r>
            <a:endParaRPr lang="en-US" sz="1450" dirty="0"/>
          </a:p>
        </p:txBody>
      </p:sp>
      <p:sp>
        <p:nvSpPr>
          <p:cNvPr id="17" name="Text 15"/>
          <p:cNvSpPr/>
          <p:nvPr/>
        </p:nvSpPr>
        <p:spPr>
          <a:xfrm>
            <a:off x="3593592" y="4636008"/>
            <a:ext cx="2002536" cy="155448"/>
          </a:xfrm>
          <a:prstGeom prst="rect">
            <a:avLst/>
          </a:prstGeom>
          <a:noFill/>
          <a:ln/>
        </p:spPr>
        <p:txBody>
          <a:bodyPr wrap="square" lIns="0" tIns="0" rIns="0" bIns="0" rtlCol="0" anchor="t">
            <a:normAutofit/>
          </a:bodyPr>
          <a:lstStyle/>
          <a:p>
            <a:pPr indent="0" marL="0">
              <a:buNone/>
            </a:pPr>
            <a:r>
              <a:rPr lang="en-US" sz="1050" dirty="0">
                <a:solidFill>
                  <a:srgbClr val="1F2933"/>
                </a:solidFill>
                <a:latin typeface="Aptos" pitchFamily="34" charset="0"/>
                <a:ea typeface="Aptos" pitchFamily="34" charset="-122"/>
                <a:cs typeface="Aptos" pitchFamily="34" charset="-120"/>
              </a:rPr>
              <a:t>a family member or friend.</a:t>
            </a:r>
            <a:endParaRPr lang="en-US" sz="1050" dirty="0"/>
          </a:p>
        </p:txBody>
      </p:sp>
      <p:sp>
        <p:nvSpPr>
          <p:cNvPr id="18" name="Shape 16"/>
          <p:cNvSpPr/>
          <p:nvPr/>
        </p:nvSpPr>
        <p:spPr>
          <a:xfrm>
            <a:off x="0" y="6565392"/>
            <a:ext cx="12188952" cy="292608"/>
          </a:xfrm>
          <a:prstGeom prst="rect">
            <a:avLst/>
          </a:prstGeom>
          <a:solidFill>
            <a:srgbClr val="FFFFFF"/>
          </a:solidFill>
          <a:ln w="12700">
            <a:solidFill>
              <a:srgbClr val="C9E6F5"/>
            </a:solidFill>
            <a:prstDash val="solid"/>
          </a:ln>
        </p:spPr>
      </p:sp>
      <p:sp>
        <p:nvSpPr>
          <p:cNvPr id="19" name="Text 17"/>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0" name="Text 18"/>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Today’s Mission</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know the class goal in simple, friendly language.</a:t>
            </a:r>
            <a:endParaRPr lang="en-US" sz="1450" dirty="0"/>
          </a:p>
        </p:txBody>
      </p:sp>
      <p:sp>
        <p:nvSpPr>
          <p:cNvPr id="4" name="Shape 2"/>
          <p:cNvSpPr/>
          <p:nvPr/>
        </p:nvSpPr>
        <p:spPr>
          <a:xfrm>
            <a:off x="658368" y="1234440"/>
            <a:ext cx="10863072" cy="1097280"/>
          </a:xfrm>
          <a:prstGeom prst="roundRect">
            <a:avLst>
              <a:gd name="adj" fmla="val 10000"/>
            </a:avLst>
          </a:prstGeom>
          <a:solidFill>
            <a:srgbClr val="173B57"/>
          </a:solidFill>
          <a:ln w="17780">
            <a:solidFill>
              <a:srgbClr val="173B57"/>
            </a:solidFill>
            <a:prstDash val="solid"/>
          </a:ln>
        </p:spPr>
      </p:sp>
      <p:sp>
        <p:nvSpPr>
          <p:cNvPr id="5" name="Text 3"/>
          <p:cNvSpPr/>
          <p:nvPr/>
        </p:nvSpPr>
        <p:spPr>
          <a:xfrm>
            <a:off x="914400" y="1490472"/>
            <a:ext cx="10332720" cy="420624"/>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By the end of class, I can talk about my family and friends in English.</a:t>
            </a:r>
            <a:endParaRPr lang="en-US" sz="2200" dirty="0"/>
          </a:p>
        </p:txBody>
      </p:sp>
      <p:sp>
        <p:nvSpPr>
          <p:cNvPr id="6" name="Shape 4"/>
          <p:cNvSpPr/>
          <p:nvPr/>
        </p:nvSpPr>
        <p:spPr>
          <a:xfrm>
            <a:off x="713232" y="2743200"/>
            <a:ext cx="3401568" cy="2057400"/>
          </a:xfrm>
          <a:prstGeom prst="roundRect">
            <a:avLst>
              <a:gd name="adj" fmla="val 5333"/>
            </a:avLst>
          </a:prstGeom>
          <a:solidFill>
            <a:srgbClr val="DFF4FF"/>
          </a:solidFill>
          <a:ln w="17780">
            <a:solidFill>
              <a:srgbClr val="1C8DD8"/>
            </a:solidFill>
            <a:prstDash val="solid"/>
          </a:ln>
        </p:spPr>
      </p:sp>
      <p:sp>
        <p:nvSpPr>
          <p:cNvPr id="7" name="Text 5"/>
          <p:cNvSpPr/>
          <p:nvPr/>
        </p:nvSpPr>
        <p:spPr>
          <a:xfrm>
            <a:off x="850392"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8" name="Text 6"/>
          <p:cNvSpPr/>
          <p:nvPr/>
        </p:nvSpPr>
        <p:spPr>
          <a:xfrm>
            <a:off x="1399032" y="288950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Listen</a:t>
            </a:r>
            <a:endParaRPr lang="en-US" sz="1550" dirty="0"/>
          </a:p>
        </p:txBody>
      </p:sp>
      <p:sp>
        <p:nvSpPr>
          <p:cNvPr id="9" name="Text 7"/>
          <p:cNvSpPr/>
          <p:nvPr/>
        </p:nvSpPr>
        <p:spPr>
          <a:xfrm>
            <a:off x="877824" y="3310128"/>
            <a:ext cx="3072384" cy="137160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I can understand simple descriptions of people.</a:t>
            </a:r>
            <a:endParaRPr lang="en-US" sz="1360" dirty="0"/>
          </a:p>
        </p:txBody>
      </p:sp>
      <p:sp>
        <p:nvSpPr>
          <p:cNvPr id="10" name="Shape 8"/>
          <p:cNvSpPr/>
          <p:nvPr/>
        </p:nvSpPr>
        <p:spPr>
          <a:xfrm>
            <a:off x="4480560" y="2743200"/>
            <a:ext cx="3401568" cy="2057400"/>
          </a:xfrm>
          <a:prstGeom prst="roundRect">
            <a:avLst>
              <a:gd name="adj" fmla="val 5333"/>
            </a:avLst>
          </a:prstGeom>
          <a:solidFill>
            <a:srgbClr val="DFF8EF"/>
          </a:solidFill>
          <a:ln w="17780">
            <a:solidFill>
              <a:srgbClr val="00A7A7"/>
            </a:solidFill>
            <a:prstDash val="solid"/>
          </a:ln>
        </p:spPr>
      </p:sp>
      <p:sp>
        <p:nvSpPr>
          <p:cNvPr id="11" name="Text 9"/>
          <p:cNvSpPr/>
          <p:nvPr/>
        </p:nvSpPr>
        <p:spPr>
          <a:xfrm>
            <a:off x="4617720"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Text 10"/>
          <p:cNvSpPr/>
          <p:nvPr/>
        </p:nvSpPr>
        <p:spPr>
          <a:xfrm>
            <a:off x="5166360" y="288950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Speak</a:t>
            </a:r>
            <a:endParaRPr lang="en-US" sz="1550" dirty="0"/>
          </a:p>
        </p:txBody>
      </p:sp>
      <p:sp>
        <p:nvSpPr>
          <p:cNvPr id="13" name="Text 11"/>
          <p:cNvSpPr/>
          <p:nvPr/>
        </p:nvSpPr>
        <p:spPr>
          <a:xfrm>
            <a:off x="4645152" y="3310128"/>
            <a:ext cx="3072384" cy="137160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I can say who someone is and describe them.</a:t>
            </a:r>
            <a:endParaRPr lang="en-US" sz="1360" dirty="0"/>
          </a:p>
        </p:txBody>
      </p:sp>
      <p:sp>
        <p:nvSpPr>
          <p:cNvPr id="14" name="Shape 12"/>
          <p:cNvSpPr/>
          <p:nvPr/>
        </p:nvSpPr>
        <p:spPr>
          <a:xfrm>
            <a:off x="8247888" y="2743200"/>
            <a:ext cx="3401568" cy="2057400"/>
          </a:xfrm>
          <a:prstGeom prst="roundRect">
            <a:avLst>
              <a:gd name="adj" fmla="val 5333"/>
            </a:avLst>
          </a:prstGeom>
          <a:solidFill>
            <a:srgbClr val="FFF4CC"/>
          </a:solidFill>
          <a:ln w="17780">
            <a:solidFill>
              <a:srgbClr val="FFD166"/>
            </a:solidFill>
            <a:prstDash val="solid"/>
          </a:ln>
        </p:spPr>
      </p:sp>
      <p:sp>
        <p:nvSpPr>
          <p:cNvPr id="15" name="Text 13"/>
          <p:cNvSpPr/>
          <p:nvPr/>
        </p:nvSpPr>
        <p:spPr>
          <a:xfrm>
            <a:off x="8385048"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6" name="Text 14"/>
          <p:cNvSpPr/>
          <p:nvPr/>
        </p:nvSpPr>
        <p:spPr>
          <a:xfrm>
            <a:off x="8933688" y="288950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Connect</a:t>
            </a:r>
            <a:endParaRPr lang="en-US" sz="1550" dirty="0"/>
          </a:p>
        </p:txBody>
      </p:sp>
      <p:sp>
        <p:nvSpPr>
          <p:cNvPr id="17" name="Text 15"/>
          <p:cNvSpPr/>
          <p:nvPr/>
        </p:nvSpPr>
        <p:spPr>
          <a:xfrm>
            <a:off x="8412480" y="3310128"/>
            <a:ext cx="3072384" cy="137160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I can ask a friend about someone special.</a:t>
            </a:r>
            <a:endParaRPr lang="en-US" sz="1360" dirty="0"/>
          </a:p>
        </p:txBody>
      </p:sp>
      <p:sp>
        <p:nvSpPr>
          <p:cNvPr id="18" name="Text 16"/>
          <p:cNvSpPr/>
          <p:nvPr/>
        </p:nvSpPr>
        <p:spPr>
          <a:xfrm>
            <a:off x="1051560" y="5349240"/>
            <a:ext cx="10149840" cy="411480"/>
          </a:xfrm>
          <a:prstGeom prst="rect">
            <a:avLst/>
          </a:prstGeom>
          <a:noFill/>
          <a:ln/>
        </p:spPr>
        <p:txBody>
          <a:bodyPr wrap="square" lIns="0" tIns="0" rIns="0" bIns="0" rtlCol="0" anchor="ctr">
            <a:normAutofit/>
          </a:bodyPr>
          <a:lstStyle/>
          <a:p>
            <a:pPr algn="ctr" indent="0" marL="0">
              <a:buNone/>
            </a:pPr>
            <a:r>
              <a:rPr lang="en-US" sz="1600" b="1" dirty="0">
                <a:solidFill>
                  <a:srgbClr val="EF476F"/>
                </a:solidFill>
                <a:latin typeface="Aptos" pitchFamily="34" charset="0"/>
                <a:ea typeface="Aptos" pitchFamily="34" charset="-122"/>
                <a:cs typeface="Aptos" pitchFamily="34" charset="-120"/>
              </a:rPr>
              <a:t>Class promise: Speak kindly. Listen carefully. Family stories are personal.</a:t>
            </a:r>
            <a:endParaRPr lang="en-US" sz="1600" dirty="0"/>
          </a:p>
        </p:txBody>
      </p:sp>
      <p:sp>
        <p:nvSpPr>
          <p:cNvPr id="19" name="Shape 17"/>
          <p:cNvSpPr/>
          <p:nvPr/>
        </p:nvSpPr>
        <p:spPr>
          <a:xfrm>
            <a:off x="0" y="6565392"/>
            <a:ext cx="12188952" cy="292608"/>
          </a:xfrm>
          <a:prstGeom prst="rect">
            <a:avLst/>
          </a:prstGeom>
          <a:solidFill>
            <a:srgbClr val="FFFFFF"/>
          </a:solidFill>
          <a:ln w="12700">
            <a:solidFill>
              <a:srgbClr val="C9E6F5"/>
            </a:solidFill>
            <a:prstDash val="solid"/>
          </a:ln>
        </p:spPr>
      </p:sp>
      <p:sp>
        <p:nvSpPr>
          <p:cNvPr id="20" name="Text 1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1" name="Text 1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90-Minute Class Map</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Use this slide to tell students what will happen today.</a:t>
            </a:r>
            <a:endParaRPr lang="en-US" sz="1450" dirty="0"/>
          </a:p>
        </p:txBody>
      </p:sp>
      <p:sp>
        <p:nvSpPr>
          <p:cNvPr id="4" name="Shape 2"/>
          <p:cNvSpPr/>
          <p:nvPr/>
        </p:nvSpPr>
        <p:spPr>
          <a:xfrm>
            <a:off x="502920" y="1508760"/>
            <a:ext cx="1691640" cy="3886200"/>
          </a:xfrm>
          <a:prstGeom prst="roundRect">
            <a:avLst>
              <a:gd name="adj" fmla="val 6486"/>
            </a:avLst>
          </a:prstGeom>
          <a:solidFill>
            <a:srgbClr val="DFF4FF"/>
          </a:solidFill>
          <a:ln w="17780">
            <a:solidFill>
              <a:srgbClr val="1C8DD8"/>
            </a:solidFill>
            <a:prstDash val="solid"/>
          </a:ln>
        </p:spPr>
      </p:sp>
      <p:sp>
        <p:nvSpPr>
          <p:cNvPr id="5" name="Text 3"/>
          <p:cNvSpPr/>
          <p:nvPr/>
        </p:nvSpPr>
        <p:spPr>
          <a:xfrm>
            <a:off x="640080" y="1719072"/>
            <a:ext cx="1417320" cy="274320"/>
          </a:xfrm>
          <a:prstGeom prst="rect">
            <a:avLst/>
          </a:prstGeom>
          <a:noFill/>
          <a:ln/>
        </p:spPr>
        <p:txBody>
          <a:bodyPr wrap="square" lIns="0" tIns="0" rIns="0" bIns="0" rtlCol="0" anchor="ctr">
            <a:normAutofit/>
          </a:bodyPr>
          <a:lstStyle/>
          <a:p>
            <a:pPr algn="ctr" indent="0" marL="0">
              <a:buNone/>
            </a:pPr>
            <a:r>
              <a:rPr lang="en-US" sz="1400" b="1" dirty="0">
                <a:solidFill>
                  <a:srgbClr val="EF476F"/>
                </a:solidFill>
                <a:latin typeface="Aptos" pitchFamily="34" charset="0"/>
                <a:ea typeface="Aptos" pitchFamily="34" charset="-122"/>
                <a:cs typeface="Aptos" pitchFamily="34" charset="-120"/>
              </a:rPr>
              <a:t>0–10</a:t>
            </a:r>
            <a:endParaRPr lang="en-US" sz="1400" dirty="0"/>
          </a:p>
        </p:txBody>
      </p:sp>
      <p:sp>
        <p:nvSpPr>
          <p:cNvPr id="6" name="Text 4"/>
          <p:cNvSpPr/>
          <p:nvPr/>
        </p:nvSpPr>
        <p:spPr>
          <a:xfrm>
            <a:off x="621792" y="2240280"/>
            <a:ext cx="1444752" cy="566928"/>
          </a:xfrm>
          <a:prstGeom prst="rect">
            <a:avLst/>
          </a:prstGeom>
          <a:noFill/>
          <a:ln/>
        </p:spPr>
        <p:txBody>
          <a:bodyPr wrap="square" lIns="0" tIns="0" rIns="0" bIns="0" rtlCol="0" anchor="ctr">
            <a:normAutofit/>
          </a:bodyPr>
          <a:lstStyle/>
          <a:p>
            <a:pPr algn="ctr" indent="0" marL="0">
              <a:buNone/>
            </a:pPr>
            <a:r>
              <a:rPr lang="en-US" sz="1550" b="1" dirty="0">
                <a:solidFill>
                  <a:srgbClr val="173B57"/>
                </a:solidFill>
                <a:latin typeface="Aptos" pitchFamily="34" charset="0"/>
                <a:ea typeface="Aptos" pitchFamily="34" charset="-122"/>
                <a:cs typeface="Aptos" pitchFamily="34" charset="-120"/>
              </a:rPr>
              <a:t>Hello Circle</a:t>
            </a:r>
            <a:endParaRPr lang="en-US" sz="1550" dirty="0"/>
          </a:p>
        </p:txBody>
      </p:sp>
      <p:sp>
        <p:nvSpPr>
          <p:cNvPr id="7" name="Text 5"/>
          <p:cNvSpPr/>
          <p:nvPr/>
        </p:nvSpPr>
        <p:spPr>
          <a:xfrm>
            <a:off x="667512" y="3063240"/>
            <a:ext cx="1353312" cy="749808"/>
          </a:xfrm>
          <a:prstGeom prst="rect">
            <a:avLst/>
          </a:prstGeom>
          <a:noFill/>
          <a:ln/>
        </p:spPr>
        <p:txBody>
          <a:bodyPr wrap="square" lIns="0" tIns="0" rIns="0" bIns="0" rtlCol="0" anchor="ctr">
            <a:normAutofit/>
          </a:bodyPr>
          <a:lstStyle/>
          <a:p>
            <a:pPr algn="ctr" indent="0" marL="0">
              <a:buNone/>
            </a:pPr>
            <a:r>
              <a:rPr lang="en-US" sz="1240" dirty="0">
                <a:solidFill>
                  <a:srgbClr val="1F2933"/>
                </a:solidFill>
                <a:latin typeface="Aptos" pitchFamily="34" charset="0"/>
                <a:ea typeface="Aptos" pitchFamily="34" charset="-122"/>
                <a:cs typeface="Aptos" pitchFamily="34" charset="-120"/>
              </a:rPr>
              <a:t>Who is important to you?</a:t>
            </a:r>
            <a:endParaRPr lang="en-US" sz="1240" dirty="0"/>
          </a:p>
        </p:txBody>
      </p:sp>
      <p:sp>
        <p:nvSpPr>
          <p:cNvPr id="8" name="Text 6"/>
          <p:cNvSpPr/>
          <p:nvPr/>
        </p:nvSpPr>
        <p:spPr>
          <a:xfrm>
            <a:off x="1005840" y="4160520"/>
            <a:ext cx="685800" cy="502920"/>
          </a:xfrm>
          <a:prstGeom prst="rect">
            <a:avLst/>
          </a:prstGeom>
          <a:noFill/>
          <a:ln/>
        </p:spPr>
        <p:txBody>
          <a:bodyPr wrap="square" lIns="0" tIns="0" rIns="0" bIns="0" rtlCol="0" anchor="ctr">
            <a:normAutofit/>
          </a:bodyPr>
          <a:lstStyle/>
          <a:p>
            <a:pPr algn="ctr" indent="0" marL="0">
              <a:buNone/>
            </a:pPr>
            <a:r>
              <a:rPr lang="en-US" sz="2600" dirty="0">
                <a:solidFill>
                  <a:srgbClr val="1F2933"/>
                </a:solidFill>
                <a:latin typeface="Segoe UI Emoji" pitchFamily="34" charset="0"/>
                <a:ea typeface="Segoe UI Emoji" pitchFamily="34" charset="-122"/>
                <a:cs typeface="Segoe UI Emoji" pitchFamily="34" charset="-120"/>
              </a:rPr>
              <a:t>🌟</a:t>
            </a:r>
            <a:endParaRPr lang="en-US" sz="2600" dirty="0"/>
          </a:p>
        </p:txBody>
      </p:sp>
      <p:sp>
        <p:nvSpPr>
          <p:cNvPr id="9" name="Shape 7"/>
          <p:cNvSpPr/>
          <p:nvPr/>
        </p:nvSpPr>
        <p:spPr>
          <a:xfrm>
            <a:off x="2450592" y="1508760"/>
            <a:ext cx="1691640" cy="3886200"/>
          </a:xfrm>
          <a:prstGeom prst="roundRect">
            <a:avLst>
              <a:gd name="adj" fmla="val 6486"/>
            </a:avLst>
          </a:prstGeom>
          <a:solidFill>
            <a:srgbClr val="DFF8EF"/>
          </a:solidFill>
          <a:ln w="17780">
            <a:solidFill>
              <a:srgbClr val="00A7A7"/>
            </a:solidFill>
            <a:prstDash val="solid"/>
          </a:ln>
        </p:spPr>
      </p:sp>
      <p:sp>
        <p:nvSpPr>
          <p:cNvPr id="10" name="Text 8"/>
          <p:cNvSpPr/>
          <p:nvPr/>
        </p:nvSpPr>
        <p:spPr>
          <a:xfrm>
            <a:off x="2587752" y="1719072"/>
            <a:ext cx="1417320" cy="274320"/>
          </a:xfrm>
          <a:prstGeom prst="rect">
            <a:avLst/>
          </a:prstGeom>
          <a:noFill/>
          <a:ln/>
        </p:spPr>
        <p:txBody>
          <a:bodyPr wrap="square" lIns="0" tIns="0" rIns="0" bIns="0" rtlCol="0" anchor="ctr">
            <a:normAutofit/>
          </a:bodyPr>
          <a:lstStyle/>
          <a:p>
            <a:pPr algn="ctr" indent="0" marL="0">
              <a:buNone/>
            </a:pPr>
            <a:r>
              <a:rPr lang="en-US" sz="1400" b="1" dirty="0">
                <a:solidFill>
                  <a:srgbClr val="EF476F"/>
                </a:solidFill>
                <a:latin typeface="Aptos" pitchFamily="34" charset="0"/>
                <a:ea typeface="Aptos" pitchFamily="34" charset="-122"/>
                <a:cs typeface="Aptos" pitchFamily="34" charset="-120"/>
              </a:rPr>
              <a:t>10–25</a:t>
            </a:r>
            <a:endParaRPr lang="en-US" sz="1400" dirty="0"/>
          </a:p>
        </p:txBody>
      </p:sp>
      <p:sp>
        <p:nvSpPr>
          <p:cNvPr id="11" name="Text 9"/>
          <p:cNvSpPr/>
          <p:nvPr/>
        </p:nvSpPr>
        <p:spPr>
          <a:xfrm>
            <a:off x="2569464" y="2240280"/>
            <a:ext cx="1444752" cy="566928"/>
          </a:xfrm>
          <a:prstGeom prst="rect">
            <a:avLst/>
          </a:prstGeom>
          <a:noFill/>
          <a:ln/>
        </p:spPr>
        <p:txBody>
          <a:bodyPr wrap="square" lIns="0" tIns="0" rIns="0" bIns="0" rtlCol="0" anchor="ctr">
            <a:normAutofit/>
          </a:bodyPr>
          <a:lstStyle/>
          <a:p>
            <a:pPr algn="ctr" indent="0" marL="0">
              <a:buNone/>
            </a:pPr>
            <a:r>
              <a:rPr lang="en-US" sz="1550" b="1" dirty="0">
                <a:solidFill>
                  <a:srgbClr val="173B57"/>
                </a:solidFill>
                <a:latin typeface="Aptos" pitchFamily="34" charset="0"/>
                <a:ea typeface="Aptos" pitchFamily="34" charset="-122"/>
                <a:cs typeface="Aptos" pitchFamily="34" charset="-120"/>
              </a:rPr>
              <a:t>Family Words</a:t>
            </a:r>
            <a:endParaRPr lang="en-US" sz="1550" dirty="0"/>
          </a:p>
        </p:txBody>
      </p:sp>
      <p:sp>
        <p:nvSpPr>
          <p:cNvPr id="12" name="Text 10"/>
          <p:cNvSpPr/>
          <p:nvPr/>
        </p:nvSpPr>
        <p:spPr>
          <a:xfrm>
            <a:off x="2615184" y="3063240"/>
            <a:ext cx="1353312" cy="749808"/>
          </a:xfrm>
          <a:prstGeom prst="rect">
            <a:avLst/>
          </a:prstGeom>
          <a:noFill/>
          <a:ln/>
        </p:spPr>
        <p:txBody>
          <a:bodyPr wrap="square" lIns="0" tIns="0" rIns="0" bIns="0" rtlCol="0" anchor="ctr">
            <a:normAutofit/>
          </a:bodyPr>
          <a:lstStyle/>
          <a:p>
            <a:pPr algn="ctr" indent="0" marL="0">
              <a:buNone/>
            </a:pPr>
            <a:r>
              <a:rPr lang="en-US" sz="1240" dirty="0">
                <a:solidFill>
                  <a:srgbClr val="1F2933"/>
                </a:solidFill>
                <a:latin typeface="Aptos" pitchFamily="34" charset="0"/>
                <a:ea typeface="Aptos" pitchFamily="34" charset="-122"/>
                <a:cs typeface="Aptos" pitchFamily="34" charset="-120"/>
              </a:rPr>
              <a:t>mother, father, cousin…</a:t>
            </a:r>
            <a:endParaRPr lang="en-US" sz="1240" dirty="0"/>
          </a:p>
        </p:txBody>
      </p:sp>
      <p:sp>
        <p:nvSpPr>
          <p:cNvPr id="13" name="Text 11"/>
          <p:cNvSpPr/>
          <p:nvPr/>
        </p:nvSpPr>
        <p:spPr>
          <a:xfrm>
            <a:off x="2953512" y="4160520"/>
            <a:ext cx="685800" cy="502920"/>
          </a:xfrm>
          <a:prstGeom prst="rect">
            <a:avLst/>
          </a:prstGeom>
          <a:noFill/>
          <a:ln/>
        </p:spPr>
        <p:txBody>
          <a:bodyPr wrap="square" lIns="0" tIns="0" rIns="0" bIns="0" rtlCol="0" anchor="ctr">
            <a:normAutofit/>
          </a:bodyPr>
          <a:lstStyle/>
          <a:p>
            <a:pPr algn="ctr" indent="0" marL="0">
              <a:buNone/>
            </a:pPr>
            <a:r>
              <a:rPr lang="en-US" sz="2600" dirty="0">
                <a:solidFill>
                  <a:srgbClr val="1F2933"/>
                </a:solidFill>
                <a:latin typeface="Segoe UI Emoji" pitchFamily="34" charset="0"/>
                <a:ea typeface="Segoe UI Emoji" pitchFamily="34" charset="-122"/>
                <a:cs typeface="Segoe UI Emoji" pitchFamily="34" charset="-120"/>
              </a:rPr>
              <a:t>👨‍👩‍👧</a:t>
            </a:r>
            <a:endParaRPr lang="en-US" sz="2600" dirty="0"/>
          </a:p>
        </p:txBody>
      </p:sp>
      <p:sp>
        <p:nvSpPr>
          <p:cNvPr id="14" name="Shape 12"/>
          <p:cNvSpPr/>
          <p:nvPr/>
        </p:nvSpPr>
        <p:spPr>
          <a:xfrm>
            <a:off x="4398264" y="1508760"/>
            <a:ext cx="1691640" cy="3886200"/>
          </a:xfrm>
          <a:prstGeom prst="roundRect">
            <a:avLst>
              <a:gd name="adj" fmla="val 6486"/>
            </a:avLst>
          </a:prstGeom>
          <a:solidFill>
            <a:srgbClr val="DFF4FF"/>
          </a:solidFill>
          <a:ln w="17780">
            <a:solidFill>
              <a:srgbClr val="1C8DD8"/>
            </a:solidFill>
            <a:prstDash val="solid"/>
          </a:ln>
        </p:spPr>
      </p:sp>
      <p:sp>
        <p:nvSpPr>
          <p:cNvPr id="15" name="Text 13"/>
          <p:cNvSpPr/>
          <p:nvPr/>
        </p:nvSpPr>
        <p:spPr>
          <a:xfrm>
            <a:off x="4535424" y="1719072"/>
            <a:ext cx="1417320" cy="274320"/>
          </a:xfrm>
          <a:prstGeom prst="rect">
            <a:avLst/>
          </a:prstGeom>
          <a:noFill/>
          <a:ln/>
        </p:spPr>
        <p:txBody>
          <a:bodyPr wrap="square" lIns="0" tIns="0" rIns="0" bIns="0" rtlCol="0" anchor="ctr">
            <a:normAutofit/>
          </a:bodyPr>
          <a:lstStyle/>
          <a:p>
            <a:pPr algn="ctr" indent="0" marL="0">
              <a:buNone/>
            </a:pPr>
            <a:r>
              <a:rPr lang="en-US" sz="1400" b="1" dirty="0">
                <a:solidFill>
                  <a:srgbClr val="EF476F"/>
                </a:solidFill>
                <a:latin typeface="Aptos" pitchFamily="34" charset="0"/>
                <a:ea typeface="Aptos" pitchFamily="34" charset="-122"/>
                <a:cs typeface="Aptos" pitchFamily="34" charset="-120"/>
              </a:rPr>
              <a:t>25–40</a:t>
            </a:r>
            <a:endParaRPr lang="en-US" sz="1400" dirty="0"/>
          </a:p>
        </p:txBody>
      </p:sp>
      <p:sp>
        <p:nvSpPr>
          <p:cNvPr id="16" name="Text 14"/>
          <p:cNvSpPr/>
          <p:nvPr/>
        </p:nvSpPr>
        <p:spPr>
          <a:xfrm>
            <a:off x="4517136" y="2240280"/>
            <a:ext cx="1444752" cy="566928"/>
          </a:xfrm>
          <a:prstGeom prst="rect">
            <a:avLst/>
          </a:prstGeom>
          <a:noFill/>
          <a:ln/>
        </p:spPr>
        <p:txBody>
          <a:bodyPr wrap="square" lIns="0" tIns="0" rIns="0" bIns="0" rtlCol="0" anchor="ctr">
            <a:normAutofit/>
          </a:bodyPr>
          <a:lstStyle/>
          <a:p>
            <a:pPr algn="ctr" indent="0" marL="0">
              <a:buNone/>
            </a:pPr>
            <a:r>
              <a:rPr lang="en-US" sz="1550" b="1" dirty="0">
                <a:solidFill>
                  <a:srgbClr val="173B57"/>
                </a:solidFill>
                <a:latin typeface="Aptos" pitchFamily="34" charset="0"/>
                <a:ea typeface="Aptos" pitchFamily="34" charset="-122"/>
                <a:cs typeface="Aptos" pitchFamily="34" charset="-120"/>
              </a:rPr>
              <a:t>Describe People</a:t>
            </a:r>
            <a:endParaRPr lang="en-US" sz="1550" dirty="0"/>
          </a:p>
        </p:txBody>
      </p:sp>
      <p:sp>
        <p:nvSpPr>
          <p:cNvPr id="17" name="Text 15"/>
          <p:cNvSpPr/>
          <p:nvPr/>
        </p:nvSpPr>
        <p:spPr>
          <a:xfrm>
            <a:off x="4562856" y="3063240"/>
            <a:ext cx="1353312" cy="749808"/>
          </a:xfrm>
          <a:prstGeom prst="rect">
            <a:avLst/>
          </a:prstGeom>
          <a:noFill/>
          <a:ln/>
        </p:spPr>
        <p:txBody>
          <a:bodyPr wrap="square" lIns="0" tIns="0" rIns="0" bIns="0" rtlCol="0" anchor="ctr">
            <a:normAutofit/>
          </a:bodyPr>
          <a:lstStyle/>
          <a:p>
            <a:pPr algn="ctr" indent="0" marL="0">
              <a:buNone/>
            </a:pPr>
            <a:r>
              <a:rPr lang="en-US" sz="1240" dirty="0">
                <a:solidFill>
                  <a:srgbClr val="1F2933"/>
                </a:solidFill>
                <a:latin typeface="Aptos" pitchFamily="34" charset="0"/>
                <a:ea typeface="Aptos" pitchFamily="34" charset="-122"/>
                <a:cs typeface="Aptos" pitchFamily="34" charset="-120"/>
              </a:rPr>
              <a:t>appearance + personality</a:t>
            </a:r>
            <a:endParaRPr lang="en-US" sz="1240" dirty="0"/>
          </a:p>
        </p:txBody>
      </p:sp>
      <p:sp>
        <p:nvSpPr>
          <p:cNvPr id="18" name="Text 16"/>
          <p:cNvSpPr/>
          <p:nvPr/>
        </p:nvSpPr>
        <p:spPr>
          <a:xfrm>
            <a:off x="4901184" y="4160520"/>
            <a:ext cx="685800" cy="502920"/>
          </a:xfrm>
          <a:prstGeom prst="rect">
            <a:avLst/>
          </a:prstGeom>
          <a:noFill/>
          <a:ln/>
        </p:spPr>
        <p:txBody>
          <a:bodyPr wrap="square" lIns="0" tIns="0" rIns="0" bIns="0" rtlCol="0" anchor="ctr">
            <a:normAutofit/>
          </a:bodyPr>
          <a:lstStyle/>
          <a:p>
            <a:pPr algn="ctr" indent="0" marL="0">
              <a:buNone/>
            </a:pPr>
            <a:r>
              <a:rPr lang="en-US" sz="2600" dirty="0">
                <a:solidFill>
                  <a:srgbClr val="1F2933"/>
                </a:solidFill>
                <a:latin typeface="Segoe UI Emoji" pitchFamily="34" charset="0"/>
                <a:ea typeface="Segoe UI Emoji" pitchFamily="34" charset="-122"/>
                <a:cs typeface="Segoe UI Emoji" pitchFamily="34" charset="-120"/>
              </a:rPr>
              <a:t>⭐</a:t>
            </a:r>
            <a:endParaRPr lang="en-US" sz="2600" dirty="0"/>
          </a:p>
        </p:txBody>
      </p:sp>
      <p:sp>
        <p:nvSpPr>
          <p:cNvPr id="19" name="Shape 17"/>
          <p:cNvSpPr/>
          <p:nvPr/>
        </p:nvSpPr>
        <p:spPr>
          <a:xfrm>
            <a:off x="6345936" y="1508760"/>
            <a:ext cx="1691640" cy="3886200"/>
          </a:xfrm>
          <a:prstGeom prst="roundRect">
            <a:avLst>
              <a:gd name="adj" fmla="val 6486"/>
            </a:avLst>
          </a:prstGeom>
          <a:solidFill>
            <a:srgbClr val="DFF8EF"/>
          </a:solidFill>
          <a:ln w="17780">
            <a:solidFill>
              <a:srgbClr val="00A7A7"/>
            </a:solidFill>
            <a:prstDash val="solid"/>
          </a:ln>
        </p:spPr>
      </p:sp>
      <p:sp>
        <p:nvSpPr>
          <p:cNvPr id="20" name="Text 18"/>
          <p:cNvSpPr/>
          <p:nvPr/>
        </p:nvSpPr>
        <p:spPr>
          <a:xfrm>
            <a:off x="6483096" y="1719072"/>
            <a:ext cx="1417320" cy="274320"/>
          </a:xfrm>
          <a:prstGeom prst="rect">
            <a:avLst/>
          </a:prstGeom>
          <a:noFill/>
          <a:ln/>
        </p:spPr>
        <p:txBody>
          <a:bodyPr wrap="square" lIns="0" tIns="0" rIns="0" bIns="0" rtlCol="0" anchor="ctr">
            <a:normAutofit/>
          </a:bodyPr>
          <a:lstStyle/>
          <a:p>
            <a:pPr algn="ctr" indent="0" marL="0">
              <a:buNone/>
            </a:pPr>
            <a:r>
              <a:rPr lang="en-US" sz="1400" b="1" dirty="0">
                <a:solidFill>
                  <a:srgbClr val="EF476F"/>
                </a:solidFill>
                <a:latin typeface="Aptos" pitchFamily="34" charset="0"/>
                <a:ea typeface="Aptos" pitchFamily="34" charset="-122"/>
                <a:cs typeface="Aptos" pitchFamily="34" charset="-120"/>
              </a:rPr>
              <a:t>40–55</a:t>
            </a:r>
            <a:endParaRPr lang="en-US" sz="1400" dirty="0"/>
          </a:p>
        </p:txBody>
      </p:sp>
      <p:sp>
        <p:nvSpPr>
          <p:cNvPr id="21" name="Text 19"/>
          <p:cNvSpPr/>
          <p:nvPr/>
        </p:nvSpPr>
        <p:spPr>
          <a:xfrm>
            <a:off x="6464808" y="2240280"/>
            <a:ext cx="1444752" cy="566928"/>
          </a:xfrm>
          <a:prstGeom prst="rect">
            <a:avLst/>
          </a:prstGeom>
          <a:noFill/>
          <a:ln/>
        </p:spPr>
        <p:txBody>
          <a:bodyPr wrap="square" lIns="0" tIns="0" rIns="0" bIns="0" rtlCol="0" anchor="ctr">
            <a:normAutofit/>
          </a:bodyPr>
          <a:lstStyle/>
          <a:p>
            <a:pPr algn="ctr" indent="0" marL="0">
              <a:buNone/>
            </a:pPr>
            <a:r>
              <a:rPr lang="en-US" sz="1550" b="1" dirty="0">
                <a:solidFill>
                  <a:srgbClr val="173B57"/>
                </a:solidFill>
                <a:latin typeface="Aptos" pitchFamily="34" charset="0"/>
                <a:ea typeface="Aptos" pitchFamily="34" charset="-122"/>
                <a:cs typeface="Aptos" pitchFamily="34" charset="-120"/>
              </a:rPr>
              <a:t>Listening Story</a:t>
            </a:r>
            <a:endParaRPr lang="en-US" sz="1550" dirty="0"/>
          </a:p>
        </p:txBody>
      </p:sp>
      <p:sp>
        <p:nvSpPr>
          <p:cNvPr id="22" name="Text 20"/>
          <p:cNvSpPr/>
          <p:nvPr/>
        </p:nvSpPr>
        <p:spPr>
          <a:xfrm>
            <a:off x="6510528" y="3063240"/>
            <a:ext cx="1353312" cy="749808"/>
          </a:xfrm>
          <a:prstGeom prst="rect">
            <a:avLst/>
          </a:prstGeom>
          <a:noFill/>
          <a:ln/>
        </p:spPr>
        <p:txBody>
          <a:bodyPr wrap="square" lIns="0" tIns="0" rIns="0" bIns="0" rtlCol="0" anchor="ctr">
            <a:normAutofit/>
          </a:bodyPr>
          <a:lstStyle/>
          <a:p>
            <a:pPr algn="ctr" indent="0" marL="0">
              <a:buNone/>
            </a:pPr>
            <a:r>
              <a:rPr lang="en-US" sz="1240" dirty="0">
                <a:solidFill>
                  <a:srgbClr val="1F2933"/>
                </a:solidFill>
                <a:latin typeface="Aptos" pitchFamily="34" charset="0"/>
                <a:ea typeface="Aptos" pitchFamily="34" charset="-122"/>
                <a:cs typeface="Aptos" pitchFamily="34" charset="-120"/>
              </a:rPr>
              <a:t>Hear a family photo talk</a:t>
            </a:r>
            <a:endParaRPr lang="en-US" sz="1240" dirty="0"/>
          </a:p>
        </p:txBody>
      </p:sp>
      <p:sp>
        <p:nvSpPr>
          <p:cNvPr id="23" name="Text 21"/>
          <p:cNvSpPr/>
          <p:nvPr/>
        </p:nvSpPr>
        <p:spPr>
          <a:xfrm>
            <a:off x="6848856" y="4160520"/>
            <a:ext cx="685800" cy="502920"/>
          </a:xfrm>
          <a:prstGeom prst="rect">
            <a:avLst/>
          </a:prstGeom>
          <a:noFill/>
          <a:ln/>
        </p:spPr>
        <p:txBody>
          <a:bodyPr wrap="square" lIns="0" tIns="0" rIns="0" bIns="0" rtlCol="0" anchor="ctr">
            <a:normAutofit/>
          </a:bodyPr>
          <a:lstStyle/>
          <a:p>
            <a:pPr algn="ctr" indent="0" marL="0">
              <a:buNone/>
            </a:pPr>
            <a:r>
              <a:rPr lang="en-US" sz="2600" dirty="0">
                <a:solidFill>
                  <a:srgbClr val="1F2933"/>
                </a:solidFill>
                <a:latin typeface="Segoe UI Emoji" pitchFamily="34" charset="0"/>
                <a:ea typeface="Segoe UI Emoji" pitchFamily="34" charset="-122"/>
                <a:cs typeface="Segoe UI Emoji" pitchFamily="34" charset="-120"/>
              </a:rPr>
              <a:t>🎧</a:t>
            </a:r>
            <a:endParaRPr lang="en-US" sz="2600" dirty="0"/>
          </a:p>
        </p:txBody>
      </p:sp>
      <p:sp>
        <p:nvSpPr>
          <p:cNvPr id="24" name="Shape 22"/>
          <p:cNvSpPr/>
          <p:nvPr/>
        </p:nvSpPr>
        <p:spPr>
          <a:xfrm>
            <a:off x="8293608" y="1508760"/>
            <a:ext cx="1691640" cy="3886200"/>
          </a:xfrm>
          <a:prstGeom prst="roundRect">
            <a:avLst>
              <a:gd name="adj" fmla="val 6486"/>
            </a:avLst>
          </a:prstGeom>
          <a:solidFill>
            <a:srgbClr val="DFF4FF"/>
          </a:solidFill>
          <a:ln w="17780">
            <a:solidFill>
              <a:srgbClr val="1C8DD8"/>
            </a:solidFill>
            <a:prstDash val="solid"/>
          </a:ln>
        </p:spPr>
      </p:sp>
      <p:sp>
        <p:nvSpPr>
          <p:cNvPr id="25" name="Text 23"/>
          <p:cNvSpPr/>
          <p:nvPr/>
        </p:nvSpPr>
        <p:spPr>
          <a:xfrm>
            <a:off x="8430768" y="1719072"/>
            <a:ext cx="1417320" cy="274320"/>
          </a:xfrm>
          <a:prstGeom prst="rect">
            <a:avLst/>
          </a:prstGeom>
          <a:noFill/>
          <a:ln/>
        </p:spPr>
        <p:txBody>
          <a:bodyPr wrap="square" lIns="0" tIns="0" rIns="0" bIns="0" rtlCol="0" anchor="ctr">
            <a:normAutofit/>
          </a:bodyPr>
          <a:lstStyle/>
          <a:p>
            <a:pPr algn="ctr" indent="0" marL="0">
              <a:buNone/>
            </a:pPr>
            <a:r>
              <a:rPr lang="en-US" sz="1400" b="1" dirty="0">
                <a:solidFill>
                  <a:srgbClr val="EF476F"/>
                </a:solidFill>
                <a:latin typeface="Aptos" pitchFamily="34" charset="0"/>
                <a:ea typeface="Aptos" pitchFamily="34" charset="-122"/>
                <a:cs typeface="Aptos" pitchFamily="34" charset="-120"/>
              </a:rPr>
              <a:t>55–75</a:t>
            </a:r>
            <a:endParaRPr lang="en-US" sz="1400" dirty="0"/>
          </a:p>
        </p:txBody>
      </p:sp>
      <p:sp>
        <p:nvSpPr>
          <p:cNvPr id="26" name="Text 24"/>
          <p:cNvSpPr/>
          <p:nvPr/>
        </p:nvSpPr>
        <p:spPr>
          <a:xfrm>
            <a:off x="8412480" y="2240280"/>
            <a:ext cx="1444752" cy="566928"/>
          </a:xfrm>
          <a:prstGeom prst="rect">
            <a:avLst/>
          </a:prstGeom>
          <a:noFill/>
          <a:ln/>
        </p:spPr>
        <p:txBody>
          <a:bodyPr wrap="square" lIns="0" tIns="0" rIns="0" bIns="0" rtlCol="0" anchor="ctr">
            <a:normAutofit/>
          </a:bodyPr>
          <a:lstStyle/>
          <a:p>
            <a:pPr algn="ctr" indent="0" marL="0">
              <a:buNone/>
            </a:pPr>
            <a:r>
              <a:rPr lang="en-US" sz="1550" b="1" dirty="0">
                <a:solidFill>
                  <a:srgbClr val="173B57"/>
                </a:solidFill>
                <a:latin typeface="Aptos" pitchFamily="34" charset="0"/>
                <a:ea typeface="Aptos" pitchFamily="34" charset="-122"/>
                <a:cs typeface="Aptos" pitchFamily="34" charset="-120"/>
              </a:rPr>
              <a:t>Speak &amp; Ask</a:t>
            </a:r>
            <a:endParaRPr lang="en-US" sz="1550" dirty="0"/>
          </a:p>
        </p:txBody>
      </p:sp>
      <p:sp>
        <p:nvSpPr>
          <p:cNvPr id="27" name="Text 25"/>
          <p:cNvSpPr/>
          <p:nvPr/>
        </p:nvSpPr>
        <p:spPr>
          <a:xfrm>
            <a:off x="8458200" y="3063240"/>
            <a:ext cx="1353312" cy="749808"/>
          </a:xfrm>
          <a:prstGeom prst="rect">
            <a:avLst/>
          </a:prstGeom>
          <a:noFill/>
          <a:ln/>
        </p:spPr>
        <p:txBody>
          <a:bodyPr wrap="square" lIns="0" tIns="0" rIns="0" bIns="0" rtlCol="0" anchor="ctr">
            <a:normAutofit/>
          </a:bodyPr>
          <a:lstStyle/>
          <a:p>
            <a:pPr algn="ctr" indent="0" marL="0">
              <a:buNone/>
            </a:pPr>
            <a:r>
              <a:rPr lang="en-US" sz="1240" dirty="0">
                <a:solidFill>
                  <a:srgbClr val="1F2933"/>
                </a:solidFill>
                <a:latin typeface="Aptos" pitchFamily="34" charset="0"/>
                <a:ea typeface="Aptos" pitchFamily="34" charset="-122"/>
                <a:cs typeface="Aptos" pitchFamily="34" charset="-120"/>
              </a:rPr>
              <a:t>Family tree + friend interview</a:t>
            </a:r>
            <a:endParaRPr lang="en-US" sz="1240" dirty="0"/>
          </a:p>
        </p:txBody>
      </p:sp>
      <p:sp>
        <p:nvSpPr>
          <p:cNvPr id="28" name="Text 26"/>
          <p:cNvSpPr/>
          <p:nvPr/>
        </p:nvSpPr>
        <p:spPr>
          <a:xfrm>
            <a:off x="8796528" y="4160520"/>
            <a:ext cx="685800" cy="502920"/>
          </a:xfrm>
          <a:prstGeom prst="rect">
            <a:avLst/>
          </a:prstGeom>
          <a:noFill/>
          <a:ln/>
        </p:spPr>
        <p:txBody>
          <a:bodyPr wrap="square" lIns="0" tIns="0" rIns="0" bIns="0" rtlCol="0" anchor="ctr">
            <a:normAutofit/>
          </a:bodyPr>
          <a:lstStyle/>
          <a:p>
            <a:pPr algn="ctr" indent="0" marL="0">
              <a:buNone/>
            </a:pPr>
            <a:r>
              <a:rPr lang="en-US" sz="2600" dirty="0">
                <a:solidFill>
                  <a:srgbClr val="1F2933"/>
                </a:solidFill>
                <a:latin typeface="Segoe UI Emoji" pitchFamily="34" charset="0"/>
                <a:ea typeface="Segoe UI Emoji" pitchFamily="34" charset="-122"/>
                <a:cs typeface="Segoe UI Emoji" pitchFamily="34" charset="-120"/>
              </a:rPr>
              <a:t>🤝</a:t>
            </a:r>
            <a:endParaRPr lang="en-US" sz="2600" dirty="0"/>
          </a:p>
        </p:txBody>
      </p:sp>
      <p:sp>
        <p:nvSpPr>
          <p:cNvPr id="29" name="Shape 27"/>
          <p:cNvSpPr/>
          <p:nvPr/>
        </p:nvSpPr>
        <p:spPr>
          <a:xfrm>
            <a:off x="10241280" y="1508760"/>
            <a:ext cx="1691640" cy="3886200"/>
          </a:xfrm>
          <a:prstGeom prst="roundRect">
            <a:avLst>
              <a:gd name="adj" fmla="val 6486"/>
            </a:avLst>
          </a:prstGeom>
          <a:solidFill>
            <a:srgbClr val="DFF8EF"/>
          </a:solidFill>
          <a:ln w="17780">
            <a:solidFill>
              <a:srgbClr val="00A7A7"/>
            </a:solidFill>
            <a:prstDash val="solid"/>
          </a:ln>
        </p:spPr>
      </p:sp>
      <p:sp>
        <p:nvSpPr>
          <p:cNvPr id="30" name="Text 28"/>
          <p:cNvSpPr/>
          <p:nvPr/>
        </p:nvSpPr>
        <p:spPr>
          <a:xfrm>
            <a:off x="10378440" y="1719072"/>
            <a:ext cx="1417320" cy="274320"/>
          </a:xfrm>
          <a:prstGeom prst="rect">
            <a:avLst/>
          </a:prstGeom>
          <a:noFill/>
          <a:ln/>
        </p:spPr>
        <p:txBody>
          <a:bodyPr wrap="square" lIns="0" tIns="0" rIns="0" bIns="0" rtlCol="0" anchor="ctr">
            <a:normAutofit/>
          </a:bodyPr>
          <a:lstStyle/>
          <a:p>
            <a:pPr algn="ctr" indent="0" marL="0">
              <a:buNone/>
            </a:pPr>
            <a:r>
              <a:rPr lang="en-US" sz="1400" b="1" dirty="0">
                <a:solidFill>
                  <a:srgbClr val="EF476F"/>
                </a:solidFill>
                <a:latin typeface="Aptos" pitchFamily="34" charset="0"/>
                <a:ea typeface="Aptos" pitchFamily="34" charset="-122"/>
                <a:cs typeface="Aptos" pitchFamily="34" charset="-120"/>
              </a:rPr>
              <a:t>75–90</a:t>
            </a:r>
            <a:endParaRPr lang="en-US" sz="1400" dirty="0"/>
          </a:p>
        </p:txBody>
      </p:sp>
      <p:sp>
        <p:nvSpPr>
          <p:cNvPr id="31" name="Text 29"/>
          <p:cNvSpPr/>
          <p:nvPr/>
        </p:nvSpPr>
        <p:spPr>
          <a:xfrm>
            <a:off x="10360152" y="2240280"/>
            <a:ext cx="1444752" cy="566928"/>
          </a:xfrm>
          <a:prstGeom prst="rect">
            <a:avLst/>
          </a:prstGeom>
          <a:noFill/>
          <a:ln/>
        </p:spPr>
        <p:txBody>
          <a:bodyPr wrap="square" lIns="0" tIns="0" rIns="0" bIns="0" rtlCol="0" anchor="ctr">
            <a:normAutofit/>
          </a:bodyPr>
          <a:lstStyle/>
          <a:p>
            <a:pPr algn="ctr" indent="0" marL="0">
              <a:buNone/>
            </a:pPr>
            <a:r>
              <a:rPr lang="en-US" sz="1550" b="1" dirty="0">
                <a:solidFill>
                  <a:srgbClr val="173B57"/>
                </a:solidFill>
                <a:latin typeface="Aptos" pitchFamily="34" charset="0"/>
                <a:ea typeface="Aptos" pitchFamily="34" charset="-122"/>
                <a:cs typeface="Aptos" pitchFamily="34" charset="-120"/>
              </a:rPr>
              <a:t>Show &amp; Reflect</a:t>
            </a:r>
            <a:endParaRPr lang="en-US" sz="1550" dirty="0"/>
          </a:p>
        </p:txBody>
      </p:sp>
      <p:sp>
        <p:nvSpPr>
          <p:cNvPr id="32" name="Text 30"/>
          <p:cNvSpPr/>
          <p:nvPr/>
        </p:nvSpPr>
        <p:spPr>
          <a:xfrm>
            <a:off x="10405872" y="3063240"/>
            <a:ext cx="1353312" cy="749808"/>
          </a:xfrm>
          <a:prstGeom prst="rect">
            <a:avLst/>
          </a:prstGeom>
          <a:noFill/>
          <a:ln/>
        </p:spPr>
        <p:txBody>
          <a:bodyPr wrap="square" lIns="0" tIns="0" rIns="0" bIns="0" rtlCol="0" anchor="ctr">
            <a:normAutofit/>
          </a:bodyPr>
          <a:lstStyle/>
          <a:p>
            <a:pPr algn="ctr" indent="0" marL="0">
              <a:buNone/>
            </a:pPr>
            <a:r>
              <a:rPr lang="en-US" sz="1240" dirty="0">
                <a:solidFill>
                  <a:srgbClr val="1F2933"/>
                </a:solidFill>
                <a:latin typeface="Aptos" pitchFamily="34" charset="0"/>
                <a:ea typeface="Aptos" pitchFamily="34" charset="-122"/>
                <a:cs typeface="Aptos" pitchFamily="34" charset="-120"/>
              </a:rPr>
              <a:t>Someone special presentation</a:t>
            </a:r>
            <a:endParaRPr lang="en-US" sz="1240" dirty="0"/>
          </a:p>
        </p:txBody>
      </p:sp>
      <p:sp>
        <p:nvSpPr>
          <p:cNvPr id="33" name="Text 31"/>
          <p:cNvSpPr/>
          <p:nvPr/>
        </p:nvSpPr>
        <p:spPr>
          <a:xfrm>
            <a:off x="10744200" y="4160520"/>
            <a:ext cx="685800" cy="502920"/>
          </a:xfrm>
          <a:prstGeom prst="rect">
            <a:avLst/>
          </a:prstGeom>
          <a:noFill/>
          <a:ln/>
        </p:spPr>
        <p:txBody>
          <a:bodyPr wrap="square" lIns="0" tIns="0" rIns="0" bIns="0" rtlCol="0" anchor="ctr">
            <a:normAutofit/>
          </a:bodyPr>
          <a:lstStyle/>
          <a:p>
            <a:pPr algn="ctr" indent="0" marL="0">
              <a:buNone/>
            </a:pPr>
            <a:r>
              <a:rPr lang="en-US" sz="2600" dirty="0">
                <a:solidFill>
                  <a:srgbClr val="1F2933"/>
                </a:solidFill>
                <a:latin typeface="Segoe UI Emoji" pitchFamily="34" charset="0"/>
                <a:ea typeface="Segoe UI Emoji" pitchFamily="34" charset="-122"/>
                <a:cs typeface="Segoe UI Emoji" pitchFamily="34" charset="-120"/>
              </a:rPr>
              <a:t>🎤</a:t>
            </a:r>
            <a:endParaRPr lang="en-US" sz="2600" dirty="0"/>
          </a:p>
        </p:txBody>
      </p:sp>
      <p:sp>
        <p:nvSpPr>
          <p:cNvPr id="34" name="Text 32"/>
          <p:cNvSpPr/>
          <p:nvPr/>
        </p:nvSpPr>
        <p:spPr>
          <a:xfrm>
            <a:off x="1097280" y="5742432"/>
            <a:ext cx="9966960" cy="320040"/>
          </a:xfrm>
          <a:prstGeom prst="rect">
            <a:avLst/>
          </a:prstGeom>
          <a:noFill/>
          <a:ln/>
        </p:spPr>
        <p:txBody>
          <a:bodyPr wrap="square" lIns="0" tIns="0" rIns="0" bIns="0" rtlCol="0" anchor="ctr">
            <a:normAutofit/>
          </a:bodyPr>
          <a:lstStyle/>
          <a:p>
            <a:pPr algn="ctr" indent="0" marL="0">
              <a:buNone/>
            </a:pPr>
            <a:r>
              <a:rPr lang="en-US" sz="1500" b="1" dirty="0">
                <a:solidFill>
                  <a:srgbClr val="5E6B73"/>
                </a:solidFill>
                <a:latin typeface="Aptos" pitchFamily="34" charset="0"/>
                <a:ea typeface="Aptos" pitchFamily="34" charset="-122"/>
                <a:cs typeface="Aptos" pitchFamily="34" charset="-120"/>
              </a:rPr>
              <a:t>Teacher tip: Keep questions easy. Let students pass if a family topic feels private.</a:t>
            </a:r>
            <a:endParaRPr lang="en-US" sz="1500" dirty="0"/>
          </a:p>
        </p:txBody>
      </p:sp>
      <p:sp>
        <p:nvSpPr>
          <p:cNvPr id="35" name="Shape 33"/>
          <p:cNvSpPr/>
          <p:nvPr/>
        </p:nvSpPr>
        <p:spPr>
          <a:xfrm>
            <a:off x="0" y="6565392"/>
            <a:ext cx="12188952" cy="292608"/>
          </a:xfrm>
          <a:prstGeom prst="rect">
            <a:avLst/>
          </a:prstGeom>
          <a:solidFill>
            <a:srgbClr val="FFFFFF"/>
          </a:solidFill>
          <a:ln w="12700">
            <a:solidFill>
              <a:srgbClr val="C9E6F5"/>
            </a:solidFill>
            <a:prstDash val="solid"/>
          </a:ln>
        </p:spPr>
      </p:sp>
      <p:sp>
        <p:nvSpPr>
          <p:cNvPr id="36" name="Text 34"/>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7" name="Text 35"/>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Warm-up: Someone Special</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Start speaking in the first 5 minutes.</a:t>
            </a:r>
            <a:endParaRPr lang="en-US" sz="1450" dirty="0"/>
          </a:p>
        </p:txBody>
      </p:sp>
      <p:sp>
        <p:nvSpPr>
          <p:cNvPr id="4" name="Text 2"/>
          <p:cNvSpPr/>
          <p:nvPr/>
        </p:nvSpPr>
        <p:spPr>
          <a:xfrm>
            <a:off x="914400" y="1371600"/>
            <a:ext cx="5212080" cy="3429000"/>
          </a:xfrm>
          <a:prstGeom prst="rect">
            <a:avLst/>
          </a:prstGeom>
          <a:noFill/>
          <a:ln/>
        </p:spPr>
        <p:txBody>
          <a:bodyPr wrap="square" lIns="0" tIns="0" rIns="0" bIns="0" rtlCol="0" anchor="ctr">
            <a:normAutofit/>
          </a:bodyPr>
          <a:lstStyle/>
          <a:p>
            <a:pPr indent="0" marL="0">
              <a:buNone/>
            </a:pPr>
            <a:r>
              <a:rPr lang="en-US" sz="2000" dirty="0">
                <a:solidFill>
                  <a:srgbClr val="1F2933"/>
                </a:solidFill>
                <a:latin typeface="Aptos" pitchFamily="34" charset="0"/>
                <a:ea typeface="Aptos" pitchFamily="34" charset="-122"/>
                <a:cs typeface="Aptos" pitchFamily="34" charset="-120"/>
              </a:rPr>
              <a:t>Teacher: Today we talk about family and friends.</a:t>
            </a:r>
            <a:endParaRPr lang="en-US" sz="2000" dirty="0"/>
          </a:p>
          <a:p>
            <a:pPr indent="0" marL="0">
              <a:buNone/>
            </a:pPr>
            <a:r>
              <a:rPr lang="en-US" sz="2000" dirty="0">
                <a:solidFill>
                  <a:srgbClr val="1F2933"/>
                </a:solidFill>
                <a:latin typeface="Aptos" pitchFamily="34" charset="0"/>
                <a:ea typeface="Aptos" pitchFamily="34" charset="-122"/>
                <a:cs typeface="Aptos" pitchFamily="34" charset="-120"/>
              </a:rPr>
              <a:t>Students: Family and friends!</a:t>
            </a:r>
            <a:endParaRPr lang="en-US" sz="2000" dirty="0"/>
          </a:p>
          <a:p>
            <a:pPr indent="0" marL="0">
              <a:buNone/>
            </a:pPr>
            <a:r>
              <a:rPr lang="en-US" sz="2000" dirty="0">
                <a:solidFill>
                  <a:srgbClr val="1F2933"/>
                </a:solidFill>
                <a:latin typeface="Aptos" pitchFamily="34" charset="0"/>
                <a:ea typeface="Aptos" pitchFamily="34" charset="-122"/>
                <a:cs typeface="Aptos" pitchFamily="34" charset="-120"/>
              </a:rPr>
              <a:t>Teacher: Think of one special person.</a:t>
            </a:r>
            <a:endParaRPr lang="en-US" sz="2000" dirty="0"/>
          </a:p>
          <a:p>
            <a:pPr indent="0" marL="0">
              <a:buNone/>
            </a:pPr>
            <a:r>
              <a:rPr lang="en-US" sz="2000" dirty="0">
                <a:solidFill>
                  <a:srgbClr val="1F2933"/>
                </a:solidFill>
                <a:latin typeface="Aptos" pitchFamily="34" charset="0"/>
                <a:ea typeface="Aptos" pitchFamily="34" charset="-122"/>
                <a:cs typeface="Aptos" pitchFamily="34" charset="-120"/>
              </a:rPr>
              <a:t>Student: My special person is _____.</a:t>
            </a:r>
            <a:endParaRPr lang="en-US" sz="2000" dirty="0"/>
          </a:p>
          <a:p>
            <a:pPr indent="0" marL="0">
              <a:buNone/>
            </a:pPr>
            <a:r>
              <a:rPr lang="en-US" sz="2000" dirty="0">
                <a:solidFill>
                  <a:srgbClr val="1F2933"/>
                </a:solidFill>
                <a:latin typeface="Aptos" pitchFamily="34" charset="0"/>
                <a:ea typeface="Aptos" pitchFamily="34" charset="-122"/>
                <a:cs typeface="Aptos" pitchFamily="34" charset="-120"/>
              </a:rPr>
              <a:t>Teacher: Why?</a:t>
            </a:r>
            <a:endParaRPr lang="en-US" sz="2000" dirty="0"/>
          </a:p>
          <a:p>
            <a:pPr indent="0" marL="0">
              <a:buNone/>
            </a:pPr>
            <a:r>
              <a:rPr lang="en-US" sz="2000" dirty="0">
                <a:solidFill>
                  <a:srgbClr val="1F2933"/>
                </a:solidFill>
                <a:latin typeface="Aptos" pitchFamily="34" charset="0"/>
                <a:ea typeface="Aptos" pitchFamily="34" charset="-122"/>
                <a:cs typeface="Aptos" pitchFamily="34" charset="-120"/>
              </a:rPr>
              <a:t>Student: Because he/she is _____.</a:t>
            </a:r>
            <a:endParaRPr lang="en-US" sz="2000" dirty="0"/>
          </a:p>
        </p:txBody>
      </p:sp>
      <p:sp>
        <p:nvSpPr>
          <p:cNvPr id="5" name="Shape 3"/>
          <p:cNvSpPr/>
          <p:nvPr/>
        </p:nvSpPr>
        <p:spPr>
          <a:xfrm>
            <a:off x="6583680" y="1371600"/>
            <a:ext cx="4297680" cy="1005840"/>
          </a:xfrm>
          <a:prstGeom prst="roundRect">
            <a:avLst>
              <a:gd name="adj" fmla="val 10909"/>
            </a:avLst>
          </a:prstGeom>
          <a:solidFill>
            <a:srgbClr val="DFF4FF"/>
          </a:solidFill>
          <a:ln w="17780">
            <a:solidFill>
              <a:srgbClr val="1C8DD8"/>
            </a:solidFill>
            <a:prstDash val="solid"/>
          </a:ln>
        </p:spPr>
      </p:sp>
      <p:sp>
        <p:nvSpPr>
          <p:cNvPr id="6" name="Text 4"/>
          <p:cNvSpPr/>
          <p:nvPr/>
        </p:nvSpPr>
        <p:spPr>
          <a:xfrm>
            <a:off x="6720840" y="14813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7" name="Text 5"/>
          <p:cNvSpPr/>
          <p:nvPr/>
        </p:nvSpPr>
        <p:spPr>
          <a:xfrm>
            <a:off x="7269480" y="1517904"/>
            <a:ext cx="342900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Safe choice</a:t>
            </a:r>
            <a:endParaRPr lang="en-US" sz="1550" dirty="0"/>
          </a:p>
        </p:txBody>
      </p:sp>
      <p:sp>
        <p:nvSpPr>
          <p:cNvPr id="8" name="Text 6"/>
          <p:cNvSpPr/>
          <p:nvPr/>
        </p:nvSpPr>
        <p:spPr>
          <a:xfrm>
            <a:off x="6748272" y="1938528"/>
            <a:ext cx="3968496" cy="320040"/>
          </a:xfrm>
          <a:prstGeom prst="rect">
            <a:avLst/>
          </a:prstGeom>
          <a:noFill/>
          <a:ln/>
        </p:spPr>
        <p:txBody>
          <a:bodyPr wrap="square" lIns="0" tIns="0" rIns="0" bIns="0" rtlCol="0" anchor="t">
            <a:normAutofit/>
          </a:bodyPr>
          <a:lstStyle/>
          <a:p>
            <a:pPr indent="0" marL="0">
              <a:buNone/>
            </a:pPr>
            <a:r>
              <a:rPr lang="en-US" sz="1250" dirty="0">
                <a:solidFill>
                  <a:srgbClr val="1F2933"/>
                </a:solidFill>
                <a:latin typeface="Aptos" pitchFamily="34" charset="0"/>
                <a:ea typeface="Aptos" pitchFamily="34" charset="-122"/>
                <a:cs typeface="Aptos" pitchFamily="34" charset="-120"/>
              </a:rPr>
              <a:t>Students can choose family, friend, pet, or character.</a:t>
            </a:r>
            <a:endParaRPr lang="en-US" sz="1250" dirty="0"/>
          </a:p>
        </p:txBody>
      </p:sp>
      <p:sp>
        <p:nvSpPr>
          <p:cNvPr id="9" name="Shape 7"/>
          <p:cNvSpPr/>
          <p:nvPr/>
        </p:nvSpPr>
        <p:spPr>
          <a:xfrm>
            <a:off x="6583680" y="2651760"/>
            <a:ext cx="4297680" cy="1005840"/>
          </a:xfrm>
          <a:prstGeom prst="roundRect">
            <a:avLst>
              <a:gd name="adj" fmla="val 10909"/>
            </a:avLst>
          </a:prstGeom>
          <a:solidFill>
            <a:srgbClr val="FFF4CC"/>
          </a:solidFill>
          <a:ln w="17780">
            <a:solidFill>
              <a:srgbClr val="FFD166"/>
            </a:solidFill>
            <a:prstDash val="solid"/>
          </a:ln>
        </p:spPr>
      </p:sp>
      <p:sp>
        <p:nvSpPr>
          <p:cNvPr id="10" name="Text 8"/>
          <p:cNvSpPr/>
          <p:nvPr/>
        </p:nvSpPr>
        <p:spPr>
          <a:xfrm>
            <a:off x="6720840" y="27614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1" name="Text 9"/>
          <p:cNvSpPr/>
          <p:nvPr/>
        </p:nvSpPr>
        <p:spPr>
          <a:xfrm>
            <a:off x="7269480" y="2798064"/>
            <a:ext cx="342900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Class reply</a:t>
            </a:r>
            <a:endParaRPr lang="en-US" sz="1550" dirty="0"/>
          </a:p>
        </p:txBody>
      </p:sp>
      <p:sp>
        <p:nvSpPr>
          <p:cNvPr id="12" name="Text 10"/>
          <p:cNvSpPr/>
          <p:nvPr/>
        </p:nvSpPr>
        <p:spPr>
          <a:xfrm>
            <a:off x="6748272" y="3218688"/>
            <a:ext cx="3968496" cy="320040"/>
          </a:xfrm>
          <a:prstGeom prst="rect">
            <a:avLst/>
          </a:prstGeom>
          <a:noFill/>
          <a:ln/>
        </p:spPr>
        <p:txBody>
          <a:bodyPr wrap="square" lIns="0" tIns="0" rIns="0" bIns="0" rtlCol="0" anchor="t">
            <a:normAutofit/>
          </a:bodyPr>
          <a:lstStyle/>
          <a:p>
            <a:pPr indent="0" marL="0">
              <a:buNone/>
            </a:pPr>
            <a:r>
              <a:rPr lang="en-US" sz="1250" dirty="0">
                <a:solidFill>
                  <a:srgbClr val="1F2933"/>
                </a:solidFill>
                <a:latin typeface="Aptos" pitchFamily="34" charset="0"/>
                <a:ea typeface="Aptos" pitchFamily="34" charset="-122"/>
                <a:cs typeface="Aptos" pitchFamily="34" charset="-120"/>
              </a:rPr>
              <a:t>“That’s nice!” or “Cool!” after each answer.</a:t>
            </a:r>
            <a:endParaRPr lang="en-US" sz="1250" dirty="0"/>
          </a:p>
        </p:txBody>
      </p:sp>
      <p:sp>
        <p:nvSpPr>
          <p:cNvPr id="13" name="Shape 11"/>
          <p:cNvSpPr/>
          <p:nvPr/>
        </p:nvSpPr>
        <p:spPr>
          <a:xfrm>
            <a:off x="6583680" y="3931920"/>
            <a:ext cx="4297680" cy="1005840"/>
          </a:xfrm>
          <a:prstGeom prst="roundRect">
            <a:avLst>
              <a:gd name="adj" fmla="val 10909"/>
            </a:avLst>
          </a:prstGeom>
          <a:solidFill>
            <a:srgbClr val="DFF8EF"/>
          </a:solidFill>
          <a:ln w="17780">
            <a:solidFill>
              <a:srgbClr val="00A7A7"/>
            </a:solidFill>
            <a:prstDash val="solid"/>
          </a:ln>
        </p:spPr>
      </p:sp>
      <p:sp>
        <p:nvSpPr>
          <p:cNvPr id="14" name="Text 12"/>
          <p:cNvSpPr/>
          <p:nvPr/>
        </p:nvSpPr>
        <p:spPr>
          <a:xfrm>
            <a:off x="6720840" y="40416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5" name="Text 13"/>
          <p:cNvSpPr/>
          <p:nvPr/>
        </p:nvSpPr>
        <p:spPr>
          <a:xfrm>
            <a:off x="7269480" y="4078224"/>
            <a:ext cx="342900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Fast routine</a:t>
            </a:r>
            <a:endParaRPr lang="en-US" sz="1550" dirty="0"/>
          </a:p>
        </p:txBody>
      </p:sp>
      <p:sp>
        <p:nvSpPr>
          <p:cNvPr id="16" name="Text 14"/>
          <p:cNvSpPr/>
          <p:nvPr/>
        </p:nvSpPr>
        <p:spPr>
          <a:xfrm>
            <a:off x="6748272" y="4498848"/>
            <a:ext cx="3968496" cy="320040"/>
          </a:xfrm>
          <a:prstGeom prst="rect">
            <a:avLst/>
          </a:prstGeom>
          <a:noFill/>
          <a:ln/>
        </p:spPr>
        <p:txBody>
          <a:bodyPr wrap="square" lIns="0" tIns="0" rIns="0" bIns="0" rtlCol="0" anchor="t">
            <a:normAutofit/>
          </a:bodyPr>
          <a:lstStyle/>
          <a:p>
            <a:pPr indent="0" marL="0">
              <a:buNone/>
            </a:pPr>
            <a:r>
              <a:rPr lang="en-US" sz="1250" dirty="0">
                <a:solidFill>
                  <a:srgbClr val="1F2933"/>
                </a:solidFill>
                <a:latin typeface="Aptos" pitchFamily="34" charset="0"/>
                <a:ea typeface="Aptos" pitchFamily="34" charset="-122"/>
                <a:cs typeface="Aptos" pitchFamily="34" charset="-120"/>
              </a:rPr>
              <a:t>Pass a ball. One sentence each. Keep it warm.</a:t>
            </a:r>
            <a:endParaRPr lang="en-US" sz="1250" dirty="0"/>
          </a:p>
        </p:txBody>
      </p:sp>
      <p:sp>
        <p:nvSpPr>
          <p:cNvPr id="17" name="Shape 15"/>
          <p:cNvSpPr/>
          <p:nvPr/>
        </p:nvSpPr>
        <p:spPr>
          <a:xfrm>
            <a:off x="0" y="6565392"/>
            <a:ext cx="12188952" cy="292608"/>
          </a:xfrm>
          <a:prstGeom prst="rect">
            <a:avLst/>
          </a:prstGeom>
          <a:solidFill>
            <a:srgbClr val="FFFFFF"/>
          </a:solidFill>
          <a:ln w="12700">
            <a:solidFill>
              <a:srgbClr val="C9E6F5"/>
            </a:solidFill>
            <a:prstDash val="solid"/>
          </a:ln>
        </p:spPr>
      </p:sp>
      <p:sp>
        <p:nvSpPr>
          <p:cNvPr id="18" name="Text 16"/>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19" name="Text 17"/>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Teacher Wants to Know</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Ask these questions slowly. Students can answer with one word or a full sentence.</a:t>
            </a:r>
            <a:endParaRPr lang="en-US" sz="1450" dirty="0"/>
          </a:p>
        </p:txBody>
      </p:sp>
      <p:sp>
        <p:nvSpPr>
          <p:cNvPr id="4" name="Shape 2"/>
          <p:cNvSpPr/>
          <p:nvPr/>
        </p:nvSpPr>
        <p:spPr>
          <a:xfrm>
            <a:off x="713232" y="1325880"/>
            <a:ext cx="5120640" cy="1051560"/>
          </a:xfrm>
          <a:prstGeom prst="roundRect">
            <a:avLst>
              <a:gd name="adj" fmla="val 10435"/>
            </a:avLst>
          </a:prstGeom>
          <a:solidFill>
            <a:srgbClr val="DFF4FF"/>
          </a:solidFill>
          <a:ln w="17780">
            <a:solidFill>
              <a:srgbClr val="1C8DD8"/>
            </a:solidFill>
            <a:prstDash val="solid"/>
          </a:ln>
        </p:spPr>
      </p:sp>
      <p:sp>
        <p:nvSpPr>
          <p:cNvPr id="5" name="Text 3"/>
          <p:cNvSpPr/>
          <p:nvPr/>
        </p:nvSpPr>
        <p:spPr>
          <a:xfrm>
            <a:off x="85039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47218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Who is in your family?</a:t>
            </a:r>
            <a:endParaRPr lang="en-US" sz="1550" dirty="0"/>
          </a:p>
        </p:txBody>
      </p:sp>
      <p:sp>
        <p:nvSpPr>
          <p:cNvPr id="7" name="Text 5"/>
          <p:cNvSpPr/>
          <p:nvPr/>
        </p:nvSpPr>
        <p:spPr>
          <a:xfrm>
            <a:off x="877824" y="1892808"/>
            <a:ext cx="4791456" cy="365760"/>
          </a:xfrm>
          <a:prstGeom prst="rect">
            <a:avLst/>
          </a:prstGeom>
          <a:noFill/>
          <a:ln/>
        </p:spPr>
        <p:txBody>
          <a:bodyPr wrap="square" lIns="0" tIns="0" rIns="0" bIns="0" rtlCol="0" anchor="t">
            <a:normAutofit/>
          </a:bodyPr>
          <a:lstStyle/>
          <a:p>
            <a:pPr indent="0" marL="0">
              <a:buNone/>
            </a:pPr>
            <a:r>
              <a:rPr lang="en-US" sz="1300" dirty="0">
                <a:solidFill>
                  <a:srgbClr val="1F2933"/>
                </a:solidFill>
                <a:latin typeface="Aptos" pitchFamily="34" charset="0"/>
                <a:ea typeface="Aptos" pitchFamily="34" charset="-122"/>
                <a:cs typeface="Aptos" pitchFamily="34" charset="-120"/>
              </a:rPr>
              <a:t>My family has ____ people.</a:t>
            </a:r>
            <a:endParaRPr lang="en-US" sz="1300" dirty="0"/>
          </a:p>
        </p:txBody>
      </p:sp>
      <p:sp>
        <p:nvSpPr>
          <p:cNvPr id="8" name="Shape 6"/>
          <p:cNvSpPr/>
          <p:nvPr/>
        </p:nvSpPr>
        <p:spPr>
          <a:xfrm>
            <a:off x="6355080" y="1325880"/>
            <a:ext cx="5120640" cy="1051560"/>
          </a:xfrm>
          <a:prstGeom prst="roundRect">
            <a:avLst>
              <a:gd name="adj" fmla="val 10435"/>
            </a:avLst>
          </a:prstGeom>
          <a:solidFill>
            <a:srgbClr val="FFF4CC"/>
          </a:solidFill>
          <a:ln w="17780">
            <a:solidFill>
              <a:srgbClr val="FFD166"/>
            </a:solidFill>
            <a:prstDash val="solid"/>
          </a:ln>
        </p:spPr>
      </p:sp>
      <p:sp>
        <p:nvSpPr>
          <p:cNvPr id="9" name="Text 7"/>
          <p:cNvSpPr/>
          <p:nvPr/>
        </p:nvSpPr>
        <p:spPr>
          <a:xfrm>
            <a:off x="6492240"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7040880" y="147218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Do you have a best friend?</a:t>
            </a:r>
            <a:endParaRPr lang="en-US" sz="1550" dirty="0"/>
          </a:p>
        </p:txBody>
      </p:sp>
      <p:sp>
        <p:nvSpPr>
          <p:cNvPr id="11" name="Text 9"/>
          <p:cNvSpPr/>
          <p:nvPr/>
        </p:nvSpPr>
        <p:spPr>
          <a:xfrm>
            <a:off x="6519672" y="1892808"/>
            <a:ext cx="4791456" cy="365760"/>
          </a:xfrm>
          <a:prstGeom prst="rect">
            <a:avLst/>
          </a:prstGeom>
          <a:noFill/>
          <a:ln/>
        </p:spPr>
        <p:txBody>
          <a:bodyPr wrap="square" lIns="0" tIns="0" rIns="0" bIns="0" rtlCol="0" anchor="t">
            <a:normAutofit/>
          </a:bodyPr>
          <a:lstStyle/>
          <a:p>
            <a:pPr indent="0" marL="0">
              <a:buNone/>
            </a:pPr>
            <a:r>
              <a:rPr lang="en-US" sz="1300" dirty="0">
                <a:solidFill>
                  <a:srgbClr val="1F2933"/>
                </a:solidFill>
                <a:latin typeface="Aptos" pitchFamily="34" charset="0"/>
                <a:ea typeface="Aptos" pitchFamily="34" charset="-122"/>
                <a:cs typeface="Aptos" pitchFamily="34" charset="-120"/>
              </a:rPr>
              <a:t>Yes, I do. / No, I don’t.</a:t>
            </a:r>
            <a:endParaRPr lang="en-US" sz="1300" dirty="0"/>
          </a:p>
        </p:txBody>
      </p:sp>
      <p:sp>
        <p:nvSpPr>
          <p:cNvPr id="12" name="Shape 10"/>
          <p:cNvSpPr/>
          <p:nvPr/>
        </p:nvSpPr>
        <p:spPr>
          <a:xfrm>
            <a:off x="713232" y="2743200"/>
            <a:ext cx="5120640" cy="1051560"/>
          </a:xfrm>
          <a:prstGeom prst="roundRect">
            <a:avLst>
              <a:gd name="adj" fmla="val 10435"/>
            </a:avLst>
          </a:prstGeom>
          <a:solidFill>
            <a:srgbClr val="DFF4FF"/>
          </a:solidFill>
          <a:ln w="17780">
            <a:solidFill>
              <a:srgbClr val="1C8DD8"/>
            </a:solidFill>
            <a:prstDash val="solid"/>
          </a:ln>
        </p:spPr>
      </p:sp>
      <p:sp>
        <p:nvSpPr>
          <p:cNvPr id="13" name="Text 11"/>
          <p:cNvSpPr/>
          <p:nvPr/>
        </p:nvSpPr>
        <p:spPr>
          <a:xfrm>
            <a:off x="850392"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1399032" y="288950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Who do you like to play with?</a:t>
            </a:r>
            <a:endParaRPr lang="en-US" sz="1550" dirty="0"/>
          </a:p>
        </p:txBody>
      </p:sp>
      <p:sp>
        <p:nvSpPr>
          <p:cNvPr id="15" name="Text 13"/>
          <p:cNvSpPr/>
          <p:nvPr/>
        </p:nvSpPr>
        <p:spPr>
          <a:xfrm>
            <a:off x="877824" y="3310128"/>
            <a:ext cx="4791456" cy="365760"/>
          </a:xfrm>
          <a:prstGeom prst="rect">
            <a:avLst/>
          </a:prstGeom>
          <a:noFill/>
          <a:ln/>
        </p:spPr>
        <p:txBody>
          <a:bodyPr wrap="square" lIns="0" tIns="0" rIns="0" bIns="0" rtlCol="0" anchor="t">
            <a:normAutofit/>
          </a:bodyPr>
          <a:lstStyle/>
          <a:p>
            <a:pPr indent="0" marL="0">
              <a:buNone/>
            </a:pPr>
            <a:r>
              <a:rPr lang="en-US" sz="1300" dirty="0">
                <a:solidFill>
                  <a:srgbClr val="1F2933"/>
                </a:solidFill>
                <a:latin typeface="Aptos" pitchFamily="34" charset="0"/>
                <a:ea typeface="Aptos" pitchFamily="34" charset="-122"/>
                <a:cs typeface="Aptos" pitchFamily="34" charset="-120"/>
              </a:rPr>
              <a:t>I play with _____.</a:t>
            </a:r>
            <a:endParaRPr lang="en-US" sz="1300" dirty="0"/>
          </a:p>
        </p:txBody>
      </p:sp>
      <p:sp>
        <p:nvSpPr>
          <p:cNvPr id="16" name="Shape 14"/>
          <p:cNvSpPr/>
          <p:nvPr/>
        </p:nvSpPr>
        <p:spPr>
          <a:xfrm>
            <a:off x="6355080" y="2743200"/>
            <a:ext cx="5120640" cy="1051560"/>
          </a:xfrm>
          <a:prstGeom prst="roundRect">
            <a:avLst>
              <a:gd name="adj" fmla="val 10435"/>
            </a:avLst>
          </a:prstGeom>
          <a:solidFill>
            <a:srgbClr val="FFF4CC"/>
          </a:solidFill>
          <a:ln w="17780">
            <a:solidFill>
              <a:srgbClr val="FFD166"/>
            </a:solidFill>
            <a:prstDash val="solid"/>
          </a:ln>
        </p:spPr>
      </p:sp>
      <p:sp>
        <p:nvSpPr>
          <p:cNvPr id="17" name="Text 15"/>
          <p:cNvSpPr/>
          <p:nvPr/>
        </p:nvSpPr>
        <p:spPr>
          <a:xfrm>
            <a:off x="6492240"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7040880" y="288950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What is your friend good at?</a:t>
            </a:r>
            <a:endParaRPr lang="en-US" sz="1550" dirty="0"/>
          </a:p>
        </p:txBody>
      </p:sp>
      <p:sp>
        <p:nvSpPr>
          <p:cNvPr id="19" name="Text 17"/>
          <p:cNvSpPr/>
          <p:nvPr/>
        </p:nvSpPr>
        <p:spPr>
          <a:xfrm>
            <a:off x="6519672" y="3310128"/>
            <a:ext cx="4791456" cy="365760"/>
          </a:xfrm>
          <a:prstGeom prst="rect">
            <a:avLst/>
          </a:prstGeom>
          <a:noFill/>
          <a:ln/>
        </p:spPr>
        <p:txBody>
          <a:bodyPr wrap="square" lIns="0" tIns="0" rIns="0" bIns="0" rtlCol="0" anchor="t">
            <a:normAutofit/>
          </a:bodyPr>
          <a:lstStyle/>
          <a:p>
            <a:pPr indent="0" marL="0">
              <a:buNone/>
            </a:pPr>
            <a:r>
              <a:rPr lang="en-US" sz="1300" dirty="0">
                <a:solidFill>
                  <a:srgbClr val="1F2933"/>
                </a:solidFill>
                <a:latin typeface="Aptos" pitchFamily="34" charset="0"/>
                <a:ea typeface="Aptos" pitchFamily="34" charset="-122"/>
                <a:cs typeface="Aptos" pitchFamily="34" charset="-120"/>
              </a:rPr>
              <a:t>He/She is good at _____.</a:t>
            </a:r>
            <a:endParaRPr lang="en-US" sz="1300" dirty="0"/>
          </a:p>
        </p:txBody>
      </p:sp>
      <p:sp>
        <p:nvSpPr>
          <p:cNvPr id="20" name="Shape 18"/>
          <p:cNvSpPr/>
          <p:nvPr/>
        </p:nvSpPr>
        <p:spPr>
          <a:xfrm>
            <a:off x="713232" y="4160520"/>
            <a:ext cx="5120640" cy="1051560"/>
          </a:xfrm>
          <a:prstGeom prst="roundRect">
            <a:avLst>
              <a:gd name="adj" fmla="val 10435"/>
            </a:avLst>
          </a:prstGeom>
          <a:solidFill>
            <a:srgbClr val="DFF4FF"/>
          </a:solidFill>
          <a:ln w="17780">
            <a:solidFill>
              <a:srgbClr val="1C8DD8"/>
            </a:solidFill>
            <a:prstDash val="solid"/>
          </a:ln>
        </p:spPr>
      </p:sp>
      <p:sp>
        <p:nvSpPr>
          <p:cNvPr id="21" name="Text 19"/>
          <p:cNvSpPr/>
          <p:nvPr/>
        </p:nvSpPr>
        <p:spPr>
          <a:xfrm>
            <a:off x="850392" y="42702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2" name="Text 20"/>
          <p:cNvSpPr/>
          <p:nvPr/>
        </p:nvSpPr>
        <p:spPr>
          <a:xfrm>
            <a:off x="1399032" y="430682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How does your friend make you feel?</a:t>
            </a:r>
            <a:endParaRPr lang="en-US" sz="1550" dirty="0"/>
          </a:p>
        </p:txBody>
      </p:sp>
      <p:sp>
        <p:nvSpPr>
          <p:cNvPr id="23" name="Text 21"/>
          <p:cNvSpPr/>
          <p:nvPr/>
        </p:nvSpPr>
        <p:spPr>
          <a:xfrm>
            <a:off x="877824" y="4727448"/>
            <a:ext cx="4791456" cy="365760"/>
          </a:xfrm>
          <a:prstGeom prst="rect">
            <a:avLst/>
          </a:prstGeom>
          <a:noFill/>
          <a:ln/>
        </p:spPr>
        <p:txBody>
          <a:bodyPr wrap="square" lIns="0" tIns="0" rIns="0" bIns="0" rtlCol="0" anchor="t">
            <a:normAutofit/>
          </a:bodyPr>
          <a:lstStyle/>
          <a:p>
            <a:pPr indent="0" marL="0">
              <a:buNone/>
            </a:pPr>
            <a:r>
              <a:rPr lang="en-US" sz="1300" dirty="0">
                <a:solidFill>
                  <a:srgbClr val="1F2933"/>
                </a:solidFill>
                <a:latin typeface="Aptos" pitchFamily="34" charset="0"/>
                <a:ea typeface="Aptos" pitchFamily="34" charset="-122"/>
                <a:cs typeface="Aptos" pitchFamily="34" charset="-120"/>
              </a:rPr>
              <a:t>I feel happy / safe / excited.</a:t>
            </a:r>
            <a:endParaRPr lang="en-US" sz="1300" dirty="0"/>
          </a:p>
        </p:txBody>
      </p:sp>
      <p:sp>
        <p:nvSpPr>
          <p:cNvPr id="24" name="Shape 22"/>
          <p:cNvSpPr/>
          <p:nvPr/>
        </p:nvSpPr>
        <p:spPr>
          <a:xfrm>
            <a:off x="6355080" y="4160520"/>
            <a:ext cx="5120640" cy="1051560"/>
          </a:xfrm>
          <a:prstGeom prst="roundRect">
            <a:avLst>
              <a:gd name="adj" fmla="val 10435"/>
            </a:avLst>
          </a:prstGeom>
          <a:solidFill>
            <a:srgbClr val="FFF4CC"/>
          </a:solidFill>
          <a:ln w="17780">
            <a:solidFill>
              <a:srgbClr val="FFD166"/>
            </a:solidFill>
            <a:prstDash val="solid"/>
          </a:ln>
        </p:spPr>
      </p:sp>
      <p:sp>
        <p:nvSpPr>
          <p:cNvPr id="25" name="Text 23"/>
          <p:cNvSpPr/>
          <p:nvPr/>
        </p:nvSpPr>
        <p:spPr>
          <a:xfrm>
            <a:off x="6492240" y="42702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6" name="Text 24"/>
          <p:cNvSpPr/>
          <p:nvPr/>
        </p:nvSpPr>
        <p:spPr>
          <a:xfrm>
            <a:off x="7040880" y="430682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What do you want to ask today?</a:t>
            </a:r>
            <a:endParaRPr lang="en-US" sz="1550" dirty="0"/>
          </a:p>
        </p:txBody>
      </p:sp>
      <p:sp>
        <p:nvSpPr>
          <p:cNvPr id="27" name="Text 25"/>
          <p:cNvSpPr/>
          <p:nvPr/>
        </p:nvSpPr>
        <p:spPr>
          <a:xfrm>
            <a:off x="6519672" y="4727448"/>
            <a:ext cx="4791456" cy="365760"/>
          </a:xfrm>
          <a:prstGeom prst="rect">
            <a:avLst/>
          </a:prstGeom>
          <a:noFill/>
          <a:ln/>
        </p:spPr>
        <p:txBody>
          <a:bodyPr wrap="square" lIns="0" tIns="0" rIns="0" bIns="0" rtlCol="0" anchor="t">
            <a:normAutofit/>
          </a:bodyPr>
          <a:lstStyle/>
          <a:p>
            <a:pPr indent="0" marL="0">
              <a:buNone/>
            </a:pPr>
            <a:r>
              <a:rPr lang="en-US" sz="1300" dirty="0">
                <a:solidFill>
                  <a:srgbClr val="1F2933"/>
                </a:solidFill>
                <a:latin typeface="Aptos" pitchFamily="34" charset="0"/>
                <a:ea typeface="Aptos" pitchFamily="34" charset="-122"/>
                <a:cs typeface="Aptos" pitchFamily="34" charset="-120"/>
              </a:rPr>
              <a:t>I want to ask about _____.</a:t>
            </a:r>
            <a:endParaRPr lang="en-US" sz="1300" dirty="0"/>
          </a:p>
        </p:txBody>
      </p:sp>
      <p:sp>
        <p:nvSpPr>
          <p:cNvPr id="28" name="Text 26"/>
          <p:cNvSpPr/>
          <p:nvPr/>
        </p:nvSpPr>
        <p:spPr>
          <a:xfrm>
            <a:off x="1005840" y="5760720"/>
            <a:ext cx="10149840" cy="320040"/>
          </a:xfrm>
          <a:prstGeom prst="rect">
            <a:avLst/>
          </a:prstGeom>
          <a:noFill/>
          <a:ln/>
        </p:spPr>
        <p:txBody>
          <a:bodyPr wrap="square" lIns="0" tIns="0" rIns="0" bIns="0" rtlCol="0" anchor="ctr">
            <a:normAutofit/>
          </a:bodyPr>
          <a:lstStyle/>
          <a:p>
            <a:pPr algn="ctr" indent="0" marL="0">
              <a:buNone/>
            </a:pPr>
            <a:r>
              <a:rPr lang="en-US" sz="1450" b="1" dirty="0">
                <a:solidFill>
                  <a:srgbClr val="5E6B73"/>
                </a:solidFill>
                <a:latin typeface="Aptos" pitchFamily="34" charset="0"/>
                <a:ea typeface="Aptos" pitchFamily="34" charset="-122"/>
                <a:cs typeface="Aptos" pitchFamily="34" charset="-120"/>
              </a:rPr>
              <a:t>Teacher note: Listen for topics students enjoy: sports, games, drawing, pets, siblings.</a:t>
            </a:r>
            <a:endParaRPr lang="en-US" sz="1450" dirty="0"/>
          </a:p>
        </p:txBody>
      </p:sp>
      <p:sp>
        <p:nvSpPr>
          <p:cNvPr id="29" name="Shape 27"/>
          <p:cNvSpPr/>
          <p:nvPr/>
        </p:nvSpPr>
        <p:spPr>
          <a:xfrm>
            <a:off x="0" y="6565392"/>
            <a:ext cx="12188952" cy="292608"/>
          </a:xfrm>
          <a:prstGeom prst="rect">
            <a:avLst/>
          </a:prstGeom>
          <a:solidFill>
            <a:srgbClr val="FFFFFF"/>
          </a:solidFill>
          <a:ln w="12700">
            <a:solidFill>
              <a:srgbClr val="C9E6F5"/>
            </a:solidFill>
            <a:prstDash val="solid"/>
          </a:ln>
        </p:spPr>
      </p:sp>
      <p:sp>
        <p:nvSpPr>
          <p:cNvPr id="30" name="Text 2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1" name="Text 2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Family Words</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Use gestures, pictures, or quick drawings on the board.</a:t>
            </a:r>
            <a:endParaRPr lang="en-US" sz="1450" dirty="0"/>
          </a:p>
        </p:txBody>
      </p:sp>
      <p:sp>
        <p:nvSpPr>
          <p:cNvPr id="4" name="Shape 2"/>
          <p:cNvSpPr/>
          <p:nvPr/>
        </p:nvSpPr>
        <p:spPr>
          <a:xfrm>
            <a:off x="658368" y="1234440"/>
            <a:ext cx="3401568" cy="1115568"/>
          </a:xfrm>
          <a:prstGeom prst="roundRect">
            <a:avLst>
              <a:gd name="adj" fmla="val 9836"/>
            </a:avLst>
          </a:prstGeom>
          <a:solidFill>
            <a:srgbClr val="DFF4FF"/>
          </a:solidFill>
          <a:ln w="17780">
            <a:solidFill>
              <a:srgbClr val="1C8DD8"/>
            </a:solidFill>
            <a:prstDash val="solid"/>
          </a:ln>
        </p:spPr>
      </p:sp>
      <p:sp>
        <p:nvSpPr>
          <p:cNvPr id="5" name="Text 3"/>
          <p:cNvSpPr/>
          <p:nvPr/>
        </p:nvSpPr>
        <p:spPr>
          <a:xfrm>
            <a:off x="795528" y="13441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44168" y="1380744"/>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mother</a:t>
            </a:r>
            <a:endParaRPr lang="en-US" sz="1600" dirty="0"/>
          </a:p>
        </p:txBody>
      </p:sp>
      <p:sp>
        <p:nvSpPr>
          <p:cNvPr id="7" name="Text 5"/>
          <p:cNvSpPr/>
          <p:nvPr/>
        </p:nvSpPr>
        <p:spPr>
          <a:xfrm>
            <a:off x="822960" y="1801368"/>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mom</a:t>
            </a:r>
            <a:endParaRPr lang="en-US" sz="1280" dirty="0"/>
          </a:p>
        </p:txBody>
      </p:sp>
      <p:sp>
        <p:nvSpPr>
          <p:cNvPr id="8" name="Shape 6"/>
          <p:cNvSpPr/>
          <p:nvPr/>
        </p:nvSpPr>
        <p:spPr>
          <a:xfrm>
            <a:off x="4453128" y="1234440"/>
            <a:ext cx="3401568" cy="1115568"/>
          </a:xfrm>
          <a:prstGeom prst="roundRect">
            <a:avLst>
              <a:gd name="adj" fmla="val 9836"/>
            </a:avLst>
          </a:prstGeom>
          <a:solidFill>
            <a:srgbClr val="DFF8EF"/>
          </a:solidFill>
          <a:ln w="17780">
            <a:solidFill>
              <a:srgbClr val="00A7A7"/>
            </a:solidFill>
            <a:prstDash val="solid"/>
          </a:ln>
        </p:spPr>
      </p:sp>
      <p:sp>
        <p:nvSpPr>
          <p:cNvPr id="9" name="Text 7"/>
          <p:cNvSpPr/>
          <p:nvPr/>
        </p:nvSpPr>
        <p:spPr>
          <a:xfrm>
            <a:off x="4590288" y="13441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5138928" y="1380744"/>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father</a:t>
            </a:r>
            <a:endParaRPr lang="en-US" sz="1600" dirty="0"/>
          </a:p>
        </p:txBody>
      </p:sp>
      <p:sp>
        <p:nvSpPr>
          <p:cNvPr id="11" name="Text 9"/>
          <p:cNvSpPr/>
          <p:nvPr/>
        </p:nvSpPr>
        <p:spPr>
          <a:xfrm>
            <a:off x="4617720" y="1801368"/>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dad</a:t>
            </a:r>
            <a:endParaRPr lang="en-US" sz="1280" dirty="0"/>
          </a:p>
        </p:txBody>
      </p:sp>
      <p:sp>
        <p:nvSpPr>
          <p:cNvPr id="12" name="Shape 10"/>
          <p:cNvSpPr/>
          <p:nvPr/>
        </p:nvSpPr>
        <p:spPr>
          <a:xfrm>
            <a:off x="8247888" y="1234440"/>
            <a:ext cx="3401568" cy="1115568"/>
          </a:xfrm>
          <a:prstGeom prst="roundRect">
            <a:avLst>
              <a:gd name="adj" fmla="val 9836"/>
            </a:avLst>
          </a:prstGeom>
          <a:solidFill>
            <a:srgbClr val="FFF4CC"/>
          </a:solidFill>
          <a:ln w="17780">
            <a:solidFill>
              <a:srgbClr val="FFD166"/>
            </a:solidFill>
            <a:prstDash val="solid"/>
          </a:ln>
        </p:spPr>
      </p:sp>
      <p:sp>
        <p:nvSpPr>
          <p:cNvPr id="13" name="Text 11"/>
          <p:cNvSpPr/>
          <p:nvPr/>
        </p:nvSpPr>
        <p:spPr>
          <a:xfrm>
            <a:off x="8385048" y="13441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8933688" y="1380744"/>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sister</a:t>
            </a:r>
            <a:endParaRPr lang="en-US" sz="1600" dirty="0"/>
          </a:p>
        </p:txBody>
      </p:sp>
      <p:sp>
        <p:nvSpPr>
          <p:cNvPr id="15" name="Text 13"/>
          <p:cNvSpPr/>
          <p:nvPr/>
        </p:nvSpPr>
        <p:spPr>
          <a:xfrm>
            <a:off x="8412480" y="1801368"/>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girl in my family</a:t>
            </a:r>
            <a:endParaRPr lang="en-US" sz="1280" dirty="0"/>
          </a:p>
        </p:txBody>
      </p:sp>
      <p:sp>
        <p:nvSpPr>
          <p:cNvPr id="16" name="Shape 14"/>
          <p:cNvSpPr/>
          <p:nvPr/>
        </p:nvSpPr>
        <p:spPr>
          <a:xfrm>
            <a:off x="658368" y="2724912"/>
            <a:ext cx="3401568" cy="1115568"/>
          </a:xfrm>
          <a:prstGeom prst="roundRect">
            <a:avLst>
              <a:gd name="adj" fmla="val 9836"/>
            </a:avLst>
          </a:prstGeom>
          <a:solidFill>
            <a:srgbClr val="DFF4FF"/>
          </a:solidFill>
          <a:ln w="17780">
            <a:solidFill>
              <a:srgbClr val="1C8DD8"/>
            </a:solidFill>
            <a:prstDash val="solid"/>
          </a:ln>
        </p:spPr>
      </p:sp>
      <p:sp>
        <p:nvSpPr>
          <p:cNvPr id="17" name="Text 15"/>
          <p:cNvSpPr/>
          <p:nvPr/>
        </p:nvSpPr>
        <p:spPr>
          <a:xfrm>
            <a:off x="795528" y="2834640"/>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1344168" y="2871216"/>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brother</a:t>
            </a:r>
            <a:endParaRPr lang="en-US" sz="1600" dirty="0"/>
          </a:p>
        </p:txBody>
      </p:sp>
      <p:sp>
        <p:nvSpPr>
          <p:cNvPr id="19" name="Text 17"/>
          <p:cNvSpPr/>
          <p:nvPr/>
        </p:nvSpPr>
        <p:spPr>
          <a:xfrm>
            <a:off x="822960" y="3291840"/>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boy in my family</a:t>
            </a:r>
            <a:endParaRPr lang="en-US" sz="1280" dirty="0"/>
          </a:p>
        </p:txBody>
      </p:sp>
      <p:sp>
        <p:nvSpPr>
          <p:cNvPr id="20" name="Shape 18"/>
          <p:cNvSpPr/>
          <p:nvPr/>
        </p:nvSpPr>
        <p:spPr>
          <a:xfrm>
            <a:off x="4453128" y="2724912"/>
            <a:ext cx="3401568" cy="1115568"/>
          </a:xfrm>
          <a:prstGeom prst="roundRect">
            <a:avLst>
              <a:gd name="adj" fmla="val 9836"/>
            </a:avLst>
          </a:prstGeom>
          <a:solidFill>
            <a:srgbClr val="DFF8EF"/>
          </a:solidFill>
          <a:ln w="17780">
            <a:solidFill>
              <a:srgbClr val="00A7A7"/>
            </a:solidFill>
            <a:prstDash val="solid"/>
          </a:ln>
        </p:spPr>
      </p:sp>
      <p:sp>
        <p:nvSpPr>
          <p:cNvPr id="21" name="Text 19"/>
          <p:cNvSpPr/>
          <p:nvPr/>
        </p:nvSpPr>
        <p:spPr>
          <a:xfrm>
            <a:off x="4590288" y="2834640"/>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2" name="Text 20"/>
          <p:cNvSpPr/>
          <p:nvPr/>
        </p:nvSpPr>
        <p:spPr>
          <a:xfrm>
            <a:off x="5138928" y="2871216"/>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grandmother</a:t>
            </a:r>
            <a:endParaRPr lang="en-US" sz="1600" dirty="0"/>
          </a:p>
        </p:txBody>
      </p:sp>
      <p:sp>
        <p:nvSpPr>
          <p:cNvPr id="23" name="Text 21"/>
          <p:cNvSpPr/>
          <p:nvPr/>
        </p:nvSpPr>
        <p:spPr>
          <a:xfrm>
            <a:off x="4617720" y="3291840"/>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grandma</a:t>
            </a:r>
            <a:endParaRPr lang="en-US" sz="1280" dirty="0"/>
          </a:p>
        </p:txBody>
      </p:sp>
      <p:sp>
        <p:nvSpPr>
          <p:cNvPr id="24" name="Shape 22"/>
          <p:cNvSpPr/>
          <p:nvPr/>
        </p:nvSpPr>
        <p:spPr>
          <a:xfrm>
            <a:off x="8247888" y="2724912"/>
            <a:ext cx="3401568" cy="1115568"/>
          </a:xfrm>
          <a:prstGeom prst="roundRect">
            <a:avLst>
              <a:gd name="adj" fmla="val 9836"/>
            </a:avLst>
          </a:prstGeom>
          <a:solidFill>
            <a:srgbClr val="FFF4CC"/>
          </a:solidFill>
          <a:ln w="17780">
            <a:solidFill>
              <a:srgbClr val="FFD166"/>
            </a:solidFill>
            <a:prstDash val="solid"/>
          </a:ln>
        </p:spPr>
      </p:sp>
      <p:sp>
        <p:nvSpPr>
          <p:cNvPr id="25" name="Text 23"/>
          <p:cNvSpPr/>
          <p:nvPr/>
        </p:nvSpPr>
        <p:spPr>
          <a:xfrm>
            <a:off x="8385048" y="2834640"/>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6" name="Text 24"/>
          <p:cNvSpPr/>
          <p:nvPr/>
        </p:nvSpPr>
        <p:spPr>
          <a:xfrm>
            <a:off x="8933688" y="2871216"/>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grandfather</a:t>
            </a:r>
            <a:endParaRPr lang="en-US" sz="1600" dirty="0"/>
          </a:p>
        </p:txBody>
      </p:sp>
      <p:sp>
        <p:nvSpPr>
          <p:cNvPr id="27" name="Text 25"/>
          <p:cNvSpPr/>
          <p:nvPr/>
        </p:nvSpPr>
        <p:spPr>
          <a:xfrm>
            <a:off x="8412480" y="3291840"/>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grandpa</a:t>
            </a:r>
            <a:endParaRPr lang="en-US" sz="1280" dirty="0"/>
          </a:p>
        </p:txBody>
      </p:sp>
      <p:sp>
        <p:nvSpPr>
          <p:cNvPr id="28" name="Shape 26"/>
          <p:cNvSpPr/>
          <p:nvPr/>
        </p:nvSpPr>
        <p:spPr>
          <a:xfrm>
            <a:off x="658368" y="4215384"/>
            <a:ext cx="3401568" cy="1115568"/>
          </a:xfrm>
          <a:prstGeom prst="roundRect">
            <a:avLst>
              <a:gd name="adj" fmla="val 9836"/>
            </a:avLst>
          </a:prstGeom>
          <a:solidFill>
            <a:srgbClr val="DFF4FF"/>
          </a:solidFill>
          <a:ln w="17780">
            <a:solidFill>
              <a:srgbClr val="1C8DD8"/>
            </a:solidFill>
            <a:prstDash val="solid"/>
          </a:ln>
        </p:spPr>
      </p:sp>
      <p:sp>
        <p:nvSpPr>
          <p:cNvPr id="29" name="Text 27"/>
          <p:cNvSpPr/>
          <p:nvPr/>
        </p:nvSpPr>
        <p:spPr>
          <a:xfrm>
            <a:off x="795528" y="4325112"/>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30" name="Text 28"/>
          <p:cNvSpPr/>
          <p:nvPr/>
        </p:nvSpPr>
        <p:spPr>
          <a:xfrm>
            <a:off x="1344168" y="4361688"/>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aunt</a:t>
            </a:r>
            <a:endParaRPr lang="en-US" sz="1600" dirty="0"/>
          </a:p>
        </p:txBody>
      </p:sp>
      <p:sp>
        <p:nvSpPr>
          <p:cNvPr id="31" name="Text 29"/>
          <p:cNvSpPr/>
          <p:nvPr/>
        </p:nvSpPr>
        <p:spPr>
          <a:xfrm>
            <a:off x="822960" y="4782312"/>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mother/father’s sister</a:t>
            </a:r>
            <a:endParaRPr lang="en-US" sz="1280" dirty="0"/>
          </a:p>
        </p:txBody>
      </p:sp>
      <p:sp>
        <p:nvSpPr>
          <p:cNvPr id="32" name="Shape 30"/>
          <p:cNvSpPr/>
          <p:nvPr/>
        </p:nvSpPr>
        <p:spPr>
          <a:xfrm>
            <a:off x="4453128" y="4215384"/>
            <a:ext cx="3401568" cy="1115568"/>
          </a:xfrm>
          <a:prstGeom prst="roundRect">
            <a:avLst>
              <a:gd name="adj" fmla="val 9836"/>
            </a:avLst>
          </a:prstGeom>
          <a:solidFill>
            <a:srgbClr val="DFF8EF"/>
          </a:solidFill>
          <a:ln w="17780">
            <a:solidFill>
              <a:srgbClr val="00A7A7"/>
            </a:solidFill>
            <a:prstDash val="solid"/>
          </a:ln>
        </p:spPr>
      </p:sp>
      <p:sp>
        <p:nvSpPr>
          <p:cNvPr id="33" name="Text 31"/>
          <p:cNvSpPr/>
          <p:nvPr/>
        </p:nvSpPr>
        <p:spPr>
          <a:xfrm>
            <a:off x="4590288" y="4325112"/>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34" name="Text 32"/>
          <p:cNvSpPr/>
          <p:nvPr/>
        </p:nvSpPr>
        <p:spPr>
          <a:xfrm>
            <a:off x="5138928" y="4361688"/>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uncle</a:t>
            </a:r>
            <a:endParaRPr lang="en-US" sz="1600" dirty="0"/>
          </a:p>
        </p:txBody>
      </p:sp>
      <p:sp>
        <p:nvSpPr>
          <p:cNvPr id="35" name="Text 33"/>
          <p:cNvSpPr/>
          <p:nvPr/>
        </p:nvSpPr>
        <p:spPr>
          <a:xfrm>
            <a:off x="4617720" y="4782312"/>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mother/father’s brother</a:t>
            </a:r>
            <a:endParaRPr lang="en-US" sz="1280" dirty="0"/>
          </a:p>
        </p:txBody>
      </p:sp>
      <p:sp>
        <p:nvSpPr>
          <p:cNvPr id="36" name="Shape 34"/>
          <p:cNvSpPr/>
          <p:nvPr/>
        </p:nvSpPr>
        <p:spPr>
          <a:xfrm>
            <a:off x="8247888" y="4215384"/>
            <a:ext cx="3401568" cy="1115568"/>
          </a:xfrm>
          <a:prstGeom prst="roundRect">
            <a:avLst>
              <a:gd name="adj" fmla="val 9836"/>
            </a:avLst>
          </a:prstGeom>
          <a:solidFill>
            <a:srgbClr val="FFF4CC"/>
          </a:solidFill>
          <a:ln w="17780">
            <a:solidFill>
              <a:srgbClr val="FFD166"/>
            </a:solidFill>
            <a:prstDash val="solid"/>
          </a:ln>
        </p:spPr>
      </p:sp>
      <p:sp>
        <p:nvSpPr>
          <p:cNvPr id="37" name="Text 35"/>
          <p:cNvSpPr/>
          <p:nvPr/>
        </p:nvSpPr>
        <p:spPr>
          <a:xfrm>
            <a:off x="8385048" y="4325112"/>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38" name="Text 36"/>
          <p:cNvSpPr/>
          <p:nvPr/>
        </p:nvSpPr>
        <p:spPr>
          <a:xfrm>
            <a:off x="8933688" y="4361688"/>
            <a:ext cx="2532888" cy="310896"/>
          </a:xfrm>
          <a:prstGeom prst="rect">
            <a:avLst/>
          </a:prstGeom>
          <a:noFill/>
          <a:ln/>
        </p:spPr>
        <p:txBody>
          <a:bodyPr wrap="square" lIns="0" tIns="0" rIns="0" bIns="0" rtlCol="0" anchor="ctr">
            <a:normAutofit/>
          </a:bodyPr>
          <a:lstStyle/>
          <a:p>
            <a:pPr indent="0" marL="0">
              <a:buNone/>
            </a:pPr>
            <a:r>
              <a:rPr lang="en-US" sz="1600" b="1" dirty="0">
                <a:solidFill>
                  <a:srgbClr val="173B57"/>
                </a:solidFill>
                <a:latin typeface="Aptos Display" pitchFamily="34" charset="0"/>
                <a:ea typeface="Aptos Display" pitchFamily="34" charset="-122"/>
                <a:cs typeface="Aptos Display" pitchFamily="34" charset="-120"/>
              </a:rPr>
              <a:t>cousin</a:t>
            </a:r>
            <a:endParaRPr lang="en-US" sz="1600" dirty="0"/>
          </a:p>
        </p:txBody>
      </p:sp>
      <p:sp>
        <p:nvSpPr>
          <p:cNvPr id="39" name="Text 37"/>
          <p:cNvSpPr/>
          <p:nvPr/>
        </p:nvSpPr>
        <p:spPr>
          <a:xfrm>
            <a:off x="8412480" y="4782312"/>
            <a:ext cx="3072384" cy="429768"/>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aunt/uncle’s child</a:t>
            </a:r>
            <a:endParaRPr lang="en-US" sz="1280" dirty="0"/>
          </a:p>
        </p:txBody>
      </p:sp>
      <p:sp>
        <p:nvSpPr>
          <p:cNvPr id="40" name="Shape 38"/>
          <p:cNvSpPr/>
          <p:nvPr/>
        </p:nvSpPr>
        <p:spPr>
          <a:xfrm>
            <a:off x="0" y="6565392"/>
            <a:ext cx="12188952" cy="292608"/>
          </a:xfrm>
          <a:prstGeom prst="rect">
            <a:avLst/>
          </a:prstGeom>
          <a:solidFill>
            <a:srgbClr val="FFFFFF"/>
          </a:solidFill>
          <a:ln w="12700">
            <a:solidFill>
              <a:srgbClr val="C9E6F5"/>
            </a:solidFill>
            <a:prstDash val="solid"/>
          </a:ln>
        </p:spPr>
      </p:sp>
      <p:sp>
        <p:nvSpPr>
          <p:cNvPr id="41" name="Text 39"/>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42" name="Text 40"/>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Describe a Person</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need easy words for appearance and personality.</a:t>
            </a:r>
            <a:endParaRPr lang="en-US" sz="1450" dirty="0"/>
          </a:p>
        </p:txBody>
      </p:sp>
      <p:sp>
        <p:nvSpPr>
          <p:cNvPr id="4" name="Shape 2"/>
          <p:cNvSpPr/>
          <p:nvPr/>
        </p:nvSpPr>
        <p:spPr>
          <a:xfrm>
            <a:off x="713232" y="1371600"/>
            <a:ext cx="3401568" cy="1965960"/>
          </a:xfrm>
          <a:prstGeom prst="roundRect">
            <a:avLst>
              <a:gd name="adj" fmla="val 5581"/>
            </a:avLst>
          </a:prstGeom>
          <a:solidFill>
            <a:srgbClr val="DFF4FF"/>
          </a:solidFill>
          <a:ln w="17780">
            <a:solidFill>
              <a:srgbClr val="1C8DD8"/>
            </a:solidFill>
            <a:prstDash val="solid"/>
          </a:ln>
        </p:spPr>
      </p:sp>
      <p:sp>
        <p:nvSpPr>
          <p:cNvPr id="5" name="Text 3"/>
          <p:cNvSpPr/>
          <p:nvPr/>
        </p:nvSpPr>
        <p:spPr>
          <a:xfrm>
            <a:off x="850392" y="14813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51790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Appearance</a:t>
            </a:r>
            <a:endParaRPr lang="en-US" sz="1550" dirty="0"/>
          </a:p>
        </p:txBody>
      </p:sp>
      <p:sp>
        <p:nvSpPr>
          <p:cNvPr id="7" name="Text 5"/>
          <p:cNvSpPr/>
          <p:nvPr/>
        </p:nvSpPr>
        <p:spPr>
          <a:xfrm>
            <a:off x="877824" y="1938528"/>
            <a:ext cx="3072384" cy="128016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tall · short</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young · old</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long hair · short hair</a:t>
            </a:r>
            <a:endParaRPr lang="en-US" sz="1360" dirty="0"/>
          </a:p>
        </p:txBody>
      </p:sp>
      <p:sp>
        <p:nvSpPr>
          <p:cNvPr id="8" name="Shape 6"/>
          <p:cNvSpPr/>
          <p:nvPr/>
        </p:nvSpPr>
        <p:spPr>
          <a:xfrm>
            <a:off x="4480560" y="1371600"/>
            <a:ext cx="3401568" cy="1965960"/>
          </a:xfrm>
          <a:prstGeom prst="roundRect">
            <a:avLst>
              <a:gd name="adj" fmla="val 5581"/>
            </a:avLst>
          </a:prstGeom>
          <a:solidFill>
            <a:srgbClr val="DFF8EF"/>
          </a:solidFill>
          <a:ln w="17780">
            <a:solidFill>
              <a:srgbClr val="00A7A7"/>
            </a:solidFill>
            <a:prstDash val="solid"/>
          </a:ln>
        </p:spPr>
      </p:sp>
      <p:sp>
        <p:nvSpPr>
          <p:cNvPr id="9" name="Text 7"/>
          <p:cNvSpPr/>
          <p:nvPr/>
        </p:nvSpPr>
        <p:spPr>
          <a:xfrm>
            <a:off x="4617720" y="14813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5166360" y="151790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Personality</a:t>
            </a:r>
            <a:endParaRPr lang="en-US" sz="1550" dirty="0"/>
          </a:p>
        </p:txBody>
      </p:sp>
      <p:sp>
        <p:nvSpPr>
          <p:cNvPr id="11" name="Text 9"/>
          <p:cNvSpPr/>
          <p:nvPr/>
        </p:nvSpPr>
        <p:spPr>
          <a:xfrm>
            <a:off x="4645152" y="1938528"/>
            <a:ext cx="3072384" cy="128016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kind · funny</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smart · quiet</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helpful · friendly</a:t>
            </a:r>
            <a:endParaRPr lang="en-US" sz="1360" dirty="0"/>
          </a:p>
        </p:txBody>
      </p:sp>
      <p:sp>
        <p:nvSpPr>
          <p:cNvPr id="12" name="Shape 10"/>
          <p:cNvSpPr/>
          <p:nvPr/>
        </p:nvSpPr>
        <p:spPr>
          <a:xfrm>
            <a:off x="8247888" y="1371600"/>
            <a:ext cx="3401568" cy="1965960"/>
          </a:xfrm>
          <a:prstGeom prst="roundRect">
            <a:avLst>
              <a:gd name="adj" fmla="val 5581"/>
            </a:avLst>
          </a:prstGeom>
          <a:solidFill>
            <a:srgbClr val="FFF4CC"/>
          </a:solidFill>
          <a:ln w="17780">
            <a:solidFill>
              <a:srgbClr val="FFD166"/>
            </a:solidFill>
            <a:prstDash val="solid"/>
          </a:ln>
        </p:spPr>
      </p:sp>
      <p:sp>
        <p:nvSpPr>
          <p:cNvPr id="13" name="Text 11"/>
          <p:cNvSpPr/>
          <p:nvPr/>
        </p:nvSpPr>
        <p:spPr>
          <a:xfrm>
            <a:off x="8385048" y="14813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8933688" y="151790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Likes / skills</a:t>
            </a:r>
            <a:endParaRPr lang="en-US" sz="1550" dirty="0"/>
          </a:p>
        </p:txBody>
      </p:sp>
      <p:sp>
        <p:nvSpPr>
          <p:cNvPr id="15" name="Text 13"/>
          <p:cNvSpPr/>
          <p:nvPr/>
        </p:nvSpPr>
        <p:spPr>
          <a:xfrm>
            <a:off x="8412480" y="1938528"/>
            <a:ext cx="3072384" cy="128016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likes football</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likes drawing</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is good at math</a:t>
            </a:r>
            <a:endParaRPr lang="en-US" sz="1360" dirty="0"/>
          </a:p>
        </p:txBody>
      </p:sp>
      <p:sp>
        <p:nvSpPr>
          <p:cNvPr id="16" name="Shape 14"/>
          <p:cNvSpPr/>
          <p:nvPr/>
        </p:nvSpPr>
        <p:spPr>
          <a:xfrm>
            <a:off x="914400" y="3931920"/>
            <a:ext cx="10332720" cy="1234440"/>
          </a:xfrm>
          <a:prstGeom prst="roundRect">
            <a:avLst>
              <a:gd name="adj" fmla="val 8889"/>
            </a:avLst>
          </a:prstGeom>
          <a:solidFill>
            <a:srgbClr val="173B57"/>
          </a:solidFill>
          <a:ln w="17780">
            <a:solidFill>
              <a:srgbClr val="173B57"/>
            </a:solidFill>
            <a:prstDash val="solid"/>
          </a:ln>
        </p:spPr>
      </p:sp>
      <p:sp>
        <p:nvSpPr>
          <p:cNvPr id="17" name="Text 15"/>
          <p:cNvSpPr/>
          <p:nvPr/>
        </p:nvSpPr>
        <p:spPr>
          <a:xfrm>
            <a:off x="1143000" y="4352544"/>
            <a:ext cx="9875520" cy="384048"/>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Simple pattern: He/She is _____.  He/She has _____.  He/She likes _____.</a:t>
            </a:r>
            <a:endParaRPr lang="en-US" sz="2000" dirty="0"/>
          </a:p>
        </p:txBody>
      </p:sp>
      <p:sp>
        <p:nvSpPr>
          <p:cNvPr id="18" name="Text 16"/>
          <p:cNvSpPr/>
          <p:nvPr/>
        </p:nvSpPr>
        <p:spPr>
          <a:xfrm>
            <a:off x="1143000" y="5623560"/>
            <a:ext cx="9875520" cy="274320"/>
          </a:xfrm>
          <a:prstGeom prst="rect">
            <a:avLst/>
          </a:prstGeom>
          <a:noFill/>
          <a:ln/>
        </p:spPr>
        <p:txBody>
          <a:bodyPr wrap="square" lIns="0" tIns="0" rIns="0" bIns="0" rtlCol="0" anchor="ctr">
            <a:normAutofit/>
          </a:bodyPr>
          <a:lstStyle/>
          <a:p>
            <a:pPr algn="ctr" indent="0" marL="0">
              <a:buNone/>
            </a:pPr>
            <a:r>
              <a:rPr lang="en-US" sz="1450" b="1" dirty="0">
                <a:solidFill>
                  <a:srgbClr val="5E6B73"/>
                </a:solidFill>
                <a:latin typeface="Aptos" pitchFamily="34" charset="0"/>
                <a:ea typeface="Aptos" pitchFamily="34" charset="-122"/>
                <a:cs typeface="Aptos" pitchFamily="34" charset="-120"/>
              </a:rPr>
              <a:t>Mini-drill: teacher says a word → students show the gesture or face.</a:t>
            </a:r>
            <a:endParaRPr lang="en-US" sz="1450" dirty="0"/>
          </a:p>
        </p:txBody>
      </p:sp>
      <p:sp>
        <p:nvSpPr>
          <p:cNvPr id="19" name="Shape 17"/>
          <p:cNvSpPr/>
          <p:nvPr/>
        </p:nvSpPr>
        <p:spPr>
          <a:xfrm>
            <a:off x="0" y="6565392"/>
            <a:ext cx="12188952" cy="292608"/>
          </a:xfrm>
          <a:prstGeom prst="rect">
            <a:avLst/>
          </a:prstGeom>
          <a:solidFill>
            <a:srgbClr val="FFFFFF"/>
          </a:solidFill>
          <a:ln w="12700">
            <a:solidFill>
              <a:srgbClr val="C9E6F5"/>
            </a:solidFill>
            <a:prstDash val="solid"/>
          </a:ln>
        </p:spPr>
      </p:sp>
      <p:sp>
        <p:nvSpPr>
          <p:cNvPr id="20" name="Text 1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1" name="Text 1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Listen &amp; Point</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When you hear the sentence, point to the best word.</a:t>
            </a:r>
            <a:endParaRPr lang="en-US" sz="1450" dirty="0"/>
          </a:p>
        </p:txBody>
      </p:sp>
      <p:sp>
        <p:nvSpPr>
          <p:cNvPr id="4" name="Shape 2"/>
          <p:cNvSpPr/>
          <p:nvPr/>
        </p:nvSpPr>
        <p:spPr>
          <a:xfrm>
            <a:off x="713232" y="1417320"/>
            <a:ext cx="3401568" cy="1417320"/>
          </a:xfrm>
          <a:prstGeom prst="roundRect">
            <a:avLst>
              <a:gd name="adj" fmla="val 7742"/>
            </a:avLst>
          </a:prstGeom>
          <a:solidFill>
            <a:srgbClr val="DFF4FF"/>
          </a:solidFill>
          <a:ln w="17780">
            <a:solidFill>
              <a:srgbClr val="1C8DD8"/>
            </a:solidFill>
            <a:prstDash val="solid"/>
          </a:ln>
        </p:spPr>
      </p:sp>
      <p:sp>
        <p:nvSpPr>
          <p:cNvPr id="5" name="Text 3"/>
          <p:cNvSpPr/>
          <p:nvPr/>
        </p:nvSpPr>
        <p:spPr>
          <a:xfrm>
            <a:off x="850392" y="15270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56362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This is my sister.</a:t>
            </a:r>
            <a:endParaRPr lang="en-US" sz="1500" dirty="0"/>
          </a:p>
        </p:txBody>
      </p:sp>
      <p:sp>
        <p:nvSpPr>
          <p:cNvPr id="7" name="Text 5"/>
          <p:cNvSpPr/>
          <p:nvPr/>
        </p:nvSpPr>
        <p:spPr>
          <a:xfrm>
            <a:off x="877824" y="1984248"/>
            <a:ext cx="3072384" cy="731520"/>
          </a:xfrm>
          <a:prstGeom prst="rect">
            <a:avLst/>
          </a:prstGeom>
          <a:noFill/>
          <a:ln/>
        </p:spPr>
        <p:txBody>
          <a:bodyPr wrap="square" lIns="0" tIns="0" rIns="0" bIns="0" rtlCol="0" anchor="t">
            <a:normAutofit/>
          </a:bodyPr>
          <a:lstStyle/>
          <a:p>
            <a:pPr indent="0" marL="0">
              <a:buNone/>
            </a:pPr>
            <a:r>
              <a:rPr lang="en-US" sz="1200" dirty="0">
                <a:solidFill>
                  <a:srgbClr val="1F2933"/>
                </a:solidFill>
                <a:latin typeface="Aptos" pitchFamily="34" charset="0"/>
                <a:ea typeface="Aptos" pitchFamily="34" charset="-122"/>
                <a:cs typeface="Aptos" pitchFamily="34" charset="-120"/>
              </a:rPr>
              <a:t>Listen first. Then repeat.</a:t>
            </a:r>
            <a:endParaRPr lang="en-US" sz="1200" dirty="0"/>
          </a:p>
        </p:txBody>
      </p:sp>
      <p:sp>
        <p:nvSpPr>
          <p:cNvPr id="8" name="Shape 6"/>
          <p:cNvSpPr/>
          <p:nvPr/>
        </p:nvSpPr>
        <p:spPr>
          <a:xfrm>
            <a:off x="4480560" y="1417320"/>
            <a:ext cx="3401568" cy="1417320"/>
          </a:xfrm>
          <a:prstGeom prst="roundRect">
            <a:avLst>
              <a:gd name="adj" fmla="val 7742"/>
            </a:avLst>
          </a:prstGeom>
          <a:solidFill>
            <a:srgbClr val="DFF8EF"/>
          </a:solidFill>
          <a:ln w="17780">
            <a:solidFill>
              <a:srgbClr val="00A7A7"/>
            </a:solidFill>
            <a:prstDash val="solid"/>
          </a:ln>
        </p:spPr>
      </p:sp>
      <p:sp>
        <p:nvSpPr>
          <p:cNvPr id="9" name="Text 7"/>
          <p:cNvSpPr/>
          <p:nvPr/>
        </p:nvSpPr>
        <p:spPr>
          <a:xfrm>
            <a:off x="4617720" y="15270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5166360" y="156362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This is my grandfather.</a:t>
            </a:r>
            <a:endParaRPr lang="en-US" sz="1500" dirty="0"/>
          </a:p>
        </p:txBody>
      </p:sp>
      <p:sp>
        <p:nvSpPr>
          <p:cNvPr id="11" name="Text 9"/>
          <p:cNvSpPr/>
          <p:nvPr/>
        </p:nvSpPr>
        <p:spPr>
          <a:xfrm>
            <a:off x="4645152" y="1984248"/>
            <a:ext cx="3072384" cy="731520"/>
          </a:xfrm>
          <a:prstGeom prst="rect">
            <a:avLst/>
          </a:prstGeom>
          <a:noFill/>
          <a:ln/>
        </p:spPr>
        <p:txBody>
          <a:bodyPr wrap="square" lIns="0" tIns="0" rIns="0" bIns="0" rtlCol="0" anchor="t">
            <a:normAutofit/>
          </a:bodyPr>
          <a:lstStyle/>
          <a:p>
            <a:pPr indent="0" marL="0">
              <a:buNone/>
            </a:pPr>
            <a:r>
              <a:rPr lang="en-US" sz="1200" dirty="0">
                <a:solidFill>
                  <a:srgbClr val="1F2933"/>
                </a:solidFill>
                <a:latin typeface="Aptos" pitchFamily="34" charset="0"/>
                <a:ea typeface="Aptos" pitchFamily="34" charset="-122"/>
                <a:cs typeface="Aptos" pitchFamily="34" charset="-120"/>
              </a:rPr>
              <a:t>Listen first. Then repeat.</a:t>
            </a:r>
            <a:endParaRPr lang="en-US" sz="1200" dirty="0"/>
          </a:p>
        </p:txBody>
      </p:sp>
      <p:sp>
        <p:nvSpPr>
          <p:cNvPr id="12" name="Shape 10"/>
          <p:cNvSpPr/>
          <p:nvPr/>
        </p:nvSpPr>
        <p:spPr>
          <a:xfrm>
            <a:off x="8247888" y="1417320"/>
            <a:ext cx="3401568" cy="1417320"/>
          </a:xfrm>
          <a:prstGeom prst="roundRect">
            <a:avLst>
              <a:gd name="adj" fmla="val 7742"/>
            </a:avLst>
          </a:prstGeom>
          <a:solidFill>
            <a:srgbClr val="DFF4FF"/>
          </a:solidFill>
          <a:ln w="17780">
            <a:solidFill>
              <a:srgbClr val="1C8DD8"/>
            </a:solidFill>
            <a:prstDash val="solid"/>
          </a:ln>
        </p:spPr>
      </p:sp>
      <p:sp>
        <p:nvSpPr>
          <p:cNvPr id="13" name="Text 11"/>
          <p:cNvSpPr/>
          <p:nvPr/>
        </p:nvSpPr>
        <p:spPr>
          <a:xfrm>
            <a:off x="8385048" y="15270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8933688" y="156362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She is friendly.</a:t>
            </a:r>
            <a:endParaRPr lang="en-US" sz="1500" dirty="0"/>
          </a:p>
        </p:txBody>
      </p:sp>
      <p:sp>
        <p:nvSpPr>
          <p:cNvPr id="15" name="Text 13"/>
          <p:cNvSpPr/>
          <p:nvPr/>
        </p:nvSpPr>
        <p:spPr>
          <a:xfrm>
            <a:off x="8412480" y="1984248"/>
            <a:ext cx="3072384" cy="731520"/>
          </a:xfrm>
          <a:prstGeom prst="rect">
            <a:avLst/>
          </a:prstGeom>
          <a:noFill/>
          <a:ln/>
        </p:spPr>
        <p:txBody>
          <a:bodyPr wrap="square" lIns="0" tIns="0" rIns="0" bIns="0" rtlCol="0" anchor="t">
            <a:normAutofit/>
          </a:bodyPr>
          <a:lstStyle/>
          <a:p>
            <a:pPr indent="0" marL="0">
              <a:buNone/>
            </a:pPr>
            <a:r>
              <a:rPr lang="en-US" sz="1200" dirty="0">
                <a:solidFill>
                  <a:srgbClr val="1F2933"/>
                </a:solidFill>
                <a:latin typeface="Aptos" pitchFamily="34" charset="0"/>
                <a:ea typeface="Aptos" pitchFamily="34" charset="-122"/>
                <a:cs typeface="Aptos" pitchFamily="34" charset="-120"/>
              </a:rPr>
              <a:t>Listen first. Then repeat.</a:t>
            </a:r>
            <a:endParaRPr lang="en-US" sz="1200" dirty="0"/>
          </a:p>
        </p:txBody>
      </p:sp>
      <p:sp>
        <p:nvSpPr>
          <p:cNvPr id="16" name="Shape 14"/>
          <p:cNvSpPr/>
          <p:nvPr/>
        </p:nvSpPr>
        <p:spPr>
          <a:xfrm>
            <a:off x="713232" y="3291840"/>
            <a:ext cx="3401568" cy="1417320"/>
          </a:xfrm>
          <a:prstGeom prst="roundRect">
            <a:avLst>
              <a:gd name="adj" fmla="val 7742"/>
            </a:avLst>
          </a:prstGeom>
          <a:solidFill>
            <a:srgbClr val="DFF8EF"/>
          </a:solidFill>
          <a:ln w="17780">
            <a:solidFill>
              <a:srgbClr val="00A7A7"/>
            </a:solidFill>
            <a:prstDash val="solid"/>
          </a:ln>
        </p:spPr>
      </p:sp>
      <p:sp>
        <p:nvSpPr>
          <p:cNvPr id="17" name="Text 15"/>
          <p:cNvSpPr/>
          <p:nvPr/>
        </p:nvSpPr>
        <p:spPr>
          <a:xfrm>
            <a:off x="850392" y="34015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1399032" y="343814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He is funny.</a:t>
            </a:r>
            <a:endParaRPr lang="en-US" sz="1500" dirty="0"/>
          </a:p>
        </p:txBody>
      </p:sp>
      <p:sp>
        <p:nvSpPr>
          <p:cNvPr id="19" name="Text 17"/>
          <p:cNvSpPr/>
          <p:nvPr/>
        </p:nvSpPr>
        <p:spPr>
          <a:xfrm>
            <a:off x="877824" y="3858768"/>
            <a:ext cx="3072384" cy="731520"/>
          </a:xfrm>
          <a:prstGeom prst="rect">
            <a:avLst/>
          </a:prstGeom>
          <a:noFill/>
          <a:ln/>
        </p:spPr>
        <p:txBody>
          <a:bodyPr wrap="square" lIns="0" tIns="0" rIns="0" bIns="0" rtlCol="0" anchor="t">
            <a:normAutofit/>
          </a:bodyPr>
          <a:lstStyle/>
          <a:p>
            <a:pPr indent="0" marL="0">
              <a:buNone/>
            </a:pPr>
            <a:r>
              <a:rPr lang="en-US" sz="1200" dirty="0">
                <a:solidFill>
                  <a:srgbClr val="1F2933"/>
                </a:solidFill>
                <a:latin typeface="Aptos" pitchFamily="34" charset="0"/>
                <a:ea typeface="Aptos" pitchFamily="34" charset="-122"/>
                <a:cs typeface="Aptos" pitchFamily="34" charset="-120"/>
              </a:rPr>
              <a:t>Listen first. Then repeat.</a:t>
            </a:r>
            <a:endParaRPr lang="en-US" sz="1200" dirty="0"/>
          </a:p>
        </p:txBody>
      </p:sp>
      <p:sp>
        <p:nvSpPr>
          <p:cNvPr id="20" name="Shape 18"/>
          <p:cNvSpPr/>
          <p:nvPr/>
        </p:nvSpPr>
        <p:spPr>
          <a:xfrm>
            <a:off x="4480560" y="3291840"/>
            <a:ext cx="3401568" cy="1417320"/>
          </a:xfrm>
          <a:prstGeom prst="roundRect">
            <a:avLst>
              <a:gd name="adj" fmla="val 7742"/>
            </a:avLst>
          </a:prstGeom>
          <a:solidFill>
            <a:srgbClr val="DFF4FF"/>
          </a:solidFill>
          <a:ln w="17780">
            <a:solidFill>
              <a:srgbClr val="1C8DD8"/>
            </a:solidFill>
            <a:prstDash val="solid"/>
          </a:ln>
        </p:spPr>
      </p:sp>
      <p:sp>
        <p:nvSpPr>
          <p:cNvPr id="21" name="Text 19"/>
          <p:cNvSpPr/>
          <p:nvPr/>
        </p:nvSpPr>
        <p:spPr>
          <a:xfrm>
            <a:off x="4617720" y="34015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2" name="Text 20"/>
          <p:cNvSpPr/>
          <p:nvPr/>
        </p:nvSpPr>
        <p:spPr>
          <a:xfrm>
            <a:off x="5166360" y="343814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She likes drawing.</a:t>
            </a:r>
            <a:endParaRPr lang="en-US" sz="1500" dirty="0"/>
          </a:p>
        </p:txBody>
      </p:sp>
      <p:sp>
        <p:nvSpPr>
          <p:cNvPr id="23" name="Text 21"/>
          <p:cNvSpPr/>
          <p:nvPr/>
        </p:nvSpPr>
        <p:spPr>
          <a:xfrm>
            <a:off x="4645152" y="3858768"/>
            <a:ext cx="3072384" cy="731520"/>
          </a:xfrm>
          <a:prstGeom prst="rect">
            <a:avLst/>
          </a:prstGeom>
          <a:noFill/>
          <a:ln/>
        </p:spPr>
        <p:txBody>
          <a:bodyPr wrap="square" lIns="0" tIns="0" rIns="0" bIns="0" rtlCol="0" anchor="t">
            <a:normAutofit/>
          </a:bodyPr>
          <a:lstStyle/>
          <a:p>
            <a:pPr indent="0" marL="0">
              <a:buNone/>
            </a:pPr>
            <a:r>
              <a:rPr lang="en-US" sz="1200" dirty="0">
                <a:solidFill>
                  <a:srgbClr val="1F2933"/>
                </a:solidFill>
                <a:latin typeface="Aptos" pitchFamily="34" charset="0"/>
                <a:ea typeface="Aptos" pitchFamily="34" charset="-122"/>
                <a:cs typeface="Aptos" pitchFamily="34" charset="-120"/>
              </a:rPr>
              <a:t>Listen first. Then repeat.</a:t>
            </a:r>
            <a:endParaRPr lang="en-US" sz="1200" dirty="0"/>
          </a:p>
        </p:txBody>
      </p:sp>
      <p:sp>
        <p:nvSpPr>
          <p:cNvPr id="24" name="Shape 22"/>
          <p:cNvSpPr/>
          <p:nvPr/>
        </p:nvSpPr>
        <p:spPr>
          <a:xfrm>
            <a:off x="8247888" y="3291840"/>
            <a:ext cx="3401568" cy="1417320"/>
          </a:xfrm>
          <a:prstGeom prst="roundRect">
            <a:avLst>
              <a:gd name="adj" fmla="val 7742"/>
            </a:avLst>
          </a:prstGeom>
          <a:solidFill>
            <a:srgbClr val="DFF8EF"/>
          </a:solidFill>
          <a:ln w="17780">
            <a:solidFill>
              <a:srgbClr val="00A7A7"/>
            </a:solidFill>
            <a:prstDash val="solid"/>
          </a:ln>
        </p:spPr>
      </p:sp>
      <p:sp>
        <p:nvSpPr>
          <p:cNvPr id="25" name="Text 23"/>
          <p:cNvSpPr/>
          <p:nvPr/>
        </p:nvSpPr>
        <p:spPr>
          <a:xfrm>
            <a:off x="8385048" y="34015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6" name="Text 24"/>
          <p:cNvSpPr/>
          <p:nvPr/>
        </p:nvSpPr>
        <p:spPr>
          <a:xfrm>
            <a:off x="8933688" y="343814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He is good at football.</a:t>
            </a:r>
            <a:endParaRPr lang="en-US" sz="1500" dirty="0"/>
          </a:p>
        </p:txBody>
      </p:sp>
      <p:sp>
        <p:nvSpPr>
          <p:cNvPr id="27" name="Text 25"/>
          <p:cNvSpPr/>
          <p:nvPr/>
        </p:nvSpPr>
        <p:spPr>
          <a:xfrm>
            <a:off x="8412480" y="3858768"/>
            <a:ext cx="3072384" cy="731520"/>
          </a:xfrm>
          <a:prstGeom prst="rect">
            <a:avLst/>
          </a:prstGeom>
          <a:noFill/>
          <a:ln/>
        </p:spPr>
        <p:txBody>
          <a:bodyPr wrap="square" lIns="0" tIns="0" rIns="0" bIns="0" rtlCol="0" anchor="t">
            <a:normAutofit/>
          </a:bodyPr>
          <a:lstStyle/>
          <a:p>
            <a:pPr indent="0" marL="0">
              <a:buNone/>
            </a:pPr>
            <a:r>
              <a:rPr lang="en-US" sz="1200" dirty="0">
                <a:solidFill>
                  <a:srgbClr val="1F2933"/>
                </a:solidFill>
                <a:latin typeface="Aptos" pitchFamily="34" charset="0"/>
                <a:ea typeface="Aptos" pitchFamily="34" charset="-122"/>
                <a:cs typeface="Aptos" pitchFamily="34" charset="-120"/>
              </a:rPr>
              <a:t>Listen first. Then repeat.</a:t>
            </a:r>
            <a:endParaRPr lang="en-US" sz="1200" dirty="0"/>
          </a:p>
        </p:txBody>
      </p:sp>
      <p:sp>
        <p:nvSpPr>
          <p:cNvPr id="28" name="Text 26"/>
          <p:cNvSpPr/>
          <p:nvPr/>
        </p:nvSpPr>
        <p:spPr>
          <a:xfrm>
            <a:off x="1051560" y="5623560"/>
            <a:ext cx="10149840" cy="411480"/>
          </a:xfrm>
          <a:prstGeom prst="rect">
            <a:avLst/>
          </a:prstGeom>
          <a:noFill/>
          <a:ln/>
        </p:spPr>
        <p:txBody>
          <a:bodyPr wrap="square" lIns="0" tIns="0" rIns="0" bIns="0" rtlCol="0" anchor="ctr">
            <a:normAutofit/>
          </a:bodyPr>
          <a:lstStyle/>
          <a:p>
            <a:pPr algn="ctr" indent="0" marL="0">
              <a:buNone/>
            </a:pPr>
            <a:r>
              <a:rPr lang="en-US" sz="1700" b="1" dirty="0">
                <a:solidFill>
                  <a:srgbClr val="EF476F"/>
                </a:solidFill>
                <a:latin typeface="Aptos" pitchFamily="34" charset="0"/>
                <a:ea typeface="Aptos" pitchFamily="34" charset="-122"/>
                <a:cs typeface="Aptos" pitchFamily="34" charset="-120"/>
              </a:rPr>
              <a:t>Challenge: Can your team point and say the full sentence?</a:t>
            </a:r>
            <a:endParaRPr lang="en-US" sz="1700" dirty="0"/>
          </a:p>
        </p:txBody>
      </p:sp>
      <p:sp>
        <p:nvSpPr>
          <p:cNvPr id="29" name="Shape 27"/>
          <p:cNvSpPr/>
          <p:nvPr/>
        </p:nvSpPr>
        <p:spPr>
          <a:xfrm>
            <a:off x="0" y="6565392"/>
            <a:ext cx="12188952" cy="292608"/>
          </a:xfrm>
          <a:prstGeom prst="rect">
            <a:avLst/>
          </a:prstGeom>
          <a:solidFill>
            <a:srgbClr val="FFFFFF"/>
          </a:solidFill>
          <a:ln w="12700">
            <a:solidFill>
              <a:srgbClr val="C9E6F5"/>
            </a:solidFill>
            <a:prstDash val="solid"/>
          </a:ln>
        </p:spPr>
      </p:sp>
      <p:sp>
        <p:nvSpPr>
          <p:cNvPr id="30" name="Text 2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1" name="Text 2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Useful Language</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These phrases help students talk about family and friends.</a:t>
            </a:r>
            <a:endParaRPr lang="en-US" sz="1450" dirty="0"/>
          </a:p>
        </p:txBody>
      </p:sp>
      <p:sp>
        <p:nvSpPr>
          <p:cNvPr id="4" name="Shape 2"/>
          <p:cNvSpPr/>
          <p:nvPr/>
        </p:nvSpPr>
        <p:spPr>
          <a:xfrm>
            <a:off x="713232" y="1325880"/>
            <a:ext cx="3401568" cy="1371600"/>
          </a:xfrm>
          <a:prstGeom prst="roundRect">
            <a:avLst>
              <a:gd name="adj" fmla="val 8000"/>
            </a:avLst>
          </a:prstGeom>
          <a:solidFill>
            <a:srgbClr val="DFF4FF"/>
          </a:solidFill>
          <a:ln w="17780">
            <a:solidFill>
              <a:srgbClr val="1C8DD8"/>
            </a:solidFill>
            <a:prstDash val="solid"/>
          </a:ln>
        </p:spPr>
      </p:sp>
      <p:sp>
        <p:nvSpPr>
          <p:cNvPr id="5" name="Text 3"/>
          <p:cNvSpPr/>
          <p:nvPr/>
        </p:nvSpPr>
        <p:spPr>
          <a:xfrm>
            <a:off x="85039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47218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This is my _____.</a:t>
            </a:r>
            <a:endParaRPr lang="en-US" sz="1500" dirty="0"/>
          </a:p>
        </p:txBody>
      </p:sp>
      <p:sp>
        <p:nvSpPr>
          <p:cNvPr id="7" name="Text 5"/>
          <p:cNvSpPr/>
          <p:nvPr/>
        </p:nvSpPr>
        <p:spPr>
          <a:xfrm>
            <a:off x="877824" y="1892808"/>
            <a:ext cx="3072384" cy="685800"/>
          </a:xfrm>
          <a:prstGeom prst="rect">
            <a:avLst/>
          </a:prstGeom>
          <a:noFill/>
          <a:ln/>
        </p:spPr>
        <p:txBody>
          <a:bodyPr wrap="square" lIns="0" tIns="0" rIns="0" bIns="0" rtlCol="0" anchor="t">
            <a:normAutofit/>
          </a:bodyPr>
          <a:lstStyle/>
          <a:p>
            <a:pPr indent="0" marL="0">
              <a:buNone/>
            </a:pPr>
            <a:r>
              <a:rPr lang="en-US" sz="1220" dirty="0">
                <a:solidFill>
                  <a:srgbClr val="1F2933"/>
                </a:solidFill>
                <a:latin typeface="Aptos" pitchFamily="34" charset="0"/>
                <a:ea typeface="Aptos" pitchFamily="34" charset="-122"/>
                <a:cs typeface="Aptos" pitchFamily="34" charset="-120"/>
              </a:rPr>
              <a:t>Introduce someone.</a:t>
            </a:r>
            <a:endParaRPr lang="en-US" sz="1220" dirty="0"/>
          </a:p>
        </p:txBody>
      </p:sp>
      <p:sp>
        <p:nvSpPr>
          <p:cNvPr id="8" name="Shape 6"/>
          <p:cNvSpPr/>
          <p:nvPr/>
        </p:nvSpPr>
        <p:spPr>
          <a:xfrm>
            <a:off x="4480560" y="1325880"/>
            <a:ext cx="3401568" cy="1371600"/>
          </a:xfrm>
          <a:prstGeom prst="roundRect">
            <a:avLst>
              <a:gd name="adj" fmla="val 8000"/>
            </a:avLst>
          </a:prstGeom>
          <a:solidFill>
            <a:srgbClr val="DFF8EF"/>
          </a:solidFill>
          <a:ln w="17780">
            <a:solidFill>
              <a:srgbClr val="00A7A7"/>
            </a:solidFill>
            <a:prstDash val="solid"/>
          </a:ln>
        </p:spPr>
      </p:sp>
      <p:sp>
        <p:nvSpPr>
          <p:cNvPr id="9" name="Text 7"/>
          <p:cNvSpPr/>
          <p:nvPr/>
        </p:nvSpPr>
        <p:spPr>
          <a:xfrm>
            <a:off x="4617720"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5166360" y="147218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His/Her name is _____.</a:t>
            </a:r>
            <a:endParaRPr lang="en-US" sz="1500" dirty="0"/>
          </a:p>
        </p:txBody>
      </p:sp>
      <p:sp>
        <p:nvSpPr>
          <p:cNvPr id="11" name="Text 9"/>
          <p:cNvSpPr/>
          <p:nvPr/>
        </p:nvSpPr>
        <p:spPr>
          <a:xfrm>
            <a:off x="4645152" y="1892808"/>
            <a:ext cx="3072384" cy="685800"/>
          </a:xfrm>
          <a:prstGeom prst="rect">
            <a:avLst/>
          </a:prstGeom>
          <a:noFill/>
          <a:ln/>
        </p:spPr>
        <p:txBody>
          <a:bodyPr wrap="square" lIns="0" tIns="0" rIns="0" bIns="0" rtlCol="0" anchor="t">
            <a:normAutofit/>
          </a:bodyPr>
          <a:lstStyle/>
          <a:p>
            <a:pPr indent="0" marL="0">
              <a:buNone/>
            </a:pPr>
            <a:r>
              <a:rPr lang="en-US" sz="1220" dirty="0">
                <a:solidFill>
                  <a:srgbClr val="1F2933"/>
                </a:solidFill>
                <a:latin typeface="Aptos" pitchFamily="34" charset="0"/>
                <a:ea typeface="Aptos" pitchFamily="34" charset="-122"/>
                <a:cs typeface="Aptos" pitchFamily="34" charset="-120"/>
              </a:rPr>
              <a:t>Say a name.</a:t>
            </a:r>
            <a:endParaRPr lang="en-US" sz="1220" dirty="0"/>
          </a:p>
        </p:txBody>
      </p:sp>
      <p:sp>
        <p:nvSpPr>
          <p:cNvPr id="12" name="Shape 10"/>
          <p:cNvSpPr/>
          <p:nvPr/>
        </p:nvSpPr>
        <p:spPr>
          <a:xfrm>
            <a:off x="8247888" y="1325880"/>
            <a:ext cx="3401568" cy="1371600"/>
          </a:xfrm>
          <a:prstGeom prst="roundRect">
            <a:avLst>
              <a:gd name="adj" fmla="val 8000"/>
            </a:avLst>
          </a:prstGeom>
          <a:solidFill>
            <a:srgbClr val="FFF4CC"/>
          </a:solidFill>
          <a:ln w="17780">
            <a:solidFill>
              <a:srgbClr val="FFD166"/>
            </a:solidFill>
            <a:prstDash val="solid"/>
          </a:ln>
        </p:spPr>
      </p:sp>
      <p:sp>
        <p:nvSpPr>
          <p:cNvPr id="13" name="Text 11"/>
          <p:cNvSpPr/>
          <p:nvPr/>
        </p:nvSpPr>
        <p:spPr>
          <a:xfrm>
            <a:off x="8385048"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8933688" y="147218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He/She is _____.</a:t>
            </a:r>
            <a:endParaRPr lang="en-US" sz="1500" dirty="0"/>
          </a:p>
        </p:txBody>
      </p:sp>
      <p:sp>
        <p:nvSpPr>
          <p:cNvPr id="15" name="Text 13"/>
          <p:cNvSpPr/>
          <p:nvPr/>
        </p:nvSpPr>
        <p:spPr>
          <a:xfrm>
            <a:off x="8412480" y="1892808"/>
            <a:ext cx="3072384" cy="685800"/>
          </a:xfrm>
          <a:prstGeom prst="rect">
            <a:avLst/>
          </a:prstGeom>
          <a:noFill/>
          <a:ln/>
        </p:spPr>
        <p:txBody>
          <a:bodyPr wrap="square" lIns="0" tIns="0" rIns="0" bIns="0" rtlCol="0" anchor="t">
            <a:normAutofit/>
          </a:bodyPr>
          <a:lstStyle/>
          <a:p>
            <a:pPr indent="0" marL="0">
              <a:buNone/>
            </a:pPr>
            <a:r>
              <a:rPr lang="en-US" sz="1220" dirty="0">
                <a:solidFill>
                  <a:srgbClr val="1F2933"/>
                </a:solidFill>
                <a:latin typeface="Aptos" pitchFamily="34" charset="0"/>
                <a:ea typeface="Aptos" pitchFamily="34" charset="-122"/>
                <a:cs typeface="Aptos" pitchFamily="34" charset="-120"/>
              </a:rPr>
              <a:t>Describe personality.</a:t>
            </a:r>
            <a:endParaRPr lang="en-US" sz="1220" dirty="0"/>
          </a:p>
        </p:txBody>
      </p:sp>
      <p:sp>
        <p:nvSpPr>
          <p:cNvPr id="16" name="Shape 14"/>
          <p:cNvSpPr/>
          <p:nvPr/>
        </p:nvSpPr>
        <p:spPr>
          <a:xfrm>
            <a:off x="713232" y="3200400"/>
            <a:ext cx="3401568" cy="1371600"/>
          </a:xfrm>
          <a:prstGeom prst="roundRect">
            <a:avLst>
              <a:gd name="adj" fmla="val 8000"/>
            </a:avLst>
          </a:prstGeom>
          <a:solidFill>
            <a:srgbClr val="DFF4FF"/>
          </a:solidFill>
          <a:ln w="17780">
            <a:solidFill>
              <a:srgbClr val="1C8DD8"/>
            </a:solidFill>
            <a:prstDash val="solid"/>
          </a:ln>
        </p:spPr>
      </p:sp>
      <p:sp>
        <p:nvSpPr>
          <p:cNvPr id="17" name="Text 15"/>
          <p:cNvSpPr/>
          <p:nvPr/>
        </p:nvSpPr>
        <p:spPr>
          <a:xfrm>
            <a:off x="850392" y="33101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1399032" y="334670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He/She has _____.</a:t>
            </a:r>
            <a:endParaRPr lang="en-US" sz="1500" dirty="0"/>
          </a:p>
        </p:txBody>
      </p:sp>
      <p:sp>
        <p:nvSpPr>
          <p:cNvPr id="19" name="Text 17"/>
          <p:cNvSpPr/>
          <p:nvPr/>
        </p:nvSpPr>
        <p:spPr>
          <a:xfrm>
            <a:off x="877824" y="3767328"/>
            <a:ext cx="3072384" cy="685800"/>
          </a:xfrm>
          <a:prstGeom prst="rect">
            <a:avLst/>
          </a:prstGeom>
          <a:noFill/>
          <a:ln/>
        </p:spPr>
        <p:txBody>
          <a:bodyPr wrap="square" lIns="0" tIns="0" rIns="0" bIns="0" rtlCol="0" anchor="t">
            <a:normAutofit/>
          </a:bodyPr>
          <a:lstStyle/>
          <a:p>
            <a:pPr indent="0" marL="0">
              <a:buNone/>
            </a:pPr>
            <a:r>
              <a:rPr lang="en-US" sz="1220" dirty="0">
                <a:solidFill>
                  <a:srgbClr val="1F2933"/>
                </a:solidFill>
                <a:latin typeface="Aptos" pitchFamily="34" charset="0"/>
                <a:ea typeface="Aptos" pitchFamily="34" charset="-122"/>
                <a:cs typeface="Aptos" pitchFamily="34" charset="-120"/>
              </a:rPr>
              <a:t>Describe hair or appearance.</a:t>
            </a:r>
            <a:endParaRPr lang="en-US" sz="1220" dirty="0"/>
          </a:p>
        </p:txBody>
      </p:sp>
      <p:sp>
        <p:nvSpPr>
          <p:cNvPr id="20" name="Shape 18"/>
          <p:cNvSpPr/>
          <p:nvPr/>
        </p:nvSpPr>
        <p:spPr>
          <a:xfrm>
            <a:off x="4480560" y="3200400"/>
            <a:ext cx="3401568" cy="1371600"/>
          </a:xfrm>
          <a:prstGeom prst="roundRect">
            <a:avLst>
              <a:gd name="adj" fmla="val 8000"/>
            </a:avLst>
          </a:prstGeom>
          <a:solidFill>
            <a:srgbClr val="DFF8EF"/>
          </a:solidFill>
          <a:ln w="17780">
            <a:solidFill>
              <a:srgbClr val="00A7A7"/>
            </a:solidFill>
            <a:prstDash val="solid"/>
          </a:ln>
        </p:spPr>
      </p:sp>
      <p:sp>
        <p:nvSpPr>
          <p:cNvPr id="21" name="Text 19"/>
          <p:cNvSpPr/>
          <p:nvPr/>
        </p:nvSpPr>
        <p:spPr>
          <a:xfrm>
            <a:off x="4617720" y="33101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2" name="Text 20"/>
          <p:cNvSpPr/>
          <p:nvPr/>
        </p:nvSpPr>
        <p:spPr>
          <a:xfrm>
            <a:off x="5166360" y="334670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He/She likes _____.</a:t>
            </a:r>
            <a:endParaRPr lang="en-US" sz="1500" dirty="0"/>
          </a:p>
        </p:txBody>
      </p:sp>
      <p:sp>
        <p:nvSpPr>
          <p:cNvPr id="23" name="Text 21"/>
          <p:cNvSpPr/>
          <p:nvPr/>
        </p:nvSpPr>
        <p:spPr>
          <a:xfrm>
            <a:off x="4645152" y="3767328"/>
            <a:ext cx="3072384" cy="685800"/>
          </a:xfrm>
          <a:prstGeom prst="rect">
            <a:avLst/>
          </a:prstGeom>
          <a:noFill/>
          <a:ln/>
        </p:spPr>
        <p:txBody>
          <a:bodyPr wrap="square" lIns="0" tIns="0" rIns="0" bIns="0" rtlCol="0" anchor="t">
            <a:normAutofit/>
          </a:bodyPr>
          <a:lstStyle/>
          <a:p>
            <a:pPr indent="0" marL="0">
              <a:buNone/>
            </a:pPr>
            <a:r>
              <a:rPr lang="en-US" sz="1220" dirty="0">
                <a:solidFill>
                  <a:srgbClr val="1F2933"/>
                </a:solidFill>
                <a:latin typeface="Aptos" pitchFamily="34" charset="0"/>
                <a:ea typeface="Aptos" pitchFamily="34" charset="-122"/>
                <a:cs typeface="Aptos" pitchFamily="34" charset="-120"/>
              </a:rPr>
              <a:t>Say a favorite thing.</a:t>
            </a:r>
            <a:endParaRPr lang="en-US" sz="1220" dirty="0"/>
          </a:p>
        </p:txBody>
      </p:sp>
      <p:sp>
        <p:nvSpPr>
          <p:cNvPr id="24" name="Shape 22"/>
          <p:cNvSpPr/>
          <p:nvPr/>
        </p:nvSpPr>
        <p:spPr>
          <a:xfrm>
            <a:off x="8247888" y="3200400"/>
            <a:ext cx="3401568" cy="1371600"/>
          </a:xfrm>
          <a:prstGeom prst="roundRect">
            <a:avLst>
              <a:gd name="adj" fmla="val 8000"/>
            </a:avLst>
          </a:prstGeom>
          <a:solidFill>
            <a:srgbClr val="FFF4CC"/>
          </a:solidFill>
          <a:ln w="17780">
            <a:solidFill>
              <a:srgbClr val="FFD166"/>
            </a:solidFill>
            <a:prstDash val="solid"/>
          </a:ln>
        </p:spPr>
      </p:sp>
      <p:sp>
        <p:nvSpPr>
          <p:cNvPr id="25" name="Text 23"/>
          <p:cNvSpPr/>
          <p:nvPr/>
        </p:nvSpPr>
        <p:spPr>
          <a:xfrm>
            <a:off x="8385048" y="33101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6" name="Text 24"/>
          <p:cNvSpPr/>
          <p:nvPr/>
        </p:nvSpPr>
        <p:spPr>
          <a:xfrm>
            <a:off x="8933688" y="3346704"/>
            <a:ext cx="2532888" cy="310896"/>
          </a:xfrm>
          <a:prstGeom prst="rect">
            <a:avLst/>
          </a:prstGeom>
          <a:noFill/>
          <a:ln/>
        </p:spPr>
        <p:txBody>
          <a:bodyPr wrap="square" lIns="0" tIns="0" rIns="0" bIns="0" rtlCol="0" anchor="ctr">
            <a:normAutofit/>
          </a:bodyPr>
          <a:lstStyle/>
          <a:p>
            <a:pPr indent="0" marL="0">
              <a:buNone/>
            </a:pPr>
            <a:r>
              <a:rPr lang="en-US" sz="1500" b="1" dirty="0">
                <a:solidFill>
                  <a:srgbClr val="173B57"/>
                </a:solidFill>
                <a:latin typeface="Aptos Display" pitchFamily="34" charset="0"/>
                <a:ea typeface="Aptos Display" pitchFamily="34" charset="-122"/>
                <a:cs typeface="Aptos Display" pitchFamily="34" charset="-120"/>
              </a:rPr>
              <a:t>Who is he/she?</a:t>
            </a:r>
            <a:endParaRPr lang="en-US" sz="1500" dirty="0"/>
          </a:p>
        </p:txBody>
      </p:sp>
      <p:sp>
        <p:nvSpPr>
          <p:cNvPr id="27" name="Text 25"/>
          <p:cNvSpPr/>
          <p:nvPr/>
        </p:nvSpPr>
        <p:spPr>
          <a:xfrm>
            <a:off x="8412480" y="3767328"/>
            <a:ext cx="3072384" cy="685800"/>
          </a:xfrm>
          <a:prstGeom prst="rect">
            <a:avLst/>
          </a:prstGeom>
          <a:noFill/>
          <a:ln/>
        </p:spPr>
        <p:txBody>
          <a:bodyPr wrap="square" lIns="0" tIns="0" rIns="0" bIns="0" rtlCol="0" anchor="t">
            <a:normAutofit/>
          </a:bodyPr>
          <a:lstStyle/>
          <a:p>
            <a:pPr indent="0" marL="0">
              <a:buNone/>
            </a:pPr>
            <a:r>
              <a:rPr lang="en-US" sz="1220" dirty="0">
                <a:solidFill>
                  <a:srgbClr val="1F2933"/>
                </a:solidFill>
                <a:latin typeface="Aptos" pitchFamily="34" charset="0"/>
                <a:ea typeface="Aptos" pitchFamily="34" charset="-122"/>
                <a:cs typeface="Aptos" pitchFamily="34" charset="-120"/>
              </a:rPr>
              <a:t>Ask about someone.</a:t>
            </a:r>
            <a:endParaRPr lang="en-US" sz="1220" dirty="0"/>
          </a:p>
        </p:txBody>
      </p:sp>
      <p:sp>
        <p:nvSpPr>
          <p:cNvPr id="28" name="Text 26"/>
          <p:cNvSpPr/>
          <p:nvPr/>
        </p:nvSpPr>
        <p:spPr>
          <a:xfrm>
            <a:off x="1051560" y="5715000"/>
            <a:ext cx="10149840" cy="320040"/>
          </a:xfrm>
          <a:prstGeom prst="rect">
            <a:avLst/>
          </a:prstGeom>
          <a:noFill/>
          <a:ln/>
        </p:spPr>
        <p:txBody>
          <a:bodyPr wrap="square" lIns="0" tIns="0" rIns="0" bIns="0" rtlCol="0" anchor="ctr">
            <a:normAutofit/>
          </a:bodyPr>
          <a:lstStyle/>
          <a:p>
            <a:pPr algn="ctr" indent="0" marL="0">
              <a:buNone/>
            </a:pPr>
            <a:r>
              <a:rPr lang="en-US" sz="1550" b="1" dirty="0">
                <a:solidFill>
                  <a:srgbClr val="5E6B73"/>
                </a:solidFill>
                <a:latin typeface="Aptos" pitchFamily="34" charset="0"/>
                <a:ea typeface="Aptos" pitchFamily="34" charset="-122"/>
                <a:cs typeface="Aptos" pitchFamily="34" charset="-120"/>
              </a:rPr>
              <a:t>Repeat with rhythm: THIS is my SIS-ter.  SHE is KIND.</a:t>
            </a:r>
            <a:endParaRPr lang="en-US" sz="1550" dirty="0"/>
          </a:p>
        </p:txBody>
      </p:sp>
      <p:sp>
        <p:nvSpPr>
          <p:cNvPr id="29" name="Shape 27"/>
          <p:cNvSpPr/>
          <p:nvPr/>
        </p:nvSpPr>
        <p:spPr>
          <a:xfrm>
            <a:off x="0" y="6565392"/>
            <a:ext cx="12188952" cy="292608"/>
          </a:xfrm>
          <a:prstGeom prst="rect">
            <a:avLst/>
          </a:prstGeom>
          <a:solidFill>
            <a:srgbClr val="FFFFFF"/>
          </a:solidFill>
          <a:ln w="12700">
            <a:solidFill>
              <a:srgbClr val="C9E6F5"/>
            </a:solidFill>
            <a:prstDash val="solid"/>
          </a:ln>
        </p:spPr>
      </p:sp>
      <p:sp>
        <p:nvSpPr>
          <p:cNvPr id="30" name="Text 2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1" name="Text 2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Build the Sentence</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practice useful patterns.</a:t>
            </a:r>
            <a:endParaRPr lang="en-US" sz="1450" dirty="0"/>
          </a:p>
        </p:txBody>
      </p:sp>
      <p:sp>
        <p:nvSpPr>
          <p:cNvPr id="4" name="Shape 2"/>
          <p:cNvSpPr/>
          <p:nvPr/>
        </p:nvSpPr>
        <p:spPr>
          <a:xfrm>
            <a:off x="822960" y="1143000"/>
            <a:ext cx="10561320" cy="731520"/>
          </a:xfrm>
          <a:prstGeom prst="roundRect">
            <a:avLst>
              <a:gd name="adj" fmla="val 15000"/>
            </a:avLst>
          </a:prstGeom>
          <a:solidFill>
            <a:srgbClr val="173B57"/>
          </a:solidFill>
          <a:ln w="17780">
            <a:solidFill>
              <a:srgbClr val="173B57"/>
            </a:solidFill>
            <a:prstDash val="solid"/>
          </a:ln>
        </p:spPr>
      </p:sp>
      <p:sp>
        <p:nvSpPr>
          <p:cNvPr id="5" name="Text 3"/>
          <p:cNvSpPr/>
          <p:nvPr/>
        </p:nvSpPr>
        <p:spPr>
          <a:xfrm>
            <a:off x="960120" y="1389888"/>
            <a:ext cx="10287000" cy="292608"/>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This is my + family word.   He/She is + describing word.</a:t>
            </a:r>
            <a:endParaRPr lang="en-US" sz="2000" dirty="0"/>
          </a:p>
        </p:txBody>
      </p:sp>
      <p:sp>
        <p:nvSpPr>
          <p:cNvPr id="6" name="Shape 4"/>
          <p:cNvSpPr/>
          <p:nvPr/>
        </p:nvSpPr>
        <p:spPr>
          <a:xfrm>
            <a:off x="777240" y="2240280"/>
            <a:ext cx="1600200" cy="685800"/>
          </a:xfrm>
          <a:prstGeom prst="roundRect">
            <a:avLst>
              <a:gd name="adj" fmla="val 16000"/>
            </a:avLst>
          </a:prstGeom>
          <a:solidFill>
            <a:srgbClr val="DFF4FF"/>
          </a:solidFill>
          <a:ln w="17780">
            <a:solidFill>
              <a:srgbClr val="1C8DD8"/>
            </a:solidFill>
            <a:prstDash val="solid"/>
          </a:ln>
        </p:spPr>
      </p:sp>
      <p:sp>
        <p:nvSpPr>
          <p:cNvPr id="7" name="Text 5"/>
          <p:cNvSpPr/>
          <p:nvPr/>
        </p:nvSpPr>
        <p:spPr>
          <a:xfrm>
            <a:off x="914400" y="235915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mother</a:t>
            </a:r>
            <a:endParaRPr lang="en-US" sz="1500" dirty="0"/>
          </a:p>
        </p:txBody>
      </p:sp>
      <p:sp>
        <p:nvSpPr>
          <p:cNvPr id="8" name="Shape 6"/>
          <p:cNvSpPr/>
          <p:nvPr/>
        </p:nvSpPr>
        <p:spPr>
          <a:xfrm>
            <a:off x="2679192" y="2240280"/>
            <a:ext cx="1600200" cy="685800"/>
          </a:xfrm>
          <a:prstGeom prst="roundRect">
            <a:avLst>
              <a:gd name="adj" fmla="val 16000"/>
            </a:avLst>
          </a:prstGeom>
          <a:solidFill>
            <a:srgbClr val="DFF4FF"/>
          </a:solidFill>
          <a:ln w="17780">
            <a:solidFill>
              <a:srgbClr val="1C8DD8"/>
            </a:solidFill>
            <a:prstDash val="solid"/>
          </a:ln>
        </p:spPr>
      </p:sp>
      <p:sp>
        <p:nvSpPr>
          <p:cNvPr id="9" name="Text 7"/>
          <p:cNvSpPr/>
          <p:nvPr/>
        </p:nvSpPr>
        <p:spPr>
          <a:xfrm>
            <a:off x="2816352" y="235915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father</a:t>
            </a:r>
            <a:endParaRPr lang="en-US" sz="1500" dirty="0"/>
          </a:p>
        </p:txBody>
      </p:sp>
      <p:sp>
        <p:nvSpPr>
          <p:cNvPr id="10" name="Shape 8"/>
          <p:cNvSpPr/>
          <p:nvPr/>
        </p:nvSpPr>
        <p:spPr>
          <a:xfrm>
            <a:off x="4581144" y="2240280"/>
            <a:ext cx="1600200" cy="685800"/>
          </a:xfrm>
          <a:prstGeom prst="roundRect">
            <a:avLst>
              <a:gd name="adj" fmla="val 16000"/>
            </a:avLst>
          </a:prstGeom>
          <a:solidFill>
            <a:srgbClr val="DFF4FF"/>
          </a:solidFill>
          <a:ln w="17780">
            <a:solidFill>
              <a:srgbClr val="1C8DD8"/>
            </a:solidFill>
            <a:prstDash val="solid"/>
          </a:ln>
        </p:spPr>
      </p:sp>
      <p:sp>
        <p:nvSpPr>
          <p:cNvPr id="11" name="Text 9"/>
          <p:cNvSpPr/>
          <p:nvPr/>
        </p:nvSpPr>
        <p:spPr>
          <a:xfrm>
            <a:off x="4718304" y="235915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sister</a:t>
            </a:r>
            <a:endParaRPr lang="en-US" sz="1500" dirty="0"/>
          </a:p>
        </p:txBody>
      </p:sp>
      <p:sp>
        <p:nvSpPr>
          <p:cNvPr id="12" name="Shape 10"/>
          <p:cNvSpPr/>
          <p:nvPr/>
        </p:nvSpPr>
        <p:spPr>
          <a:xfrm>
            <a:off x="6483096" y="2240280"/>
            <a:ext cx="1600200" cy="685800"/>
          </a:xfrm>
          <a:prstGeom prst="roundRect">
            <a:avLst>
              <a:gd name="adj" fmla="val 16000"/>
            </a:avLst>
          </a:prstGeom>
          <a:solidFill>
            <a:srgbClr val="DFF4FF"/>
          </a:solidFill>
          <a:ln w="17780">
            <a:solidFill>
              <a:srgbClr val="1C8DD8"/>
            </a:solidFill>
            <a:prstDash val="solid"/>
          </a:ln>
        </p:spPr>
      </p:sp>
      <p:sp>
        <p:nvSpPr>
          <p:cNvPr id="13" name="Text 11"/>
          <p:cNvSpPr/>
          <p:nvPr/>
        </p:nvSpPr>
        <p:spPr>
          <a:xfrm>
            <a:off x="6620256" y="235915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brother</a:t>
            </a:r>
            <a:endParaRPr lang="en-US" sz="1500" dirty="0"/>
          </a:p>
        </p:txBody>
      </p:sp>
      <p:sp>
        <p:nvSpPr>
          <p:cNvPr id="14" name="Shape 12"/>
          <p:cNvSpPr/>
          <p:nvPr/>
        </p:nvSpPr>
        <p:spPr>
          <a:xfrm>
            <a:off x="8385048" y="2240280"/>
            <a:ext cx="1600200" cy="685800"/>
          </a:xfrm>
          <a:prstGeom prst="roundRect">
            <a:avLst>
              <a:gd name="adj" fmla="val 16000"/>
            </a:avLst>
          </a:prstGeom>
          <a:solidFill>
            <a:srgbClr val="DFF4FF"/>
          </a:solidFill>
          <a:ln w="17780">
            <a:solidFill>
              <a:srgbClr val="1C8DD8"/>
            </a:solidFill>
            <a:prstDash val="solid"/>
          </a:ln>
        </p:spPr>
      </p:sp>
      <p:sp>
        <p:nvSpPr>
          <p:cNvPr id="15" name="Text 13"/>
          <p:cNvSpPr/>
          <p:nvPr/>
        </p:nvSpPr>
        <p:spPr>
          <a:xfrm>
            <a:off x="8522208" y="235915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grandma</a:t>
            </a:r>
            <a:endParaRPr lang="en-US" sz="1500" dirty="0"/>
          </a:p>
        </p:txBody>
      </p:sp>
      <p:sp>
        <p:nvSpPr>
          <p:cNvPr id="16" name="Shape 14"/>
          <p:cNvSpPr/>
          <p:nvPr/>
        </p:nvSpPr>
        <p:spPr>
          <a:xfrm>
            <a:off x="10287000" y="2240280"/>
            <a:ext cx="1600200" cy="685800"/>
          </a:xfrm>
          <a:prstGeom prst="roundRect">
            <a:avLst>
              <a:gd name="adj" fmla="val 16000"/>
            </a:avLst>
          </a:prstGeom>
          <a:solidFill>
            <a:srgbClr val="DFF4FF"/>
          </a:solidFill>
          <a:ln w="17780">
            <a:solidFill>
              <a:srgbClr val="1C8DD8"/>
            </a:solidFill>
            <a:prstDash val="solid"/>
          </a:ln>
        </p:spPr>
      </p:sp>
      <p:sp>
        <p:nvSpPr>
          <p:cNvPr id="17" name="Text 15"/>
          <p:cNvSpPr/>
          <p:nvPr/>
        </p:nvSpPr>
        <p:spPr>
          <a:xfrm>
            <a:off x="10424160" y="235915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friend</a:t>
            </a:r>
            <a:endParaRPr lang="en-US" sz="1500" dirty="0"/>
          </a:p>
        </p:txBody>
      </p:sp>
      <p:sp>
        <p:nvSpPr>
          <p:cNvPr id="18" name="Shape 16"/>
          <p:cNvSpPr/>
          <p:nvPr/>
        </p:nvSpPr>
        <p:spPr>
          <a:xfrm>
            <a:off x="777240" y="3337560"/>
            <a:ext cx="1600200" cy="685800"/>
          </a:xfrm>
          <a:prstGeom prst="roundRect">
            <a:avLst>
              <a:gd name="adj" fmla="val 16000"/>
            </a:avLst>
          </a:prstGeom>
          <a:solidFill>
            <a:srgbClr val="FFF4CC"/>
          </a:solidFill>
          <a:ln w="17780">
            <a:solidFill>
              <a:srgbClr val="FFD166"/>
            </a:solidFill>
            <a:prstDash val="solid"/>
          </a:ln>
        </p:spPr>
      </p:sp>
      <p:sp>
        <p:nvSpPr>
          <p:cNvPr id="19" name="Text 17"/>
          <p:cNvSpPr/>
          <p:nvPr/>
        </p:nvSpPr>
        <p:spPr>
          <a:xfrm>
            <a:off x="914400" y="345643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kind</a:t>
            </a:r>
            <a:endParaRPr lang="en-US" sz="1500" dirty="0"/>
          </a:p>
        </p:txBody>
      </p:sp>
      <p:sp>
        <p:nvSpPr>
          <p:cNvPr id="20" name="Shape 18"/>
          <p:cNvSpPr/>
          <p:nvPr/>
        </p:nvSpPr>
        <p:spPr>
          <a:xfrm>
            <a:off x="2679192" y="3337560"/>
            <a:ext cx="1600200" cy="685800"/>
          </a:xfrm>
          <a:prstGeom prst="roundRect">
            <a:avLst>
              <a:gd name="adj" fmla="val 16000"/>
            </a:avLst>
          </a:prstGeom>
          <a:solidFill>
            <a:srgbClr val="FFF4CC"/>
          </a:solidFill>
          <a:ln w="17780">
            <a:solidFill>
              <a:srgbClr val="FFD166"/>
            </a:solidFill>
            <a:prstDash val="solid"/>
          </a:ln>
        </p:spPr>
      </p:sp>
      <p:sp>
        <p:nvSpPr>
          <p:cNvPr id="21" name="Text 19"/>
          <p:cNvSpPr/>
          <p:nvPr/>
        </p:nvSpPr>
        <p:spPr>
          <a:xfrm>
            <a:off x="2816352" y="345643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funny</a:t>
            </a:r>
            <a:endParaRPr lang="en-US" sz="1500" dirty="0"/>
          </a:p>
        </p:txBody>
      </p:sp>
      <p:sp>
        <p:nvSpPr>
          <p:cNvPr id="22" name="Shape 20"/>
          <p:cNvSpPr/>
          <p:nvPr/>
        </p:nvSpPr>
        <p:spPr>
          <a:xfrm>
            <a:off x="4581144" y="3337560"/>
            <a:ext cx="1600200" cy="685800"/>
          </a:xfrm>
          <a:prstGeom prst="roundRect">
            <a:avLst>
              <a:gd name="adj" fmla="val 16000"/>
            </a:avLst>
          </a:prstGeom>
          <a:solidFill>
            <a:srgbClr val="FFF4CC"/>
          </a:solidFill>
          <a:ln w="17780">
            <a:solidFill>
              <a:srgbClr val="FFD166"/>
            </a:solidFill>
            <a:prstDash val="solid"/>
          </a:ln>
        </p:spPr>
      </p:sp>
      <p:sp>
        <p:nvSpPr>
          <p:cNvPr id="23" name="Text 21"/>
          <p:cNvSpPr/>
          <p:nvPr/>
        </p:nvSpPr>
        <p:spPr>
          <a:xfrm>
            <a:off x="4718304" y="345643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smart</a:t>
            </a:r>
            <a:endParaRPr lang="en-US" sz="1500" dirty="0"/>
          </a:p>
        </p:txBody>
      </p:sp>
      <p:sp>
        <p:nvSpPr>
          <p:cNvPr id="24" name="Shape 22"/>
          <p:cNvSpPr/>
          <p:nvPr/>
        </p:nvSpPr>
        <p:spPr>
          <a:xfrm>
            <a:off x="6483096" y="3337560"/>
            <a:ext cx="1600200" cy="685800"/>
          </a:xfrm>
          <a:prstGeom prst="roundRect">
            <a:avLst>
              <a:gd name="adj" fmla="val 16000"/>
            </a:avLst>
          </a:prstGeom>
          <a:solidFill>
            <a:srgbClr val="FFF4CC"/>
          </a:solidFill>
          <a:ln w="17780">
            <a:solidFill>
              <a:srgbClr val="FFD166"/>
            </a:solidFill>
            <a:prstDash val="solid"/>
          </a:ln>
        </p:spPr>
      </p:sp>
      <p:sp>
        <p:nvSpPr>
          <p:cNvPr id="25" name="Text 23"/>
          <p:cNvSpPr/>
          <p:nvPr/>
        </p:nvSpPr>
        <p:spPr>
          <a:xfrm>
            <a:off x="6620256" y="345643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quiet</a:t>
            </a:r>
            <a:endParaRPr lang="en-US" sz="1500" dirty="0"/>
          </a:p>
        </p:txBody>
      </p:sp>
      <p:sp>
        <p:nvSpPr>
          <p:cNvPr id="26" name="Shape 24"/>
          <p:cNvSpPr/>
          <p:nvPr/>
        </p:nvSpPr>
        <p:spPr>
          <a:xfrm>
            <a:off x="8385048" y="3337560"/>
            <a:ext cx="1600200" cy="685800"/>
          </a:xfrm>
          <a:prstGeom prst="roundRect">
            <a:avLst>
              <a:gd name="adj" fmla="val 16000"/>
            </a:avLst>
          </a:prstGeom>
          <a:solidFill>
            <a:srgbClr val="FFF4CC"/>
          </a:solidFill>
          <a:ln w="17780">
            <a:solidFill>
              <a:srgbClr val="FFD166"/>
            </a:solidFill>
            <a:prstDash val="solid"/>
          </a:ln>
        </p:spPr>
      </p:sp>
      <p:sp>
        <p:nvSpPr>
          <p:cNvPr id="27" name="Text 25"/>
          <p:cNvSpPr/>
          <p:nvPr/>
        </p:nvSpPr>
        <p:spPr>
          <a:xfrm>
            <a:off x="8522208" y="345643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helpful</a:t>
            </a:r>
            <a:endParaRPr lang="en-US" sz="1500" dirty="0"/>
          </a:p>
        </p:txBody>
      </p:sp>
      <p:sp>
        <p:nvSpPr>
          <p:cNvPr id="28" name="Shape 26"/>
          <p:cNvSpPr/>
          <p:nvPr/>
        </p:nvSpPr>
        <p:spPr>
          <a:xfrm>
            <a:off x="10287000" y="3337560"/>
            <a:ext cx="1600200" cy="685800"/>
          </a:xfrm>
          <a:prstGeom prst="roundRect">
            <a:avLst>
              <a:gd name="adj" fmla="val 16000"/>
            </a:avLst>
          </a:prstGeom>
          <a:solidFill>
            <a:srgbClr val="FFF4CC"/>
          </a:solidFill>
          <a:ln w="17780">
            <a:solidFill>
              <a:srgbClr val="FFD166"/>
            </a:solidFill>
            <a:prstDash val="solid"/>
          </a:ln>
        </p:spPr>
      </p:sp>
      <p:sp>
        <p:nvSpPr>
          <p:cNvPr id="29" name="Text 27"/>
          <p:cNvSpPr/>
          <p:nvPr/>
        </p:nvSpPr>
        <p:spPr>
          <a:xfrm>
            <a:off x="10424160" y="3456432"/>
            <a:ext cx="1325880" cy="484632"/>
          </a:xfrm>
          <a:prstGeom prst="rect">
            <a:avLst/>
          </a:prstGeom>
          <a:noFill/>
          <a:ln/>
        </p:spPr>
        <p:txBody>
          <a:bodyPr wrap="square" lIns="0" tIns="0" rIns="0" bIns="0" rtlCol="0" anchor="ctr">
            <a:normAutofit/>
          </a:bodyPr>
          <a:lstStyle/>
          <a:p>
            <a:pPr algn="ctr" indent="0" marL="0">
              <a:buNone/>
            </a:pPr>
            <a:r>
              <a:rPr lang="en-US" sz="1500" b="1" dirty="0">
                <a:solidFill>
                  <a:srgbClr val="173B57"/>
                </a:solidFill>
                <a:latin typeface="Aptos" pitchFamily="34" charset="0"/>
                <a:ea typeface="Aptos" pitchFamily="34" charset="-122"/>
                <a:cs typeface="Aptos" pitchFamily="34" charset="-120"/>
              </a:rPr>
              <a:t>friendly</a:t>
            </a:r>
            <a:endParaRPr lang="en-US" sz="1500" dirty="0"/>
          </a:p>
        </p:txBody>
      </p:sp>
      <p:sp>
        <p:nvSpPr>
          <p:cNvPr id="30" name="Text 28"/>
          <p:cNvSpPr/>
          <p:nvPr/>
        </p:nvSpPr>
        <p:spPr>
          <a:xfrm>
            <a:off x="914400" y="4846320"/>
            <a:ext cx="10332720" cy="411480"/>
          </a:xfrm>
          <a:prstGeom prst="rect">
            <a:avLst/>
          </a:prstGeom>
          <a:noFill/>
          <a:ln/>
        </p:spPr>
        <p:txBody>
          <a:bodyPr wrap="square" lIns="0" tIns="0" rIns="0" bIns="0" rtlCol="0" anchor="ctr">
            <a:normAutofit/>
          </a:bodyPr>
          <a:lstStyle/>
          <a:p>
            <a:pPr algn="ctr" indent="0" marL="0">
              <a:buNone/>
            </a:pPr>
            <a:r>
              <a:rPr lang="en-US" sz="1700" b="1" dirty="0">
                <a:solidFill>
                  <a:srgbClr val="EF476F"/>
                </a:solidFill>
                <a:latin typeface="Aptos" pitchFamily="34" charset="0"/>
                <a:ea typeface="Aptos" pitchFamily="34" charset="-122"/>
                <a:cs typeface="Aptos" pitchFamily="34" charset="-120"/>
              </a:rPr>
              <a:t>Partner practice: Choose 1 family word + 1 describing word. Say 3 sentences.</a:t>
            </a:r>
            <a:endParaRPr lang="en-US" sz="1700" dirty="0"/>
          </a:p>
        </p:txBody>
      </p:sp>
      <p:sp>
        <p:nvSpPr>
          <p:cNvPr id="31" name="Text 29"/>
          <p:cNvSpPr/>
          <p:nvPr/>
        </p:nvSpPr>
        <p:spPr>
          <a:xfrm>
            <a:off x="914400" y="5349240"/>
            <a:ext cx="10332720" cy="320040"/>
          </a:xfrm>
          <a:prstGeom prst="rect">
            <a:avLst/>
          </a:prstGeom>
          <a:noFill/>
          <a:ln/>
        </p:spPr>
        <p:txBody>
          <a:bodyPr wrap="square" lIns="0" tIns="0" rIns="0" bIns="0" rtlCol="0" anchor="ctr">
            <a:normAutofit/>
          </a:bodyPr>
          <a:lstStyle/>
          <a:p>
            <a:pPr algn="ctr" indent="0" marL="0">
              <a:buNone/>
            </a:pPr>
            <a:r>
              <a:rPr lang="en-US" sz="1500" dirty="0">
                <a:solidFill>
                  <a:srgbClr val="5E6B73"/>
                </a:solidFill>
                <a:latin typeface="Aptos" pitchFamily="34" charset="0"/>
                <a:ea typeface="Aptos" pitchFamily="34" charset="-122"/>
                <a:cs typeface="Aptos" pitchFamily="34" charset="-120"/>
              </a:rPr>
              <a:t>Example: This is my brother. He is funny. He likes games.</a:t>
            </a:r>
            <a:endParaRPr lang="en-US" sz="1500" dirty="0"/>
          </a:p>
        </p:txBody>
      </p:sp>
      <p:sp>
        <p:nvSpPr>
          <p:cNvPr id="32" name="Shape 30"/>
          <p:cNvSpPr/>
          <p:nvPr/>
        </p:nvSpPr>
        <p:spPr>
          <a:xfrm>
            <a:off x="0" y="6565392"/>
            <a:ext cx="12188952" cy="292608"/>
          </a:xfrm>
          <a:prstGeom prst="rect">
            <a:avLst/>
          </a:prstGeom>
          <a:solidFill>
            <a:srgbClr val="FFFFFF"/>
          </a:solidFill>
          <a:ln w="12700">
            <a:solidFill>
              <a:srgbClr val="C9E6F5"/>
            </a:solidFill>
            <a:prstDash val="solid"/>
          </a:ln>
        </p:spPr>
      </p:sp>
      <p:sp>
        <p:nvSpPr>
          <p:cNvPr id="33" name="Text 31"/>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4" name="Text 32"/>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Listening 1: My Family Photo</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Teacher reads. Students listen for family words and describing words.</a:t>
            </a:r>
            <a:endParaRPr lang="en-US" sz="1450" dirty="0"/>
          </a:p>
        </p:txBody>
      </p:sp>
      <p:sp>
        <p:nvSpPr>
          <p:cNvPr id="4" name="Shape 2"/>
          <p:cNvSpPr/>
          <p:nvPr/>
        </p:nvSpPr>
        <p:spPr>
          <a:xfrm>
            <a:off x="868680" y="1389888"/>
            <a:ext cx="10469880" cy="2743200"/>
          </a:xfrm>
          <a:prstGeom prst="roundRect">
            <a:avLst>
              <a:gd name="adj" fmla="val 4000"/>
            </a:avLst>
          </a:prstGeom>
          <a:solidFill>
            <a:srgbClr val="DFF4FF"/>
          </a:solidFill>
          <a:ln w="17780">
            <a:solidFill>
              <a:srgbClr val="1C8DD8"/>
            </a:solidFill>
            <a:prstDash val="solid"/>
          </a:ln>
        </p:spPr>
      </p:sp>
      <p:sp>
        <p:nvSpPr>
          <p:cNvPr id="5" name="Text 3"/>
          <p:cNvSpPr/>
          <p:nvPr/>
        </p:nvSpPr>
        <p:spPr>
          <a:xfrm>
            <a:off x="1051560" y="1691640"/>
            <a:ext cx="10058400" cy="320040"/>
          </a:xfrm>
          <a:prstGeom prst="rect">
            <a:avLst/>
          </a:prstGeom>
          <a:noFill/>
          <a:ln/>
        </p:spPr>
        <p:txBody>
          <a:bodyPr wrap="square" lIns="0" tIns="0" rIns="0" bIns="0" rtlCol="0" anchor="ctr">
            <a:normAutofit/>
          </a:bodyPr>
          <a:lstStyle/>
          <a:p>
            <a:pPr algn="ctr" indent="0" marL="0">
              <a:buNone/>
            </a:pPr>
            <a:r>
              <a:rPr lang="en-US" sz="1800" b="1" dirty="0">
                <a:solidFill>
                  <a:srgbClr val="173B57"/>
                </a:solidFill>
                <a:latin typeface="Aptos" pitchFamily="34" charset="0"/>
                <a:ea typeface="Aptos" pitchFamily="34" charset="-122"/>
                <a:cs typeface="Aptos" pitchFamily="34" charset="-120"/>
              </a:rPr>
              <a:t>Listen. Put your hand up when you hear:</a:t>
            </a:r>
            <a:endParaRPr lang="en-US" sz="1800" dirty="0"/>
          </a:p>
        </p:txBody>
      </p:sp>
      <p:sp>
        <p:nvSpPr>
          <p:cNvPr id="6" name="Text 4"/>
          <p:cNvSpPr/>
          <p:nvPr/>
        </p:nvSpPr>
        <p:spPr>
          <a:xfrm>
            <a:off x="1463040" y="2240280"/>
            <a:ext cx="9326880" cy="1170432"/>
          </a:xfrm>
          <a:prstGeom prst="rect">
            <a:avLst/>
          </a:prstGeom>
          <a:noFill/>
          <a:ln/>
        </p:spPr>
        <p:txBody>
          <a:bodyPr wrap="square" lIns="0" tIns="0" rIns="0" bIns="0"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This is my brother.</a:t>
            </a:r>
            <a:endParaRPr lang="en-US" sz="2500" dirty="0"/>
          </a:p>
          <a:p>
            <a:pPr algn="ctr" indent="0" marL="0">
              <a:buNone/>
            </a:pPr>
            <a:r>
              <a:rPr lang="en-US" sz="2500" b="1" dirty="0">
                <a:solidFill>
                  <a:srgbClr val="1F2933"/>
                </a:solidFill>
                <a:latin typeface="Aptos" pitchFamily="34" charset="0"/>
                <a:ea typeface="Aptos" pitchFamily="34" charset="-122"/>
                <a:cs typeface="Aptos" pitchFamily="34" charset="-120"/>
              </a:rPr>
              <a:t>She is kind.</a:t>
            </a:r>
            <a:endParaRPr lang="en-US" sz="2500" dirty="0"/>
          </a:p>
          <a:p>
            <a:pPr algn="ctr" indent="0" marL="0">
              <a:buNone/>
            </a:pPr>
            <a:r>
              <a:rPr lang="en-US" sz="2500" b="1" dirty="0">
                <a:solidFill>
                  <a:srgbClr val="1F2933"/>
                </a:solidFill>
                <a:latin typeface="Aptos" pitchFamily="34" charset="0"/>
                <a:ea typeface="Aptos" pitchFamily="34" charset="-122"/>
                <a:cs typeface="Aptos" pitchFamily="34" charset="-120"/>
              </a:rPr>
              <a:t>He likes football.</a:t>
            </a:r>
            <a:endParaRPr lang="en-US" sz="2500" dirty="0"/>
          </a:p>
        </p:txBody>
      </p:sp>
      <p:sp>
        <p:nvSpPr>
          <p:cNvPr id="7" name="Text 5"/>
          <p:cNvSpPr/>
          <p:nvPr/>
        </p:nvSpPr>
        <p:spPr>
          <a:xfrm>
            <a:off x="1051560" y="3611880"/>
            <a:ext cx="10058400" cy="274320"/>
          </a:xfrm>
          <a:prstGeom prst="rect">
            <a:avLst/>
          </a:prstGeom>
          <a:noFill/>
          <a:ln/>
        </p:spPr>
        <p:txBody>
          <a:bodyPr wrap="square" lIns="0" tIns="0" rIns="0" bIns="0" rtlCol="0" anchor="ctr">
            <a:normAutofit/>
          </a:bodyPr>
          <a:lstStyle/>
          <a:p>
            <a:pPr algn="ctr" indent="0" marL="0">
              <a:buNone/>
            </a:pPr>
            <a:r>
              <a:rPr lang="en-US" sz="1350" dirty="0">
                <a:solidFill>
                  <a:srgbClr val="5E6B73"/>
                </a:solidFill>
                <a:latin typeface="Aptos" pitchFamily="34" charset="0"/>
                <a:ea typeface="Aptos" pitchFamily="34" charset="-122"/>
                <a:cs typeface="Aptos" pitchFamily="34" charset="-120"/>
              </a:rPr>
              <a:t>Script is in speaker notes for the teacher.</a:t>
            </a:r>
            <a:endParaRPr lang="en-US" sz="1350" dirty="0"/>
          </a:p>
        </p:txBody>
      </p:sp>
      <p:sp>
        <p:nvSpPr>
          <p:cNvPr id="8" name="Text 6"/>
          <p:cNvSpPr/>
          <p:nvPr/>
        </p:nvSpPr>
        <p:spPr>
          <a:xfrm>
            <a:off x="1097280" y="4754880"/>
            <a:ext cx="9966960" cy="411480"/>
          </a:xfrm>
          <a:prstGeom prst="rect">
            <a:avLst/>
          </a:prstGeom>
          <a:noFill/>
          <a:ln/>
        </p:spPr>
        <p:txBody>
          <a:bodyPr wrap="square" lIns="0" tIns="0" rIns="0" bIns="0" rtlCol="0" anchor="ctr">
            <a:normAutofit/>
          </a:bodyPr>
          <a:lstStyle/>
          <a:p>
            <a:pPr algn="ctr" indent="0" marL="0">
              <a:buNone/>
            </a:pPr>
            <a:r>
              <a:rPr lang="en-US" sz="1800" b="1" dirty="0">
                <a:solidFill>
                  <a:srgbClr val="EF476F"/>
                </a:solidFill>
                <a:latin typeface="Aptos" pitchFamily="34" charset="0"/>
                <a:ea typeface="Aptos" pitchFamily="34" charset="-122"/>
                <a:cs typeface="Aptos" pitchFamily="34" charset="-120"/>
              </a:rPr>
              <a:t>Task: listen first, then repeat the phrases.</a:t>
            </a:r>
            <a:endParaRPr lang="en-US" sz="1800" dirty="0"/>
          </a:p>
        </p:txBody>
      </p:sp>
      <p:sp>
        <p:nvSpPr>
          <p:cNvPr id="9" name="Shape 7"/>
          <p:cNvSpPr/>
          <p:nvPr/>
        </p:nvSpPr>
        <p:spPr>
          <a:xfrm>
            <a:off x="0" y="6565392"/>
            <a:ext cx="12188952" cy="292608"/>
          </a:xfrm>
          <a:prstGeom prst="rect">
            <a:avLst/>
          </a:prstGeom>
          <a:solidFill>
            <a:srgbClr val="FFFFFF"/>
          </a:solidFill>
          <a:ln w="12700">
            <a:solidFill>
              <a:srgbClr val="C9E6F5"/>
            </a:solidFill>
            <a:prstDash val="solid"/>
          </a:ln>
        </p:spPr>
      </p:sp>
      <p:sp>
        <p:nvSpPr>
          <p:cNvPr id="10" name="Text 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11" name="Text 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Listening Check</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answer with fingers: 1, 2, or 3.</a:t>
            </a:r>
            <a:endParaRPr lang="en-US" sz="1450" dirty="0"/>
          </a:p>
        </p:txBody>
      </p:sp>
      <p:sp>
        <p:nvSpPr>
          <p:cNvPr id="4" name="Shape 2"/>
          <p:cNvSpPr/>
          <p:nvPr/>
        </p:nvSpPr>
        <p:spPr>
          <a:xfrm>
            <a:off x="713232" y="1417320"/>
            <a:ext cx="5120640" cy="1554480"/>
          </a:xfrm>
          <a:prstGeom prst="roundRect">
            <a:avLst>
              <a:gd name="adj" fmla="val 7059"/>
            </a:avLst>
          </a:prstGeom>
          <a:solidFill>
            <a:srgbClr val="FFF4CC"/>
          </a:solidFill>
          <a:ln w="17780">
            <a:solidFill>
              <a:srgbClr val="FFD166"/>
            </a:solidFill>
            <a:prstDash val="solid"/>
          </a:ln>
        </p:spPr>
      </p:sp>
      <p:sp>
        <p:nvSpPr>
          <p:cNvPr id="5" name="Text 3"/>
          <p:cNvSpPr/>
          <p:nvPr/>
        </p:nvSpPr>
        <p:spPr>
          <a:xfrm>
            <a:off x="850392" y="15270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56362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Who is Leo?</a:t>
            </a:r>
            <a:endParaRPr lang="en-US" sz="1550" dirty="0"/>
          </a:p>
        </p:txBody>
      </p:sp>
      <p:sp>
        <p:nvSpPr>
          <p:cNvPr id="7" name="Text 5"/>
          <p:cNvSpPr/>
          <p:nvPr/>
        </p:nvSpPr>
        <p:spPr>
          <a:xfrm>
            <a:off x="877824" y="1984248"/>
            <a:ext cx="4791456" cy="868680"/>
          </a:xfrm>
          <a:prstGeom prst="rect">
            <a:avLst/>
          </a:prstGeom>
          <a:noFill/>
          <a:ln/>
        </p:spPr>
        <p:txBody>
          <a:bodyPr wrap="square" lIns="0" tIns="0" rIns="0" bIns="0" rtlCol="0" anchor="t">
            <a:normAutofit/>
          </a:bodyPr>
          <a:lstStyle/>
          <a:p>
            <a:pPr indent="0" marL="0">
              <a:buNone/>
            </a:pPr>
            <a:r>
              <a:rPr lang="en-US" sz="1500" dirty="0">
                <a:solidFill>
                  <a:srgbClr val="1F2933"/>
                </a:solidFill>
                <a:latin typeface="Aptos" pitchFamily="34" charset="0"/>
                <a:ea typeface="Aptos" pitchFamily="34" charset="-122"/>
                <a:cs typeface="Aptos" pitchFamily="34" charset="-120"/>
              </a:rPr>
              <a:t>1 brother</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2 father</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3 cousin</a:t>
            </a:r>
            <a:endParaRPr lang="en-US" sz="1500" dirty="0"/>
          </a:p>
        </p:txBody>
      </p:sp>
      <p:sp>
        <p:nvSpPr>
          <p:cNvPr id="8" name="Shape 6"/>
          <p:cNvSpPr/>
          <p:nvPr/>
        </p:nvSpPr>
        <p:spPr>
          <a:xfrm>
            <a:off x="6355080" y="1417320"/>
            <a:ext cx="5120640" cy="1554480"/>
          </a:xfrm>
          <a:prstGeom prst="roundRect">
            <a:avLst>
              <a:gd name="adj" fmla="val 7059"/>
            </a:avLst>
          </a:prstGeom>
          <a:solidFill>
            <a:srgbClr val="DFF8EF"/>
          </a:solidFill>
          <a:ln w="17780">
            <a:solidFill>
              <a:srgbClr val="00A7A7"/>
            </a:solidFill>
            <a:prstDash val="solid"/>
          </a:ln>
        </p:spPr>
      </p:sp>
      <p:sp>
        <p:nvSpPr>
          <p:cNvPr id="9" name="Text 7"/>
          <p:cNvSpPr/>
          <p:nvPr/>
        </p:nvSpPr>
        <p:spPr>
          <a:xfrm>
            <a:off x="6492240" y="15270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7040880" y="156362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What does Hana like?</a:t>
            </a:r>
            <a:endParaRPr lang="en-US" sz="1550" dirty="0"/>
          </a:p>
        </p:txBody>
      </p:sp>
      <p:sp>
        <p:nvSpPr>
          <p:cNvPr id="11" name="Text 9"/>
          <p:cNvSpPr/>
          <p:nvPr/>
        </p:nvSpPr>
        <p:spPr>
          <a:xfrm>
            <a:off x="6519672" y="1984248"/>
            <a:ext cx="4791456" cy="868680"/>
          </a:xfrm>
          <a:prstGeom prst="rect">
            <a:avLst/>
          </a:prstGeom>
          <a:noFill/>
          <a:ln/>
        </p:spPr>
        <p:txBody>
          <a:bodyPr wrap="square" lIns="0" tIns="0" rIns="0" bIns="0" rtlCol="0" anchor="t">
            <a:normAutofit/>
          </a:bodyPr>
          <a:lstStyle/>
          <a:p>
            <a:pPr indent="0" marL="0">
              <a:buNone/>
            </a:pPr>
            <a:r>
              <a:rPr lang="en-US" sz="1500" dirty="0">
                <a:solidFill>
                  <a:srgbClr val="1F2933"/>
                </a:solidFill>
                <a:latin typeface="Aptos" pitchFamily="34" charset="0"/>
                <a:ea typeface="Aptos" pitchFamily="34" charset="-122"/>
                <a:cs typeface="Aptos" pitchFamily="34" charset="-120"/>
              </a:rPr>
              <a:t>1 football</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2 drawing</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3 singing</a:t>
            </a:r>
            <a:endParaRPr lang="en-US" sz="1500" dirty="0"/>
          </a:p>
        </p:txBody>
      </p:sp>
      <p:sp>
        <p:nvSpPr>
          <p:cNvPr id="12" name="Shape 10"/>
          <p:cNvSpPr/>
          <p:nvPr/>
        </p:nvSpPr>
        <p:spPr>
          <a:xfrm>
            <a:off x="713232" y="3429000"/>
            <a:ext cx="5120640" cy="1554480"/>
          </a:xfrm>
          <a:prstGeom prst="roundRect">
            <a:avLst>
              <a:gd name="adj" fmla="val 7059"/>
            </a:avLst>
          </a:prstGeom>
          <a:solidFill>
            <a:srgbClr val="FFF4CC"/>
          </a:solidFill>
          <a:ln w="17780">
            <a:solidFill>
              <a:srgbClr val="FFD166"/>
            </a:solidFill>
            <a:prstDash val="solid"/>
          </a:ln>
        </p:spPr>
      </p:sp>
      <p:sp>
        <p:nvSpPr>
          <p:cNvPr id="13" name="Text 11"/>
          <p:cNvSpPr/>
          <p:nvPr/>
        </p:nvSpPr>
        <p:spPr>
          <a:xfrm>
            <a:off x="850392" y="35387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1399032" y="357530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What word describes mother?</a:t>
            </a:r>
            <a:endParaRPr lang="en-US" sz="1550" dirty="0"/>
          </a:p>
        </p:txBody>
      </p:sp>
      <p:sp>
        <p:nvSpPr>
          <p:cNvPr id="15" name="Text 13"/>
          <p:cNvSpPr/>
          <p:nvPr/>
        </p:nvSpPr>
        <p:spPr>
          <a:xfrm>
            <a:off x="877824" y="3995928"/>
            <a:ext cx="4791456" cy="868680"/>
          </a:xfrm>
          <a:prstGeom prst="rect">
            <a:avLst/>
          </a:prstGeom>
          <a:noFill/>
          <a:ln/>
        </p:spPr>
        <p:txBody>
          <a:bodyPr wrap="square" lIns="0" tIns="0" rIns="0" bIns="0" rtlCol="0" anchor="t">
            <a:normAutofit/>
          </a:bodyPr>
          <a:lstStyle/>
          <a:p>
            <a:pPr indent="0" marL="0">
              <a:buNone/>
            </a:pPr>
            <a:r>
              <a:rPr lang="en-US" sz="1500" dirty="0">
                <a:solidFill>
                  <a:srgbClr val="1F2933"/>
                </a:solidFill>
                <a:latin typeface="Aptos" pitchFamily="34" charset="0"/>
                <a:ea typeface="Aptos" pitchFamily="34" charset="-122"/>
                <a:cs typeface="Aptos" pitchFamily="34" charset="-120"/>
              </a:rPr>
              <a:t>1 kind</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2 old</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3 tired</a:t>
            </a:r>
            <a:endParaRPr lang="en-US" sz="1500" dirty="0"/>
          </a:p>
        </p:txBody>
      </p:sp>
      <p:sp>
        <p:nvSpPr>
          <p:cNvPr id="16" name="Shape 14"/>
          <p:cNvSpPr/>
          <p:nvPr/>
        </p:nvSpPr>
        <p:spPr>
          <a:xfrm>
            <a:off x="6355080" y="3429000"/>
            <a:ext cx="5120640" cy="1554480"/>
          </a:xfrm>
          <a:prstGeom prst="roundRect">
            <a:avLst>
              <a:gd name="adj" fmla="val 7059"/>
            </a:avLst>
          </a:prstGeom>
          <a:solidFill>
            <a:srgbClr val="DFF8EF"/>
          </a:solidFill>
          <a:ln w="17780">
            <a:solidFill>
              <a:srgbClr val="00A7A7"/>
            </a:solidFill>
            <a:prstDash val="solid"/>
          </a:ln>
        </p:spPr>
      </p:sp>
      <p:sp>
        <p:nvSpPr>
          <p:cNvPr id="17" name="Text 15"/>
          <p:cNvSpPr/>
          <p:nvPr/>
        </p:nvSpPr>
        <p:spPr>
          <a:xfrm>
            <a:off x="6492240" y="35387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7040880" y="357530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What does Hana have?</a:t>
            </a:r>
            <a:endParaRPr lang="en-US" sz="1550" dirty="0"/>
          </a:p>
        </p:txBody>
      </p:sp>
      <p:sp>
        <p:nvSpPr>
          <p:cNvPr id="19" name="Text 17"/>
          <p:cNvSpPr/>
          <p:nvPr/>
        </p:nvSpPr>
        <p:spPr>
          <a:xfrm>
            <a:off x="6519672" y="3995928"/>
            <a:ext cx="4791456" cy="868680"/>
          </a:xfrm>
          <a:prstGeom prst="rect">
            <a:avLst/>
          </a:prstGeom>
          <a:noFill/>
          <a:ln/>
        </p:spPr>
        <p:txBody>
          <a:bodyPr wrap="square" lIns="0" tIns="0" rIns="0" bIns="0" rtlCol="0" anchor="t">
            <a:normAutofit/>
          </a:bodyPr>
          <a:lstStyle/>
          <a:p>
            <a:pPr indent="0" marL="0">
              <a:buNone/>
            </a:pPr>
            <a:r>
              <a:rPr lang="en-US" sz="1500" dirty="0">
                <a:solidFill>
                  <a:srgbClr val="1F2933"/>
                </a:solidFill>
                <a:latin typeface="Aptos" pitchFamily="34" charset="0"/>
                <a:ea typeface="Aptos" pitchFamily="34" charset="-122"/>
                <a:cs typeface="Aptos" pitchFamily="34" charset="-120"/>
              </a:rPr>
              <a:t>1 short hair</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2 long hair</a:t>
            </a:r>
            <a:endParaRPr lang="en-US" sz="1500" dirty="0"/>
          </a:p>
          <a:p>
            <a:pPr indent="0" marL="0">
              <a:buNone/>
            </a:pPr>
            <a:r>
              <a:rPr lang="en-US" sz="1500" dirty="0">
                <a:solidFill>
                  <a:srgbClr val="1F2933"/>
                </a:solidFill>
                <a:latin typeface="Aptos" pitchFamily="34" charset="0"/>
                <a:ea typeface="Aptos" pitchFamily="34" charset="-122"/>
                <a:cs typeface="Aptos" pitchFamily="34" charset="-120"/>
              </a:rPr>
              <a:t>3 blue hair</a:t>
            </a:r>
            <a:endParaRPr lang="en-US" sz="1500" dirty="0"/>
          </a:p>
        </p:txBody>
      </p:sp>
      <p:sp>
        <p:nvSpPr>
          <p:cNvPr id="20" name="Text 18"/>
          <p:cNvSpPr/>
          <p:nvPr/>
        </p:nvSpPr>
        <p:spPr>
          <a:xfrm>
            <a:off x="1051560" y="5715000"/>
            <a:ext cx="10149840" cy="320040"/>
          </a:xfrm>
          <a:prstGeom prst="rect">
            <a:avLst/>
          </a:prstGeom>
          <a:noFill/>
          <a:ln/>
        </p:spPr>
        <p:txBody>
          <a:bodyPr wrap="square" lIns="0" tIns="0" rIns="0" bIns="0" rtlCol="0" anchor="ctr">
            <a:normAutofit/>
          </a:bodyPr>
          <a:lstStyle/>
          <a:p>
            <a:pPr algn="ctr" indent="0" marL="0">
              <a:buNone/>
            </a:pPr>
            <a:r>
              <a:rPr lang="en-US" sz="1550" b="1" dirty="0">
                <a:solidFill>
                  <a:srgbClr val="5E6B73"/>
                </a:solidFill>
                <a:latin typeface="Aptos" pitchFamily="34" charset="0"/>
                <a:ea typeface="Aptos" pitchFamily="34" charset="-122"/>
                <a:cs typeface="Aptos" pitchFamily="34" charset="-120"/>
              </a:rPr>
              <a:t>Fast correction: Say the full answer together.</a:t>
            </a:r>
            <a:endParaRPr lang="en-US" sz="1550" dirty="0"/>
          </a:p>
        </p:txBody>
      </p:sp>
      <p:sp>
        <p:nvSpPr>
          <p:cNvPr id="21" name="Shape 19"/>
          <p:cNvSpPr/>
          <p:nvPr/>
        </p:nvSpPr>
        <p:spPr>
          <a:xfrm>
            <a:off x="0" y="6565392"/>
            <a:ext cx="12188952" cy="292608"/>
          </a:xfrm>
          <a:prstGeom prst="rect">
            <a:avLst/>
          </a:prstGeom>
          <a:solidFill>
            <a:srgbClr val="FFFFFF"/>
          </a:solidFill>
          <a:ln w="12700">
            <a:solidFill>
              <a:srgbClr val="C9E6F5"/>
            </a:solidFill>
            <a:prstDash val="solid"/>
          </a:ln>
        </p:spPr>
      </p:sp>
      <p:sp>
        <p:nvSpPr>
          <p:cNvPr id="22" name="Text 20"/>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3" name="Text 21"/>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Speaking Game: Guess Who?</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Use description cards. Partners listen and guess the person.</a:t>
            </a:r>
            <a:endParaRPr lang="en-US" sz="1450" dirty="0"/>
          </a:p>
        </p:txBody>
      </p:sp>
      <p:sp>
        <p:nvSpPr>
          <p:cNvPr id="4" name="Shape 2"/>
          <p:cNvSpPr/>
          <p:nvPr/>
        </p:nvSpPr>
        <p:spPr>
          <a:xfrm>
            <a:off x="777240" y="1417320"/>
            <a:ext cx="2423160" cy="2926080"/>
          </a:xfrm>
          <a:prstGeom prst="roundRect">
            <a:avLst>
              <a:gd name="adj" fmla="val 4528"/>
            </a:avLst>
          </a:prstGeom>
          <a:solidFill>
            <a:srgbClr val="DFF4FF"/>
          </a:solidFill>
          <a:ln w="17780">
            <a:solidFill>
              <a:srgbClr val="1C8DD8"/>
            </a:solidFill>
            <a:prstDash val="solid"/>
          </a:ln>
        </p:spPr>
      </p:sp>
      <p:sp>
        <p:nvSpPr>
          <p:cNvPr id="5" name="Text 3"/>
          <p:cNvSpPr/>
          <p:nvPr/>
        </p:nvSpPr>
        <p:spPr>
          <a:xfrm>
            <a:off x="1463040" y="1691640"/>
            <a:ext cx="1051560" cy="548640"/>
          </a:xfrm>
          <a:prstGeom prst="rect">
            <a:avLst/>
          </a:prstGeom>
          <a:noFill/>
          <a:ln/>
        </p:spPr>
        <p:txBody>
          <a:bodyPr wrap="square" lIns="0" tIns="0" rIns="0" bIns="0" rtlCol="0" anchor="ctr">
            <a:normAutofit/>
          </a:bodyPr>
          <a:lstStyle/>
          <a:p>
            <a:pPr algn="ctr" indent="0" marL="0">
              <a:buNone/>
            </a:pPr>
            <a:r>
              <a:rPr lang="en-US" sz="2600" b="1" dirty="0">
                <a:solidFill>
                  <a:srgbClr val="EF476F"/>
                </a:solidFill>
                <a:latin typeface="Aptos" pitchFamily="34" charset="0"/>
                <a:ea typeface="Aptos" pitchFamily="34" charset="-122"/>
                <a:cs typeface="Aptos" pitchFamily="34" charset="-120"/>
              </a:rPr>
              <a:t>1</a:t>
            </a:r>
            <a:endParaRPr lang="en-US" sz="2600" dirty="0"/>
          </a:p>
        </p:txBody>
      </p:sp>
      <p:sp>
        <p:nvSpPr>
          <p:cNvPr id="6" name="Text 4"/>
          <p:cNvSpPr/>
          <p:nvPr/>
        </p:nvSpPr>
        <p:spPr>
          <a:xfrm>
            <a:off x="1005840" y="2514600"/>
            <a:ext cx="1965960" cy="731520"/>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Pick a card.</a:t>
            </a:r>
            <a:endParaRPr lang="en-US" sz="1600" dirty="0"/>
          </a:p>
        </p:txBody>
      </p:sp>
      <p:sp>
        <p:nvSpPr>
          <p:cNvPr id="7" name="Shape 5"/>
          <p:cNvSpPr/>
          <p:nvPr/>
        </p:nvSpPr>
        <p:spPr>
          <a:xfrm>
            <a:off x="3566160" y="1417320"/>
            <a:ext cx="2423160" cy="2926080"/>
          </a:xfrm>
          <a:prstGeom prst="roundRect">
            <a:avLst>
              <a:gd name="adj" fmla="val 4528"/>
            </a:avLst>
          </a:prstGeom>
          <a:solidFill>
            <a:srgbClr val="DFF8EF"/>
          </a:solidFill>
          <a:ln w="17780">
            <a:solidFill>
              <a:srgbClr val="00A7A7"/>
            </a:solidFill>
            <a:prstDash val="solid"/>
          </a:ln>
        </p:spPr>
      </p:sp>
      <p:sp>
        <p:nvSpPr>
          <p:cNvPr id="8" name="Text 6"/>
          <p:cNvSpPr/>
          <p:nvPr/>
        </p:nvSpPr>
        <p:spPr>
          <a:xfrm>
            <a:off x="4251960" y="1691640"/>
            <a:ext cx="1051560" cy="548640"/>
          </a:xfrm>
          <a:prstGeom prst="rect">
            <a:avLst/>
          </a:prstGeom>
          <a:noFill/>
          <a:ln/>
        </p:spPr>
        <p:txBody>
          <a:bodyPr wrap="square" lIns="0" tIns="0" rIns="0" bIns="0" rtlCol="0" anchor="ctr">
            <a:normAutofit/>
          </a:bodyPr>
          <a:lstStyle/>
          <a:p>
            <a:pPr algn="ctr" indent="0" marL="0">
              <a:buNone/>
            </a:pPr>
            <a:r>
              <a:rPr lang="en-US" sz="2600" b="1" dirty="0">
                <a:solidFill>
                  <a:srgbClr val="EF476F"/>
                </a:solidFill>
                <a:latin typeface="Aptos" pitchFamily="34" charset="0"/>
                <a:ea typeface="Aptos" pitchFamily="34" charset="-122"/>
                <a:cs typeface="Aptos" pitchFamily="34" charset="-120"/>
              </a:rPr>
              <a:t>2</a:t>
            </a:r>
            <a:endParaRPr lang="en-US" sz="2600" dirty="0"/>
          </a:p>
        </p:txBody>
      </p:sp>
      <p:sp>
        <p:nvSpPr>
          <p:cNvPr id="9" name="Text 7"/>
          <p:cNvSpPr/>
          <p:nvPr/>
        </p:nvSpPr>
        <p:spPr>
          <a:xfrm>
            <a:off x="3794760" y="2514600"/>
            <a:ext cx="1965960" cy="731520"/>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Describe the person.</a:t>
            </a:r>
            <a:endParaRPr lang="en-US" sz="1600" dirty="0"/>
          </a:p>
        </p:txBody>
      </p:sp>
      <p:sp>
        <p:nvSpPr>
          <p:cNvPr id="10" name="Shape 8"/>
          <p:cNvSpPr/>
          <p:nvPr/>
        </p:nvSpPr>
        <p:spPr>
          <a:xfrm>
            <a:off x="6355080" y="1417320"/>
            <a:ext cx="2423160" cy="2926080"/>
          </a:xfrm>
          <a:prstGeom prst="roundRect">
            <a:avLst>
              <a:gd name="adj" fmla="val 4528"/>
            </a:avLst>
          </a:prstGeom>
          <a:solidFill>
            <a:srgbClr val="DFF4FF"/>
          </a:solidFill>
          <a:ln w="17780">
            <a:solidFill>
              <a:srgbClr val="1C8DD8"/>
            </a:solidFill>
            <a:prstDash val="solid"/>
          </a:ln>
        </p:spPr>
      </p:sp>
      <p:sp>
        <p:nvSpPr>
          <p:cNvPr id="11" name="Text 9"/>
          <p:cNvSpPr/>
          <p:nvPr/>
        </p:nvSpPr>
        <p:spPr>
          <a:xfrm>
            <a:off x="7040880" y="1691640"/>
            <a:ext cx="1051560" cy="548640"/>
          </a:xfrm>
          <a:prstGeom prst="rect">
            <a:avLst/>
          </a:prstGeom>
          <a:noFill/>
          <a:ln/>
        </p:spPr>
        <p:txBody>
          <a:bodyPr wrap="square" lIns="0" tIns="0" rIns="0" bIns="0" rtlCol="0" anchor="ctr">
            <a:normAutofit/>
          </a:bodyPr>
          <a:lstStyle/>
          <a:p>
            <a:pPr algn="ctr" indent="0" marL="0">
              <a:buNone/>
            </a:pPr>
            <a:r>
              <a:rPr lang="en-US" sz="2600" b="1" dirty="0">
                <a:solidFill>
                  <a:srgbClr val="EF476F"/>
                </a:solidFill>
                <a:latin typeface="Aptos" pitchFamily="34" charset="0"/>
                <a:ea typeface="Aptos" pitchFamily="34" charset="-122"/>
                <a:cs typeface="Aptos" pitchFamily="34" charset="-120"/>
              </a:rPr>
              <a:t>3</a:t>
            </a:r>
            <a:endParaRPr lang="en-US" sz="2600" dirty="0"/>
          </a:p>
        </p:txBody>
      </p:sp>
      <p:sp>
        <p:nvSpPr>
          <p:cNvPr id="12" name="Text 10"/>
          <p:cNvSpPr/>
          <p:nvPr/>
        </p:nvSpPr>
        <p:spPr>
          <a:xfrm>
            <a:off x="6583680" y="2514600"/>
            <a:ext cx="1965960" cy="731520"/>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Partner guesses: “Is it your ___?”</a:t>
            </a:r>
            <a:endParaRPr lang="en-US" sz="1600" dirty="0"/>
          </a:p>
        </p:txBody>
      </p:sp>
      <p:sp>
        <p:nvSpPr>
          <p:cNvPr id="13" name="Shape 11"/>
          <p:cNvSpPr/>
          <p:nvPr/>
        </p:nvSpPr>
        <p:spPr>
          <a:xfrm>
            <a:off x="9144000" y="1417320"/>
            <a:ext cx="2423160" cy="2926080"/>
          </a:xfrm>
          <a:prstGeom prst="roundRect">
            <a:avLst>
              <a:gd name="adj" fmla="val 4528"/>
            </a:avLst>
          </a:prstGeom>
          <a:solidFill>
            <a:srgbClr val="DFF8EF"/>
          </a:solidFill>
          <a:ln w="17780">
            <a:solidFill>
              <a:srgbClr val="00A7A7"/>
            </a:solidFill>
            <a:prstDash val="solid"/>
          </a:ln>
        </p:spPr>
      </p:sp>
      <p:sp>
        <p:nvSpPr>
          <p:cNvPr id="14" name="Text 12"/>
          <p:cNvSpPr/>
          <p:nvPr/>
        </p:nvSpPr>
        <p:spPr>
          <a:xfrm>
            <a:off x="9829800" y="1691640"/>
            <a:ext cx="1051560" cy="548640"/>
          </a:xfrm>
          <a:prstGeom prst="rect">
            <a:avLst/>
          </a:prstGeom>
          <a:noFill/>
          <a:ln/>
        </p:spPr>
        <p:txBody>
          <a:bodyPr wrap="square" lIns="0" tIns="0" rIns="0" bIns="0" rtlCol="0" anchor="ctr">
            <a:normAutofit/>
          </a:bodyPr>
          <a:lstStyle/>
          <a:p>
            <a:pPr algn="ctr" indent="0" marL="0">
              <a:buNone/>
            </a:pPr>
            <a:r>
              <a:rPr lang="en-US" sz="2600" b="1" dirty="0">
                <a:solidFill>
                  <a:srgbClr val="EF476F"/>
                </a:solidFill>
                <a:latin typeface="Aptos" pitchFamily="34" charset="0"/>
                <a:ea typeface="Aptos" pitchFamily="34" charset="-122"/>
                <a:cs typeface="Aptos" pitchFamily="34" charset="-120"/>
              </a:rPr>
              <a:t>4</a:t>
            </a:r>
            <a:endParaRPr lang="en-US" sz="2600" dirty="0"/>
          </a:p>
        </p:txBody>
      </p:sp>
      <p:sp>
        <p:nvSpPr>
          <p:cNvPr id="15" name="Text 13"/>
          <p:cNvSpPr/>
          <p:nvPr/>
        </p:nvSpPr>
        <p:spPr>
          <a:xfrm>
            <a:off x="9372600" y="2514600"/>
            <a:ext cx="1965960" cy="731520"/>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Switch roles.</a:t>
            </a:r>
            <a:endParaRPr lang="en-US" sz="1600" dirty="0"/>
          </a:p>
        </p:txBody>
      </p:sp>
      <p:sp>
        <p:nvSpPr>
          <p:cNvPr id="16" name="Text 14"/>
          <p:cNvSpPr/>
          <p:nvPr/>
        </p:nvSpPr>
        <p:spPr>
          <a:xfrm>
            <a:off x="1097280" y="4983480"/>
            <a:ext cx="9966960" cy="411480"/>
          </a:xfrm>
          <a:prstGeom prst="rect">
            <a:avLst/>
          </a:prstGeom>
          <a:noFill/>
          <a:ln/>
        </p:spPr>
        <p:txBody>
          <a:bodyPr wrap="square" lIns="0" tIns="0" rIns="0" bIns="0" rtlCol="0" anchor="ctr">
            <a:normAutofit/>
          </a:bodyPr>
          <a:lstStyle/>
          <a:p>
            <a:pPr algn="ctr" indent="0" marL="0">
              <a:buNone/>
            </a:pPr>
            <a:r>
              <a:rPr lang="en-US" sz="1800" b="1" dirty="0">
                <a:solidFill>
                  <a:srgbClr val="EF476F"/>
                </a:solidFill>
                <a:latin typeface="Aptos" pitchFamily="34" charset="0"/>
                <a:ea typeface="Aptos" pitchFamily="34" charset="-122"/>
                <a:cs typeface="Aptos" pitchFamily="34" charset="-120"/>
              </a:rPr>
              <a:t>Use English only. Use kind words. Use gestures to help!</a:t>
            </a:r>
            <a:endParaRPr lang="en-US" sz="1800" dirty="0"/>
          </a:p>
        </p:txBody>
      </p:sp>
      <p:sp>
        <p:nvSpPr>
          <p:cNvPr id="17" name="Shape 15"/>
          <p:cNvSpPr/>
          <p:nvPr/>
        </p:nvSpPr>
        <p:spPr>
          <a:xfrm>
            <a:off x="0" y="6565392"/>
            <a:ext cx="12188952" cy="292608"/>
          </a:xfrm>
          <a:prstGeom prst="rect">
            <a:avLst/>
          </a:prstGeom>
          <a:solidFill>
            <a:srgbClr val="FFFFFF"/>
          </a:solidFill>
          <a:ln w="12700">
            <a:solidFill>
              <a:srgbClr val="C9E6F5"/>
            </a:solidFill>
            <a:prstDash val="solid"/>
          </a:ln>
        </p:spPr>
      </p:sp>
      <p:sp>
        <p:nvSpPr>
          <p:cNvPr id="18" name="Text 16"/>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19" name="Text 17"/>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Dialogue Model</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practice a short, safe conversation.</a:t>
            </a:r>
            <a:endParaRPr lang="en-US" sz="1450" dirty="0"/>
          </a:p>
        </p:txBody>
      </p:sp>
      <p:sp>
        <p:nvSpPr>
          <p:cNvPr id="4" name="Shape 2"/>
          <p:cNvSpPr/>
          <p:nvPr/>
        </p:nvSpPr>
        <p:spPr>
          <a:xfrm>
            <a:off x="914400" y="1234440"/>
            <a:ext cx="10332720" cy="3566160"/>
          </a:xfrm>
          <a:prstGeom prst="roundRect">
            <a:avLst>
              <a:gd name="adj" fmla="val 3077"/>
            </a:avLst>
          </a:prstGeom>
          <a:solidFill>
            <a:srgbClr val="FFF4CC"/>
          </a:solidFill>
          <a:ln w="17780">
            <a:solidFill>
              <a:srgbClr val="FFD166"/>
            </a:solidFill>
            <a:prstDash val="solid"/>
          </a:ln>
        </p:spPr>
      </p:sp>
      <p:sp>
        <p:nvSpPr>
          <p:cNvPr id="5" name="Text 3"/>
          <p:cNvSpPr/>
          <p:nvPr/>
        </p:nvSpPr>
        <p:spPr>
          <a:xfrm>
            <a:off x="1234440" y="1554480"/>
            <a:ext cx="9692640" cy="2788920"/>
          </a:xfrm>
          <a:prstGeom prst="rect">
            <a:avLst/>
          </a:prstGeom>
          <a:noFill/>
          <a:ln/>
        </p:spPr>
        <p:txBody>
          <a:bodyPr wrap="square" lIns="0" tIns="0" rIns="0" bIns="0" rtlCol="0" anchor="ctr">
            <a:normAutofit/>
          </a:bodyPr>
          <a:lstStyle/>
          <a:p>
            <a:pPr indent="0" marL="0">
              <a:buNone/>
            </a:pPr>
            <a:r>
              <a:rPr lang="en-US" sz="2300" b="1" dirty="0">
                <a:solidFill>
                  <a:srgbClr val="1F2933"/>
                </a:solidFill>
                <a:latin typeface="Aptos" pitchFamily="34" charset="0"/>
                <a:ea typeface="Aptos" pitchFamily="34" charset="-122"/>
                <a:cs typeface="Aptos" pitchFamily="34" charset="-120"/>
              </a:rPr>
              <a:t>A: Who is this?</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B: This is my friend, Ali.</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A: What is he like?</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B: He is funny and helpful.</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A: What does he like?</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B: He likes football.</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A: Cool!</a:t>
            </a:r>
            <a:endParaRPr lang="en-US" sz="2300" dirty="0"/>
          </a:p>
        </p:txBody>
      </p:sp>
      <p:sp>
        <p:nvSpPr>
          <p:cNvPr id="6" name="Text 4"/>
          <p:cNvSpPr/>
          <p:nvPr/>
        </p:nvSpPr>
        <p:spPr>
          <a:xfrm>
            <a:off x="1097280" y="5349240"/>
            <a:ext cx="9966960" cy="411480"/>
          </a:xfrm>
          <a:prstGeom prst="rect">
            <a:avLst/>
          </a:prstGeom>
          <a:noFill/>
          <a:ln/>
        </p:spPr>
        <p:txBody>
          <a:bodyPr wrap="square" lIns="0" tIns="0" rIns="0" bIns="0" rtlCol="0" anchor="ctr">
            <a:normAutofit/>
          </a:bodyPr>
          <a:lstStyle/>
          <a:p>
            <a:pPr algn="ctr" indent="0" marL="0">
              <a:buNone/>
            </a:pPr>
            <a:r>
              <a:rPr lang="en-US" sz="1700" b="1" dirty="0">
                <a:solidFill>
                  <a:srgbClr val="EF476F"/>
                </a:solidFill>
                <a:latin typeface="Aptos" pitchFamily="34" charset="0"/>
                <a:ea typeface="Aptos" pitchFamily="34" charset="-122"/>
                <a:cs typeface="Aptos" pitchFamily="34" charset="-120"/>
              </a:rPr>
              <a:t>Practice 3 times: slow voice → normal voice → acting voice.</a:t>
            </a:r>
            <a:endParaRPr lang="en-US" sz="1700" dirty="0"/>
          </a:p>
        </p:txBody>
      </p:sp>
      <p:sp>
        <p:nvSpPr>
          <p:cNvPr id="7" name="Shape 5"/>
          <p:cNvSpPr/>
          <p:nvPr/>
        </p:nvSpPr>
        <p:spPr>
          <a:xfrm>
            <a:off x="0" y="6565392"/>
            <a:ext cx="12188952" cy="292608"/>
          </a:xfrm>
          <a:prstGeom prst="rect">
            <a:avLst/>
          </a:prstGeom>
          <a:solidFill>
            <a:srgbClr val="FFFFFF"/>
          </a:solidFill>
          <a:ln w="12700">
            <a:solidFill>
              <a:srgbClr val="C9E6F5"/>
            </a:solidFill>
            <a:prstDash val="solid"/>
          </a:ln>
        </p:spPr>
      </p:sp>
      <p:sp>
        <p:nvSpPr>
          <p:cNvPr id="8" name="Text 6"/>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9" name="Text 7"/>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Choose a Role-play</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use the language in real speaking situations.</a:t>
            </a:r>
            <a:endParaRPr lang="en-US" sz="1450" dirty="0"/>
          </a:p>
        </p:txBody>
      </p:sp>
      <p:sp>
        <p:nvSpPr>
          <p:cNvPr id="4" name="Shape 2"/>
          <p:cNvSpPr/>
          <p:nvPr/>
        </p:nvSpPr>
        <p:spPr>
          <a:xfrm>
            <a:off x="713232" y="1325880"/>
            <a:ext cx="5120640" cy="1554480"/>
          </a:xfrm>
          <a:prstGeom prst="roundRect">
            <a:avLst>
              <a:gd name="adj" fmla="val 7059"/>
            </a:avLst>
          </a:prstGeom>
          <a:solidFill>
            <a:srgbClr val="DFF4FF"/>
          </a:solidFill>
          <a:ln w="17780">
            <a:solidFill>
              <a:srgbClr val="1C8DD8"/>
            </a:solidFill>
            <a:prstDash val="solid"/>
          </a:ln>
        </p:spPr>
      </p:sp>
      <p:sp>
        <p:nvSpPr>
          <p:cNvPr id="5" name="Text 3"/>
          <p:cNvSpPr/>
          <p:nvPr/>
        </p:nvSpPr>
        <p:spPr>
          <a:xfrm>
            <a:off x="85039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47218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Problem 1</a:t>
            </a:r>
            <a:endParaRPr lang="en-US" sz="1550" dirty="0"/>
          </a:p>
        </p:txBody>
      </p:sp>
      <p:sp>
        <p:nvSpPr>
          <p:cNvPr id="7" name="Text 5"/>
          <p:cNvSpPr/>
          <p:nvPr/>
        </p:nvSpPr>
        <p:spPr>
          <a:xfrm>
            <a:off x="877824" y="1892808"/>
            <a:ext cx="4791456" cy="868680"/>
          </a:xfrm>
          <a:prstGeom prst="rect">
            <a:avLst/>
          </a:prstGeom>
          <a:noFill/>
          <a:ln/>
        </p:spPr>
        <p:txBody>
          <a:bodyPr wrap="square" lIns="0" tIns="0" rIns="0" bIns="0" rtlCol="0" anchor="t">
            <a:normAutofit/>
          </a:bodyPr>
          <a:lstStyle/>
          <a:p>
            <a:pPr indent="0" marL="0">
              <a:buNone/>
            </a:pPr>
            <a:r>
              <a:rPr lang="en-US" sz="1370" dirty="0">
                <a:solidFill>
                  <a:srgbClr val="1F2933"/>
                </a:solidFill>
                <a:latin typeface="Aptos" pitchFamily="34" charset="0"/>
                <a:ea typeface="Aptos" pitchFamily="34" charset="-122"/>
                <a:cs typeface="Aptos" pitchFamily="34" charset="-120"/>
              </a:rPr>
              <a:t>You show a family photo.</a:t>
            </a:r>
            <a:endParaRPr lang="en-US" sz="1370" dirty="0"/>
          </a:p>
          <a:p>
            <a:pPr indent="0" marL="0">
              <a:buNone/>
            </a:pPr>
            <a:r>
              <a:rPr lang="en-US" sz="1370" dirty="0">
                <a:solidFill>
                  <a:srgbClr val="1F2933"/>
                </a:solidFill>
                <a:latin typeface="Aptos" pitchFamily="34" charset="0"/>
                <a:ea typeface="Aptos" pitchFamily="34" charset="-122"/>
                <a:cs typeface="Aptos" pitchFamily="34" charset="-120"/>
              </a:rPr>
              <a:t>Say: This is my _____.</a:t>
            </a:r>
            <a:endParaRPr lang="en-US" sz="1370" dirty="0"/>
          </a:p>
        </p:txBody>
      </p:sp>
      <p:sp>
        <p:nvSpPr>
          <p:cNvPr id="8" name="Shape 6"/>
          <p:cNvSpPr/>
          <p:nvPr/>
        </p:nvSpPr>
        <p:spPr>
          <a:xfrm>
            <a:off x="6355080" y="1325880"/>
            <a:ext cx="5120640" cy="1554480"/>
          </a:xfrm>
          <a:prstGeom prst="roundRect">
            <a:avLst>
              <a:gd name="adj" fmla="val 7059"/>
            </a:avLst>
          </a:prstGeom>
          <a:solidFill>
            <a:srgbClr val="DFF8EF"/>
          </a:solidFill>
          <a:ln w="17780">
            <a:solidFill>
              <a:srgbClr val="00A7A7"/>
            </a:solidFill>
            <a:prstDash val="solid"/>
          </a:ln>
        </p:spPr>
      </p:sp>
      <p:sp>
        <p:nvSpPr>
          <p:cNvPr id="9" name="Text 7"/>
          <p:cNvSpPr/>
          <p:nvPr/>
        </p:nvSpPr>
        <p:spPr>
          <a:xfrm>
            <a:off x="6492240"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7040880" y="147218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Problem 2</a:t>
            </a:r>
            <a:endParaRPr lang="en-US" sz="1550" dirty="0"/>
          </a:p>
        </p:txBody>
      </p:sp>
      <p:sp>
        <p:nvSpPr>
          <p:cNvPr id="11" name="Text 9"/>
          <p:cNvSpPr/>
          <p:nvPr/>
        </p:nvSpPr>
        <p:spPr>
          <a:xfrm>
            <a:off x="6519672" y="1892808"/>
            <a:ext cx="4791456" cy="868680"/>
          </a:xfrm>
          <a:prstGeom prst="rect">
            <a:avLst/>
          </a:prstGeom>
          <a:noFill/>
          <a:ln/>
        </p:spPr>
        <p:txBody>
          <a:bodyPr wrap="square" lIns="0" tIns="0" rIns="0" bIns="0" rtlCol="0" anchor="t">
            <a:normAutofit/>
          </a:bodyPr>
          <a:lstStyle/>
          <a:p>
            <a:pPr indent="0" marL="0">
              <a:buNone/>
            </a:pPr>
            <a:r>
              <a:rPr lang="en-US" sz="1370" dirty="0">
                <a:solidFill>
                  <a:srgbClr val="1F2933"/>
                </a:solidFill>
                <a:latin typeface="Aptos" pitchFamily="34" charset="0"/>
                <a:ea typeface="Aptos" pitchFamily="34" charset="-122"/>
                <a:cs typeface="Aptos" pitchFamily="34" charset="-120"/>
              </a:rPr>
              <a:t>You do not know the person.</a:t>
            </a:r>
            <a:endParaRPr lang="en-US" sz="1370" dirty="0"/>
          </a:p>
          <a:p>
            <a:pPr indent="0" marL="0">
              <a:buNone/>
            </a:pPr>
            <a:r>
              <a:rPr lang="en-US" sz="1370" dirty="0">
                <a:solidFill>
                  <a:srgbClr val="1F2933"/>
                </a:solidFill>
                <a:latin typeface="Aptos" pitchFamily="34" charset="0"/>
                <a:ea typeface="Aptos" pitchFamily="34" charset="-122"/>
                <a:cs typeface="Aptos" pitchFamily="34" charset="-120"/>
              </a:rPr>
              <a:t>Ask: Who is he/she?</a:t>
            </a:r>
            <a:endParaRPr lang="en-US" sz="1370" dirty="0"/>
          </a:p>
        </p:txBody>
      </p:sp>
      <p:sp>
        <p:nvSpPr>
          <p:cNvPr id="12" name="Shape 10"/>
          <p:cNvSpPr/>
          <p:nvPr/>
        </p:nvSpPr>
        <p:spPr>
          <a:xfrm>
            <a:off x="713232" y="3337560"/>
            <a:ext cx="5120640" cy="1554480"/>
          </a:xfrm>
          <a:prstGeom prst="roundRect">
            <a:avLst>
              <a:gd name="adj" fmla="val 7059"/>
            </a:avLst>
          </a:prstGeom>
          <a:solidFill>
            <a:srgbClr val="DFF4FF"/>
          </a:solidFill>
          <a:ln w="17780">
            <a:solidFill>
              <a:srgbClr val="1C8DD8"/>
            </a:solidFill>
            <a:prstDash val="solid"/>
          </a:ln>
        </p:spPr>
      </p:sp>
      <p:sp>
        <p:nvSpPr>
          <p:cNvPr id="13" name="Text 11"/>
          <p:cNvSpPr/>
          <p:nvPr/>
        </p:nvSpPr>
        <p:spPr>
          <a:xfrm>
            <a:off x="850392" y="34472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1399032" y="348386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Problem 3</a:t>
            </a:r>
            <a:endParaRPr lang="en-US" sz="1550" dirty="0"/>
          </a:p>
        </p:txBody>
      </p:sp>
      <p:sp>
        <p:nvSpPr>
          <p:cNvPr id="15" name="Text 13"/>
          <p:cNvSpPr/>
          <p:nvPr/>
        </p:nvSpPr>
        <p:spPr>
          <a:xfrm>
            <a:off x="877824" y="3904488"/>
            <a:ext cx="4791456" cy="868680"/>
          </a:xfrm>
          <a:prstGeom prst="rect">
            <a:avLst/>
          </a:prstGeom>
          <a:noFill/>
          <a:ln/>
        </p:spPr>
        <p:txBody>
          <a:bodyPr wrap="square" lIns="0" tIns="0" rIns="0" bIns="0" rtlCol="0" anchor="t">
            <a:normAutofit/>
          </a:bodyPr>
          <a:lstStyle/>
          <a:p>
            <a:pPr indent="0" marL="0">
              <a:buNone/>
            </a:pPr>
            <a:r>
              <a:rPr lang="en-US" sz="1370" dirty="0">
                <a:solidFill>
                  <a:srgbClr val="1F2933"/>
                </a:solidFill>
                <a:latin typeface="Aptos" pitchFamily="34" charset="0"/>
                <a:ea typeface="Aptos" pitchFamily="34" charset="-122"/>
                <a:cs typeface="Aptos" pitchFamily="34" charset="-120"/>
              </a:rPr>
              <a:t>You describe a friend.</a:t>
            </a:r>
            <a:endParaRPr lang="en-US" sz="1370" dirty="0"/>
          </a:p>
          <a:p>
            <a:pPr indent="0" marL="0">
              <a:buNone/>
            </a:pPr>
            <a:r>
              <a:rPr lang="en-US" sz="1370" dirty="0">
                <a:solidFill>
                  <a:srgbClr val="1F2933"/>
                </a:solidFill>
                <a:latin typeface="Aptos" pitchFamily="34" charset="0"/>
                <a:ea typeface="Aptos" pitchFamily="34" charset="-122"/>
                <a:cs typeface="Aptos" pitchFamily="34" charset="-120"/>
              </a:rPr>
              <a:t>Say: He/She is _____.</a:t>
            </a:r>
            <a:endParaRPr lang="en-US" sz="1370" dirty="0"/>
          </a:p>
        </p:txBody>
      </p:sp>
      <p:sp>
        <p:nvSpPr>
          <p:cNvPr id="16" name="Shape 14"/>
          <p:cNvSpPr/>
          <p:nvPr/>
        </p:nvSpPr>
        <p:spPr>
          <a:xfrm>
            <a:off x="6355080" y="3337560"/>
            <a:ext cx="5120640" cy="1554480"/>
          </a:xfrm>
          <a:prstGeom prst="roundRect">
            <a:avLst>
              <a:gd name="adj" fmla="val 7059"/>
            </a:avLst>
          </a:prstGeom>
          <a:solidFill>
            <a:srgbClr val="DFF8EF"/>
          </a:solidFill>
          <a:ln w="17780">
            <a:solidFill>
              <a:srgbClr val="00A7A7"/>
            </a:solidFill>
            <a:prstDash val="solid"/>
          </a:ln>
        </p:spPr>
      </p:sp>
      <p:sp>
        <p:nvSpPr>
          <p:cNvPr id="17" name="Text 15"/>
          <p:cNvSpPr/>
          <p:nvPr/>
        </p:nvSpPr>
        <p:spPr>
          <a:xfrm>
            <a:off x="6492240" y="34472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7040880" y="348386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Problem 4</a:t>
            </a:r>
            <a:endParaRPr lang="en-US" sz="1550" dirty="0"/>
          </a:p>
        </p:txBody>
      </p:sp>
      <p:sp>
        <p:nvSpPr>
          <p:cNvPr id="19" name="Text 17"/>
          <p:cNvSpPr/>
          <p:nvPr/>
        </p:nvSpPr>
        <p:spPr>
          <a:xfrm>
            <a:off x="6519672" y="3904488"/>
            <a:ext cx="4791456" cy="868680"/>
          </a:xfrm>
          <a:prstGeom prst="rect">
            <a:avLst/>
          </a:prstGeom>
          <a:noFill/>
          <a:ln/>
        </p:spPr>
        <p:txBody>
          <a:bodyPr wrap="square" lIns="0" tIns="0" rIns="0" bIns="0" rtlCol="0" anchor="t">
            <a:normAutofit/>
          </a:bodyPr>
          <a:lstStyle/>
          <a:p>
            <a:pPr indent="0" marL="0">
              <a:buNone/>
            </a:pPr>
            <a:r>
              <a:rPr lang="en-US" sz="1370" dirty="0">
                <a:solidFill>
                  <a:srgbClr val="1F2933"/>
                </a:solidFill>
                <a:latin typeface="Aptos" pitchFamily="34" charset="0"/>
                <a:ea typeface="Aptos" pitchFamily="34" charset="-122"/>
                <a:cs typeface="Aptos" pitchFamily="34" charset="-120"/>
              </a:rPr>
              <a:t>You ask about likes.</a:t>
            </a:r>
            <a:endParaRPr lang="en-US" sz="1370" dirty="0"/>
          </a:p>
          <a:p>
            <a:pPr indent="0" marL="0">
              <a:buNone/>
            </a:pPr>
            <a:r>
              <a:rPr lang="en-US" sz="1370" dirty="0">
                <a:solidFill>
                  <a:srgbClr val="1F2933"/>
                </a:solidFill>
                <a:latin typeface="Aptos" pitchFamily="34" charset="0"/>
                <a:ea typeface="Aptos" pitchFamily="34" charset="-122"/>
                <a:cs typeface="Aptos" pitchFamily="34" charset="-120"/>
              </a:rPr>
              <a:t>Ask: What does he/she like?</a:t>
            </a:r>
            <a:endParaRPr lang="en-US" sz="1370" dirty="0"/>
          </a:p>
        </p:txBody>
      </p:sp>
      <p:sp>
        <p:nvSpPr>
          <p:cNvPr id="20" name="Text 18"/>
          <p:cNvSpPr/>
          <p:nvPr/>
        </p:nvSpPr>
        <p:spPr>
          <a:xfrm>
            <a:off x="1051560" y="5715000"/>
            <a:ext cx="10149840" cy="320040"/>
          </a:xfrm>
          <a:prstGeom prst="rect">
            <a:avLst/>
          </a:prstGeom>
          <a:noFill/>
          <a:ln/>
        </p:spPr>
        <p:txBody>
          <a:bodyPr wrap="square" lIns="0" tIns="0" rIns="0" bIns="0" rtlCol="0" anchor="ctr">
            <a:normAutofit/>
          </a:bodyPr>
          <a:lstStyle/>
          <a:p>
            <a:pPr algn="ctr" indent="0" marL="0">
              <a:buNone/>
            </a:pPr>
            <a:r>
              <a:rPr lang="en-US" sz="1550" b="1" dirty="0">
                <a:solidFill>
                  <a:srgbClr val="5E6B73"/>
                </a:solidFill>
                <a:latin typeface="Aptos" pitchFamily="34" charset="0"/>
                <a:ea typeface="Aptos" pitchFamily="34" charset="-122"/>
                <a:cs typeface="Aptos" pitchFamily="34" charset="-120"/>
              </a:rPr>
              <a:t>Performance rule: everyone speaks at least one line.</a:t>
            </a:r>
            <a:endParaRPr lang="en-US" sz="1550" dirty="0"/>
          </a:p>
        </p:txBody>
      </p:sp>
      <p:sp>
        <p:nvSpPr>
          <p:cNvPr id="21" name="Shape 19"/>
          <p:cNvSpPr/>
          <p:nvPr/>
        </p:nvSpPr>
        <p:spPr>
          <a:xfrm>
            <a:off x="0" y="6565392"/>
            <a:ext cx="12188952" cy="292608"/>
          </a:xfrm>
          <a:prstGeom prst="rect">
            <a:avLst/>
          </a:prstGeom>
          <a:solidFill>
            <a:srgbClr val="FFFFFF"/>
          </a:solidFill>
          <a:ln w="12700">
            <a:solidFill>
              <a:srgbClr val="C9E6F5"/>
            </a:solidFill>
            <a:prstDash val="solid"/>
          </a:ln>
        </p:spPr>
      </p:sp>
      <p:sp>
        <p:nvSpPr>
          <p:cNvPr id="22" name="Text 20"/>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3" name="Text 21"/>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Family Tree Talk</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ask and answer using a simple family tree.</a:t>
            </a:r>
            <a:endParaRPr lang="en-US" sz="1450" dirty="0"/>
          </a:p>
        </p:txBody>
      </p:sp>
      <p:sp>
        <p:nvSpPr>
          <p:cNvPr id="4" name="Shape 2"/>
          <p:cNvSpPr/>
          <p:nvPr/>
        </p:nvSpPr>
        <p:spPr>
          <a:xfrm>
            <a:off x="749808" y="1234440"/>
            <a:ext cx="4937760" cy="4069080"/>
          </a:xfrm>
          <a:prstGeom prst="roundRect">
            <a:avLst>
              <a:gd name="adj" fmla="val 2697"/>
            </a:avLst>
          </a:prstGeom>
          <a:solidFill>
            <a:srgbClr val="DFF4FF"/>
          </a:solidFill>
          <a:ln w="17780">
            <a:solidFill>
              <a:srgbClr val="1C8DD8"/>
            </a:solidFill>
            <a:prstDash val="solid"/>
          </a:ln>
        </p:spPr>
      </p:sp>
      <p:sp>
        <p:nvSpPr>
          <p:cNvPr id="5" name="Text 3"/>
          <p:cNvSpPr/>
          <p:nvPr/>
        </p:nvSpPr>
        <p:spPr>
          <a:xfrm>
            <a:off x="960120" y="1600200"/>
            <a:ext cx="4526280" cy="3154680"/>
          </a:xfrm>
          <a:prstGeom prst="rect">
            <a:avLst/>
          </a:prstGeom>
          <a:noFill/>
          <a:ln/>
        </p:spPr>
        <p:txBody>
          <a:bodyPr wrap="square" lIns="0" tIns="0" rIns="0" bIns="0" rtlCol="0" anchor="ctr">
            <a:normAutofit/>
          </a:bodyPr>
          <a:lstStyle/>
          <a:p>
            <a:pPr algn="ctr" indent="0" marL="0">
              <a:buNone/>
            </a:pPr>
            <a:r>
              <a:rPr lang="en-US" sz="2200" b="1" dirty="0">
                <a:solidFill>
                  <a:srgbClr val="173B57"/>
                </a:solidFill>
                <a:latin typeface="Aptos" pitchFamily="34" charset="0"/>
                <a:ea typeface="Aptos" pitchFamily="34" charset="-122"/>
                <a:cs typeface="Aptos" pitchFamily="34" charset="-120"/>
              </a:rPr>
              <a:t>👴 Grandpa     👵 Grandma</a:t>
            </a:r>
            <a:endParaRPr lang="en-US" sz="2200" dirty="0"/>
          </a:p>
          <a:p>
            <a:pPr algn="ctr" indent="0" marL="0">
              <a:buNone/>
            </a:pPr>
            <a:r>
              <a:rPr lang="en-US" sz="2200" b="1" dirty="0">
                <a:solidFill>
                  <a:srgbClr val="173B57"/>
                </a:solidFill>
                <a:latin typeface="Aptos" pitchFamily="34" charset="0"/>
                <a:ea typeface="Aptos" pitchFamily="34" charset="-122"/>
                <a:cs typeface="Aptos" pitchFamily="34" charset="-120"/>
              </a:rPr>
              <a:t>        │</a:t>
            </a:r>
            <a:endParaRPr lang="en-US" sz="2200" dirty="0"/>
          </a:p>
          <a:p>
            <a:pPr algn="ctr" indent="0" marL="0">
              <a:buNone/>
            </a:pPr>
            <a:r>
              <a:rPr lang="en-US" sz="2200" b="1" dirty="0">
                <a:solidFill>
                  <a:srgbClr val="173B57"/>
                </a:solidFill>
                <a:latin typeface="Aptos" pitchFamily="34" charset="0"/>
                <a:ea typeface="Aptos" pitchFamily="34" charset="-122"/>
                <a:cs typeface="Aptos" pitchFamily="34" charset="-120"/>
              </a:rPr>
              <a:t>👨 Father  +  👩 Mother</a:t>
            </a:r>
            <a:endParaRPr lang="en-US" sz="2200" dirty="0"/>
          </a:p>
          <a:p>
            <a:pPr algn="ctr" indent="0" marL="0">
              <a:buNone/>
            </a:pPr>
            <a:r>
              <a:rPr lang="en-US" sz="2200" b="1" dirty="0">
                <a:solidFill>
                  <a:srgbClr val="173B57"/>
                </a:solidFill>
                <a:latin typeface="Aptos" pitchFamily="34" charset="0"/>
                <a:ea typeface="Aptos" pitchFamily="34" charset="-122"/>
                <a:cs typeface="Aptos" pitchFamily="34" charset="-120"/>
              </a:rPr>
              <a:t>        │</a:t>
            </a:r>
            <a:endParaRPr lang="en-US" sz="2200" dirty="0"/>
          </a:p>
          <a:p>
            <a:pPr algn="ctr" indent="0" marL="0">
              <a:buNone/>
            </a:pPr>
            <a:r>
              <a:rPr lang="en-US" sz="2200" b="1" dirty="0">
                <a:solidFill>
                  <a:srgbClr val="173B57"/>
                </a:solidFill>
                <a:latin typeface="Aptos" pitchFamily="34" charset="0"/>
                <a:ea typeface="Aptos" pitchFamily="34" charset="-122"/>
                <a:cs typeface="Aptos" pitchFamily="34" charset="-120"/>
              </a:rPr>
              <a:t>👦 Me        👧 Sister</a:t>
            </a:r>
            <a:endParaRPr lang="en-US" sz="2200" dirty="0"/>
          </a:p>
        </p:txBody>
      </p:sp>
      <p:sp>
        <p:nvSpPr>
          <p:cNvPr id="6" name="Shape 4"/>
          <p:cNvSpPr/>
          <p:nvPr/>
        </p:nvSpPr>
        <p:spPr>
          <a:xfrm>
            <a:off x="6080760" y="1234440"/>
            <a:ext cx="5394960" cy="4069080"/>
          </a:xfrm>
          <a:prstGeom prst="roundRect">
            <a:avLst>
              <a:gd name="adj" fmla="val 2697"/>
            </a:avLst>
          </a:prstGeom>
          <a:solidFill>
            <a:srgbClr val="DFF8EF"/>
          </a:solidFill>
          <a:ln w="17780">
            <a:solidFill>
              <a:srgbClr val="00A7A7"/>
            </a:solidFill>
            <a:prstDash val="solid"/>
          </a:ln>
        </p:spPr>
      </p:sp>
      <p:sp>
        <p:nvSpPr>
          <p:cNvPr id="7" name="Text 5"/>
          <p:cNvSpPr/>
          <p:nvPr/>
        </p:nvSpPr>
        <p:spPr>
          <a:xfrm>
            <a:off x="6355080" y="1645920"/>
            <a:ext cx="4846320" cy="3017520"/>
          </a:xfrm>
          <a:prstGeom prst="rect">
            <a:avLst/>
          </a:prstGeom>
          <a:noFill/>
          <a:ln/>
        </p:spPr>
        <p:txBody>
          <a:bodyPr wrap="square" lIns="0" tIns="0" rIns="0" bIns="0" rtlCol="0" anchor="ctr">
            <a:normAutofit/>
          </a:bodyPr>
          <a:lstStyle/>
          <a:p>
            <a:pPr indent="0" marL="0">
              <a:buNone/>
            </a:pPr>
            <a:r>
              <a:rPr lang="en-US" sz="2100" b="1" dirty="0">
                <a:solidFill>
                  <a:srgbClr val="1F2933"/>
                </a:solidFill>
                <a:latin typeface="Aptos" pitchFamily="34" charset="0"/>
                <a:ea typeface="Aptos" pitchFamily="34" charset="-122"/>
                <a:cs typeface="Aptos" pitchFamily="34" charset="-120"/>
              </a:rPr>
              <a:t>A: Who is she?</a:t>
            </a:r>
            <a:endParaRPr lang="en-US" sz="2100" dirty="0"/>
          </a:p>
          <a:p>
            <a:pPr indent="0" marL="0">
              <a:buNone/>
            </a:pPr>
            <a:r>
              <a:rPr lang="en-US" sz="2100" b="1" dirty="0">
                <a:solidFill>
                  <a:srgbClr val="1F2933"/>
                </a:solidFill>
                <a:latin typeface="Aptos" pitchFamily="34" charset="0"/>
                <a:ea typeface="Aptos" pitchFamily="34" charset="-122"/>
                <a:cs typeface="Aptos" pitchFamily="34" charset="-120"/>
              </a:rPr>
              <a:t>B: She is my sister.</a:t>
            </a:r>
            <a:endParaRPr lang="en-US" sz="2100" dirty="0"/>
          </a:p>
          <a:p>
            <a:pPr indent="0" marL="0">
              <a:buNone/>
            </a:pPr>
            <a:r>
              <a:rPr lang="en-US" sz="2100" b="1" dirty="0">
                <a:solidFill>
                  <a:srgbClr val="1F2933"/>
                </a:solidFill>
                <a:latin typeface="Aptos" pitchFamily="34" charset="0"/>
                <a:ea typeface="Aptos" pitchFamily="34" charset="-122"/>
                <a:cs typeface="Aptos" pitchFamily="34" charset="-120"/>
              </a:rPr>
              <a:t>A: What is she like?</a:t>
            </a:r>
            <a:endParaRPr lang="en-US" sz="2100" dirty="0"/>
          </a:p>
          <a:p>
            <a:pPr indent="0" marL="0">
              <a:buNone/>
            </a:pPr>
            <a:r>
              <a:rPr lang="en-US" sz="2100" b="1" dirty="0">
                <a:solidFill>
                  <a:srgbClr val="1F2933"/>
                </a:solidFill>
                <a:latin typeface="Aptos" pitchFamily="34" charset="0"/>
                <a:ea typeface="Aptos" pitchFamily="34" charset="-122"/>
                <a:cs typeface="Aptos" pitchFamily="34" charset="-120"/>
              </a:rPr>
              <a:t>B: She is funny.</a:t>
            </a:r>
            <a:endParaRPr lang="en-US" sz="2100" dirty="0"/>
          </a:p>
          <a:p>
            <a:pPr indent="0" marL="0">
              <a:buNone/>
            </a:pPr>
            <a:r>
              <a:rPr lang="en-US" sz="2100" b="1" dirty="0">
                <a:solidFill>
                  <a:srgbClr val="1F2933"/>
                </a:solidFill>
                <a:latin typeface="Aptos" pitchFamily="34" charset="0"/>
                <a:ea typeface="Aptos" pitchFamily="34" charset="-122"/>
                <a:cs typeface="Aptos" pitchFamily="34" charset="-120"/>
              </a:rPr>
              <a:t>A: What does she like?</a:t>
            </a:r>
            <a:endParaRPr lang="en-US" sz="2100" dirty="0"/>
          </a:p>
          <a:p>
            <a:pPr indent="0" marL="0">
              <a:buNone/>
            </a:pPr>
            <a:r>
              <a:rPr lang="en-US" sz="2100" b="1" dirty="0">
                <a:solidFill>
                  <a:srgbClr val="1F2933"/>
                </a:solidFill>
                <a:latin typeface="Aptos" pitchFamily="34" charset="0"/>
                <a:ea typeface="Aptos" pitchFamily="34" charset="-122"/>
                <a:cs typeface="Aptos" pitchFamily="34" charset="-120"/>
              </a:rPr>
              <a:t>B: She likes music.</a:t>
            </a:r>
            <a:endParaRPr lang="en-US" sz="2100" dirty="0"/>
          </a:p>
        </p:txBody>
      </p:sp>
      <p:sp>
        <p:nvSpPr>
          <p:cNvPr id="8" name="Text 6"/>
          <p:cNvSpPr/>
          <p:nvPr/>
        </p:nvSpPr>
        <p:spPr>
          <a:xfrm>
            <a:off x="1097280" y="5669280"/>
            <a:ext cx="9966960" cy="411480"/>
          </a:xfrm>
          <a:prstGeom prst="rect">
            <a:avLst/>
          </a:prstGeom>
          <a:noFill/>
          <a:ln/>
        </p:spPr>
        <p:txBody>
          <a:bodyPr wrap="square" lIns="0" tIns="0" rIns="0" bIns="0" rtlCol="0" anchor="ctr">
            <a:normAutofit/>
          </a:bodyPr>
          <a:lstStyle/>
          <a:p>
            <a:pPr algn="ctr" indent="0" marL="0">
              <a:buNone/>
            </a:pPr>
            <a:r>
              <a:rPr lang="en-US" sz="1800" b="1" dirty="0">
                <a:solidFill>
                  <a:srgbClr val="EF476F"/>
                </a:solidFill>
                <a:latin typeface="Aptos" pitchFamily="34" charset="0"/>
                <a:ea typeface="Aptos" pitchFamily="34" charset="-122"/>
                <a:cs typeface="Aptos" pitchFamily="34" charset="-120"/>
              </a:rPr>
              <a:t>Pair task: Ask about 3 people in the tree.</a:t>
            </a:r>
            <a:endParaRPr lang="en-US" sz="1800" dirty="0"/>
          </a:p>
        </p:txBody>
      </p:sp>
      <p:sp>
        <p:nvSpPr>
          <p:cNvPr id="9" name="Shape 7"/>
          <p:cNvSpPr/>
          <p:nvPr/>
        </p:nvSpPr>
        <p:spPr>
          <a:xfrm>
            <a:off x="0" y="6565392"/>
            <a:ext cx="12188952" cy="292608"/>
          </a:xfrm>
          <a:prstGeom prst="rect">
            <a:avLst/>
          </a:prstGeom>
          <a:solidFill>
            <a:srgbClr val="FFFFFF"/>
          </a:solidFill>
          <a:ln w="12700">
            <a:solidFill>
              <a:srgbClr val="C9E6F5"/>
            </a:solidFill>
            <a:prstDash val="solid"/>
          </a:ln>
        </p:spPr>
      </p:sp>
      <p:sp>
        <p:nvSpPr>
          <p:cNvPr id="10" name="Text 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11" name="Text 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Mingle: Ask 3 Friends</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move, ask, answer, and remember one fact.</a:t>
            </a:r>
            <a:endParaRPr lang="en-US" sz="1450" dirty="0"/>
          </a:p>
        </p:txBody>
      </p:sp>
      <p:sp>
        <p:nvSpPr>
          <p:cNvPr id="4" name="Shape 2"/>
          <p:cNvSpPr/>
          <p:nvPr/>
        </p:nvSpPr>
        <p:spPr>
          <a:xfrm>
            <a:off x="685800" y="1280160"/>
            <a:ext cx="3401568" cy="1371600"/>
          </a:xfrm>
          <a:prstGeom prst="roundRect">
            <a:avLst>
              <a:gd name="adj" fmla="val 8000"/>
            </a:avLst>
          </a:prstGeom>
          <a:solidFill>
            <a:srgbClr val="DFF4FF"/>
          </a:solidFill>
          <a:ln w="17780">
            <a:solidFill>
              <a:srgbClr val="1C8DD8"/>
            </a:solidFill>
            <a:prstDash val="solid"/>
          </a:ln>
        </p:spPr>
      </p:sp>
      <p:sp>
        <p:nvSpPr>
          <p:cNvPr id="5" name="Text 3"/>
          <p:cNvSpPr/>
          <p:nvPr/>
        </p:nvSpPr>
        <p:spPr>
          <a:xfrm>
            <a:off x="822960" y="13898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71600" y="142646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Name</a:t>
            </a:r>
            <a:endParaRPr lang="en-US" sz="1550" dirty="0"/>
          </a:p>
        </p:txBody>
      </p:sp>
      <p:sp>
        <p:nvSpPr>
          <p:cNvPr id="7" name="Text 5"/>
          <p:cNvSpPr/>
          <p:nvPr/>
        </p:nvSpPr>
        <p:spPr>
          <a:xfrm>
            <a:off x="850392" y="1847088"/>
            <a:ext cx="3072384" cy="685800"/>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What’s your name?</a:t>
            </a:r>
            <a:endParaRPr lang="en-US" sz="1280" dirty="0"/>
          </a:p>
        </p:txBody>
      </p:sp>
      <p:sp>
        <p:nvSpPr>
          <p:cNvPr id="8" name="Shape 6"/>
          <p:cNvSpPr/>
          <p:nvPr/>
        </p:nvSpPr>
        <p:spPr>
          <a:xfrm>
            <a:off x="4480560" y="1280160"/>
            <a:ext cx="3401568" cy="1371600"/>
          </a:xfrm>
          <a:prstGeom prst="roundRect">
            <a:avLst>
              <a:gd name="adj" fmla="val 8000"/>
            </a:avLst>
          </a:prstGeom>
          <a:solidFill>
            <a:srgbClr val="FFF4CC"/>
          </a:solidFill>
          <a:ln w="17780">
            <a:solidFill>
              <a:srgbClr val="FFD166"/>
            </a:solidFill>
            <a:prstDash val="solid"/>
          </a:ln>
        </p:spPr>
      </p:sp>
      <p:sp>
        <p:nvSpPr>
          <p:cNvPr id="9" name="Text 7"/>
          <p:cNvSpPr/>
          <p:nvPr/>
        </p:nvSpPr>
        <p:spPr>
          <a:xfrm>
            <a:off x="4617720" y="13898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5166360" y="142646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Friend</a:t>
            </a:r>
            <a:endParaRPr lang="en-US" sz="1550" dirty="0"/>
          </a:p>
        </p:txBody>
      </p:sp>
      <p:sp>
        <p:nvSpPr>
          <p:cNvPr id="11" name="Text 9"/>
          <p:cNvSpPr/>
          <p:nvPr/>
        </p:nvSpPr>
        <p:spPr>
          <a:xfrm>
            <a:off x="4645152" y="1847088"/>
            <a:ext cx="3072384" cy="685800"/>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Who is your friend?</a:t>
            </a:r>
            <a:endParaRPr lang="en-US" sz="1280" dirty="0"/>
          </a:p>
        </p:txBody>
      </p:sp>
      <p:sp>
        <p:nvSpPr>
          <p:cNvPr id="12" name="Shape 10"/>
          <p:cNvSpPr/>
          <p:nvPr/>
        </p:nvSpPr>
        <p:spPr>
          <a:xfrm>
            <a:off x="8275320" y="1280160"/>
            <a:ext cx="3401568" cy="1371600"/>
          </a:xfrm>
          <a:prstGeom prst="roundRect">
            <a:avLst>
              <a:gd name="adj" fmla="val 8000"/>
            </a:avLst>
          </a:prstGeom>
          <a:solidFill>
            <a:srgbClr val="DFF8EF"/>
          </a:solidFill>
          <a:ln w="17780">
            <a:solidFill>
              <a:srgbClr val="00A7A7"/>
            </a:solidFill>
            <a:prstDash val="solid"/>
          </a:ln>
        </p:spPr>
      </p:sp>
      <p:sp>
        <p:nvSpPr>
          <p:cNvPr id="13" name="Text 11"/>
          <p:cNvSpPr/>
          <p:nvPr/>
        </p:nvSpPr>
        <p:spPr>
          <a:xfrm>
            <a:off x="8412480" y="13898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8961120" y="142646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Family</a:t>
            </a:r>
            <a:endParaRPr lang="en-US" sz="1550" dirty="0"/>
          </a:p>
        </p:txBody>
      </p:sp>
      <p:sp>
        <p:nvSpPr>
          <p:cNvPr id="15" name="Text 13"/>
          <p:cNvSpPr/>
          <p:nvPr/>
        </p:nvSpPr>
        <p:spPr>
          <a:xfrm>
            <a:off x="8439912" y="1847088"/>
            <a:ext cx="3072384" cy="685800"/>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Who is in your family?</a:t>
            </a:r>
            <a:endParaRPr lang="en-US" sz="1280" dirty="0"/>
          </a:p>
        </p:txBody>
      </p:sp>
      <p:sp>
        <p:nvSpPr>
          <p:cNvPr id="16" name="Shape 14"/>
          <p:cNvSpPr/>
          <p:nvPr/>
        </p:nvSpPr>
        <p:spPr>
          <a:xfrm>
            <a:off x="685800" y="3154680"/>
            <a:ext cx="3401568" cy="1371600"/>
          </a:xfrm>
          <a:prstGeom prst="roundRect">
            <a:avLst>
              <a:gd name="adj" fmla="val 8000"/>
            </a:avLst>
          </a:prstGeom>
          <a:solidFill>
            <a:srgbClr val="DFF4FF"/>
          </a:solidFill>
          <a:ln w="17780">
            <a:solidFill>
              <a:srgbClr val="1C8DD8"/>
            </a:solidFill>
            <a:prstDash val="solid"/>
          </a:ln>
        </p:spPr>
      </p:sp>
      <p:sp>
        <p:nvSpPr>
          <p:cNvPr id="17" name="Text 15"/>
          <p:cNvSpPr/>
          <p:nvPr/>
        </p:nvSpPr>
        <p:spPr>
          <a:xfrm>
            <a:off x="822960" y="32644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1371600" y="330098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Describe</a:t>
            </a:r>
            <a:endParaRPr lang="en-US" sz="1550" dirty="0"/>
          </a:p>
        </p:txBody>
      </p:sp>
      <p:sp>
        <p:nvSpPr>
          <p:cNvPr id="19" name="Text 17"/>
          <p:cNvSpPr/>
          <p:nvPr/>
        </p:nvSpPr>
        <p:spPr>
          <a:xfrm>
            <a:off x="850392" y="3721608"/>
            <a:ext cx="3072384" cy="685800"/>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What is he/she like?</a:t>
            </a:r>
            <a:endParaRPr lang="en-US" sz="1280" dirty="0"/>
          </a:p>
        </p:txBody>
      </p:sp>
      <p:sp>
        <p:nvSpPr>
          <p:cNvPr id="20" name="Shape 18"/>
          <p:cNvSpPr/>
          <p:nvPr/>
        </p:nvSpPr>
        <p:spPr>
          <a:xfrm>
            <a:off x="4480560" y="3154680"/>
            <a:ext cx="3401568" cy="1371600"/>
          </a:xfrm>
          <a:prstGeom prst="roundRect">
            <a:avLst>
              <a:gd name="adj" fmla="val 8000"/>
            </a:avLst>
          </a:prstGeom>
          <a:solidFill>
            <a:srgbClr val="FFF4CC"/>
          </a:solidFill>
          <a:ln w="17780">
            <a:solidFill>
              <a:srgbClr val="FFD166"/>
            </a:solidFill>
            <a:prstDash val="solid"/>
          </a:ln>
        </p:spPr>
      </p:sp>
      <p:sp>
        <p:nvSpPr>
          <p:cNvPr id="21" name="Text 19"/>
          <p:cNvSpPr/>
          <p:nvPr/>
        </p:nvSpPr>
        <p:spPr>
          <a:xfrm>
            <a:off x="4617720" y="32644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2" name="Text 20"/>
          <p:cNvSpPr/>
          <p:nvPr/>
        </p:nvSpPr>
        <p:spPr>
          <a:xfrm>
            <a:off x="5166360" y="330098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Likes</a:t>
            </a:r>
            <a:endParaRPr lang="en-US" sz="1550" dirty="0"/>
          </a:p>
        </p:txBody>
      </p:sp>
      <p:sp>
        <p:nvSpPr>
          <p:cNvPr id="23" name="Text 21"/>
          <p:cNvSpPr/>
          <p:nvPr/>
        </p:nvSpPr>
        <p:spPr>
          <a:xfrm>
            <a:off x="4645152" y="3721608"/>
            <a:ext cx="3072384" cy="685800"/>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What does he/she like?</a:t>
            </a:r>
            <a:endParaRPr lang="en-US" sz="1280" dirty="0"/>
          </a:p>
        </p:txBody>
      </p:sp>
      <p:sp>
        <p:nvSpPr>
          <p:cNvPr id="24" name="Shape 22"/>
          <p:cNvSpPr/>
          <p:nvPr/>
        </p:nvSpPr>
        <p:spPr>
          <a:xfrm>
            <a:off x="8275320" y="3154680"/>
            <a:ext cx="3401568" cy="1371600"/>
          </a:xfrm>
          <a:prstGeom prst="roundRect">
            <a:avLst>
              <a:gd name="adj" fmla="val 8000"/>
            </a:avLst>
          </a:prstGeom>
          <a:solidFill>
            <a:srgbClr val="DFF8EF"/>
          </a:solidFill>
          <a:ln w="17780">
            <a:solidFill>
              <a:srgbClr val="00A7A7"/>
            </a:solidFill>
            <a:prstDash val="solid"/>
          </a:ln>
        </p:spPr>
      </p:sp>
      <p:sp>
        <p:nvSpPr>
          <p:cNvPr id="25" name="Text 23"/>
          <p:cNvSpPr/>
          <p:nvPr/>
        </p:nvSpPr>
        <p:spPr>
          <a:xfrm>
            <a:off x="8412480" y="32644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6" name="Text 24"/>
          <p:cNvSpPr/>
          <p:nvPr/>
        </p:nvSpPr>
        <p:spPr>
          <a:xfrm>
            <a:off x="8961120" y="330098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Activity</a:t>
            </a:r>
            <a:endParaRPr lang="en-US" sz="1550" dirty="0"/>
          </a:p>
        </p:txBody>
      </p:sp>
      <p:sp>
        <p:nvSpPr>
          <p:cNvPr id="27" name="Text 25"/>
          <p:cNvSpPr/>
          <p:nvPr/>
        </p:nvSpPr>
        <p:spPr>
          <a:xfrm>
            <a:off x="8439912" y="3721608"/>
            <a:ext cx="3072384" cy="685800"/>
          </a:xfrm>
          <a:prstGeom prst="rect">
            <a:avLst/>
          </a:prstGeom>
          <a:noFill/>
          <a:ln/>
        </p:spPr>
        <p:txBody>
          <a:bodyPr wrap="square" lIns="0" tIns="0" rIns="0" bIns="0" rtlCol="0" anchor="t">
            <a:normAutofit/>
          </a:bodyPr>
          <a:lstStyle/>
          <a:p>
            <a:pPr indent="0" marL="0">
              <a:buNone/>
            </a:pPr>
            <a:r>
              <a:rPr lang="en-US" sz="1280" dirty="0">
                <a:solidFill>
                  <a:srgbClr val="1F2933"/>
                </a:solidFill>
                <a:latin typeface="Aptos" pitchFamily="34" charset="0"/>
                <a:ea typeface="Aptos" pitchFamily="34" charset="-122"/>
                <a:cs typeface="Aptos" pitchFamily="34" charset="-120"/>
              </a:rPr>
              <a:t>What do you do together?</a:t>
            </a:r>
            <a:endParaRPr lang="en-US" sz="1280" dirty="0"/>
          </a:p>
        </p:txBody>
      </p:sp>
      <p:sp>
        <p:nvSpPr>
          <p:cNvPr id="28" name="Text 26"/>
          <p:cNvSpPr/>
          <p:nvPr/>
        </p:nvSpPr>
        <p:spPr>
          <a:xfrm>
            <a:off x="1051560" y="5715000"/>
            <a:ext cx="10149840" cy="320040"/>
          </a:xfrm>
          <a:prstGeom prst="rect">
            <a:avLst/>
          </a:prstGeom>
          <a:noFill/>
          <a:ln/>
        </p:spPr>
        <p:txBody>
          <a:bodyPr wrap="square" lIns="0" tIns="0" rIns="0" bIns="0" rtlCol="0" anchor="ctr">
            <a:normAutofit/>
          </a:bodyPr>
          <a:lstStyle/>
          <a:p>
            <a:pPr algn="ctr" indent="0" marL="0">
              <a:buNone/>
            </a:pPr>
            <a:r>
              <a:rPr lang="en-US" sz="1550" b="1" dirty="0">
                <a:solidFill>
                  <a:srgbClr val="5E6B73"/>
                </a:solidFill>
                <a:latin typeface="Aptos" pitchFamily="34" charset="0"/>
                <a:ea typeface="Aptos" pitchFamily="34" charset="-122"/>
                <a:cs typeface="Aptos" pitchFamily="34" charset="-120"/>
              </a:rPr>
              <a:t>Rule: Ask → Listen → Say “Nice!” → Move.</a:t>
            </a:r>
            <a:endParaRPr lang="en-US" sz="1550" dirty="0"/>
          </a:p>
        </p:txBody>
      </p:sp>
      <p:sp>
        <p:nvSpPr>
          <p:cNvPr id="29" name="Shape 27"/>
          <p:cNvSpPr/>
          <p:nvPr/>
        </p:nvSpPr>
        <p:spPr>
          <a:xfrm>
            <a:off x="0" y="6565392"/>
            <a:ext cx="12188952" cy="292608"/>
          </a:xfrm>
          <a:prstGeom prst="rect">
            <a:avLst/>
          </a:prstGeom>
          <a:solidFill>
            <a:srgbClr val="FFFFFF"/>
          </a:solidFill>
          <a:ln w="12700">
            <a:solidFill>
              <a:srgbClr val="C9E6F5"/>
            </a:solidFill>
            <a:prstDash val="solid"/>
          </a:ln>
        </p:spPr>
      </p:sp>
      <p:sp>
        <p:nvSpPr>
          <p:cNvPr id="30" name="Text 2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1" name="Text 2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Listening 2: My Best Friend</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listen for personal information and describing words.</a:t>
            </a:r>
            <a:endParaRPr lang="en-US" sz="1450" dirty="0"/>
          </a:p>
        </p:txBody>
      </p:sp>
      <p:sp>
        <p:nvSpPr>
          <p:cNvPr id="4" name="Text 2"/>
          <p:cNvSpPr/>
          <p:nvPr/>
        </p:nvSpPr>
        <p:spPr>
          <a:xfrm>
            <a:off x="868680" y="1325880"/>
            <a:ext cx="10515600" cy="365760"/>
          </a:xfrm>
          <a:prstGeom prst="rect">
            <a:avLst/>
          </a:prstGeom>
          <a:noFill/>
          <a:ln/>
        </p:spPr>
        <p:txBody>
          <a:bodyPr wrap="square" lIns="0" tIns="0" rIns="0" bIns="0" rtlCol="0" anchor="ctr">
            <a:normAutofit/>
          </a:bodyPr>
          <a:lstStyle/>
          <a:p>
            <a:pPr algn="ctr" indent="0" marL="0">
              <a:buNone/>
            </a:pPr>
            <a:r>
              <a:rPr lang="en-US" sz="1700" b="1" dirty="0">
                <a:solidFill>
                  <a:srgbClr val="173B57"/>
                </a:solidFill>
                <a:latin typeface="Aptos" pitchFamily="34" charset="0"/>
                <a:ea typeface="Aptos" pitchFamily="34" charset="-122"/>
                <a:cs typeface="Aptos" pitchFamily="34" charset="-120"/>
              </a:rPr>
              <a:t>Listen and write: name, relationship, one description, and one favorite thing.</a:t>
            </a:r>
            <a:endParaRPr lang="en-US" sz="1700" dirty="0"/>
          </a:p>
        </p:txBody>
      </p:sp>
      <p:sp>
        <p:nvSpPr>
          <p:cNvPr id="5" name="Shape 3"/>
          <p:cNvSpPr/>
          <p:nvPr/>
        </p:nvSpPr>
        <p:spPr>
          <a:xfrm>
            <a:off x="777240" y="1965960"/>
            <a:ext cx="2468880" cy="685800"/>
          </a:xfrm>
          <a:prstGeom prst="roundRect">
            <a:avLst>
              <a:gd name="adj" fmla="val 16000"/>
            </a:avLst>
          </a:prstGeom>
          <a:solidFill>
            <a:srgbClr val="173B57"/>
          </a:solidFill>
          <a:ln w="17780">
            <a:solidFill>
              <a:srgbClr val="173B57"/>
            </a:solidFill>
            <a:prstDash val="solid"/>
          </a:ln>
        </p:spPr>
      </p:sp>
      <p:sp>
        <p:nvSpPr>
          <p:cNvPr id="6" name="Text 4"/>
          <p:cNvSpPr/>
          <p:nvPr/>
        </p:nvSpPr>
        <p:spPr>
          <a:xfrm>
            <a:off x="914400" y="2084832"/>
            <a:ext cx="2194560" cy="4846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Name</a:t>
            </a:r>
            <a:endParaRPr lang="en-US" sz="1400" dirty="0"/>
          </a:p>
        </p:txBody>
      </p:sp>
      <p:sp>
        <p:nvSpPr>
          <p:cNvPr id="7" name="Shape 5"/>
          <p:cNvSpPr/>
          <p:nvPr/>
        </p:nvSpPr>
        <p:spPr>
          <a:xfrm>
            <a:off x="3611880" y="1965960"/>
            <a:ext cx="2468880" cy="685800"/>
          </a:xfrm>
          <a:prstGeom prst="roundRect">
            <a:avLst>
              <a:gd name="adj" fmla="val 16000"/>
            </a:avLst>
          </a:prstGeom>
          <a:solidFill>
            <a:srgbClr val="173B57"/>
          </a:solidFill>
          <a:ln w="17780">
            <a:solidFill>
              <a:srgbClr val="173B57"/>
            </a:solidFill>
            <a:prstDash val="solid"/>
          </a:ln>
        </p:spPr>
      </p:sp>
      <p:sp>
        <p:nvSpPr>
          <p:cNvPr id="8" name="Text 6"/>
          <p:cNvSpPr/>
          <p:nvPr/>
        </p:nvSpPr>
        <p:spPr>
          <a:xfrm>
            <a:off x="3749040" y="2084832"/>
            <a:ext cx="2194560" cy="4846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Relationship</a:t>
            </a:r>
            <a:endParaRPr lang="en-US" sz="1400" dirty="0"/>
          </a:p>
        </p:txBody>
      </p:sp>
      <p:sp>
        <p:nvSpPr>
          <p:cNvPr id="9" name="Shape 7"/>
          <p:cNvSpPr/>
          <p:nvPr/>
        </p:nvSpPr>
        <p:spPr>
          <a:xfrm>
            <a:off x="6446520" y="1965960"/>
            <a:ext cx="2468880" cy="685800"/>
          </a:xfrm>
          <a:prstGeom prst="roundRect">
            <a:avLst>
              <a:gd name="adj" fmla="val 16000"/>
            </a:avLst>
          </a:prstGeom>
          <a:solidFill>
            <a:srgbClr val="173B57"/>
          </a:solidFill>
          <a:ln w="17780">
            <a:solidFill>
              <a:srgbClr val="173B57"/>
            </a:solidFill>
            <a:prstDash val="solid"/>
          </a:ln>
        </p:spPr>
      </p:sp>
      <p:sp>
        <p:nvSpPr>
          <p:cNvPr id="10" name="Text 8"/>
          <p:cNvSpPr/>
          <p:nvPr/>
        </p:nvSpPr>
        <p:spPr>
          <a:xfrm>
            <a:off x="6583680" y="2084832"/>
            <a:ext cx="2194560" cy="4846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Description</a:t>
            </a:r>
            <a:endParaRPr lang="en-US" sz="1400" dirty="0"/>
          </a:p>
        </p:txBody>
      </p:sp>
      <p:sp>
        <p:nvSpPr>
          <p:cNvPr id="11" name="Shape 9"/>
          <p:cNvSpPr/>
          <p:nvPr/>
        </p:nvSpPr>
        <p:spPr>
          <a:xfrm>
            <a:off x="9281160" y="1965960"/>
            <a:ext cx="2468880" cy="685800"/>
          </a:xfrm>
          <a:prstGeom prst="roundRect">
            <a:avLst>
              <a:gd name="adj" fmla="val 16000"/>
            </a:avLst>
          </a:prstGeom>
          <a:solidFill>
            <a:srgbClr val="173B57"/>
          </a:solidFill>
          <a:ln w="17780">
            <a:solidFill>
              <a:srgbClr val="173B57"/>
            </a:solidFill>
            <a:prstDash val="solid"/>
          </a:ln>
        </p:spPr>
      </p:sp>
      <p:sp>
        <p:nvSpPr>
          <p:cNvPr id="12" name="Text 10"/>
          <p:cNvSpPr/>
          <p:nvPr/>
        </p:nvSpPr>
        <p:spPr>
          <a:xfrm>
            <a:off x="9418320" y="2084832"/>
            <a:ext cx="2194560" cy="4846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Favorite thing</a:t>
            </a:r>
            <a:endParaRPr lang="en-US" sz="1400" dirty="0"/>
          </a:p>
        </p:txBody>
      </p:sp>
      <p:sp>
        <p:nvSpPr>
          <p:cNvPr id="13" name="Shape 11"/>
          <p:cNvSpPr/>
          <p:nvPr/>
        </p:nvSpPr>
        <p:spPr>
          <a:xfrm>
            <a:off x="777240" y="2743200"/>
            <a:ext cx="2468880" cy="658368"/>
          </a:xfrm>
          <a:prstGeom prst="roundRect">
            <a:avLst>
              <a:gd name="adj" fmla="val 16667"/>
            </a:avLst>
          </a:prstGeom>
          <a:solidFill>
            <a:srgbClr val="DFF4FF"/>
          </a:solidFill>
          <a:ln w="17780">
            <a:solidFill>
              <a:srgbClr val="1C8DD8"/>
            </a:solidFill>
            <a:prstDash val="solid"/>
          </a:ln>
        </p:spPr>
      </p:sp>
      <p:sp>
        <p:nvSpPr>
          <p:cNvPr id="14" name="Text 12"/>
          <p:cNvSpPr/>
          <p:nvPr/>
        </p:nvSpPr>
        <p:spPr>
          <a:xfrm>
            <a:off x="914400" y="286207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15" name="Shape 13"/>
          <p:cNvSpPr/>
          <p:nvPr/>
        </p:nvSpPr>
        <p:spPr>
          <a:xfrm>
            <a:off x="3611880" y="2743200"/>
            <a:ext cx="2468880" cy="658368"/>
          </a:xfrm>
          <a:prstGeom prst="roundRect">
            <a:avLst>
              <a:gd name="adj" fmla="val 16667"/>
            </a:avLst>
          </a:prstGeom>
          <a:solidFill>
            <a:srgbClr val="DFF4FF"/>
          </a:solidFill>
          <a:ln w="17780">
            <a:solidFill>
              <a:srgbClr val="1C8DD8"/>
            </a:solidFill>
            <a:prstDash val="solid"/>
          </a:ln>
        </p:spPr>
      </p:sp>
      <p:sp>
        <p:nvSpPr>
          <p:cNvPr id="16" name="Text 14"/>
          <p:cNvSpPr/>
          <p:nvPr/>
        </p:nvSpPr>
        <p:spPr>
          <a:xfrm>
            <a:off x="3749040" y="286207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17" name="Shape 15"/>
          <p:cNvSpPr/>
          <p:nvPr/>
        </p:nvSpPr>
        <p:spPr>
          <a:xfrm>
            <a:off x="6446520" y="2743200"/>
            <a:ext cx="2468880" cy="658368"/>
          </a:xfrm>
          <a:prstGeom prst="roundRect">
            <a:avLst>
              <a:gd name="adj" fmla="val 16667"/>
            </a:avLst>
          </a:prstGeom>
          <a:solidFill>
            <a:srgbClr val="DFF4FF"/>
          </a:solidFill>
          <a:ln w="17780">
            <a:solidFill>
              <a:srgbClr val="1C8DD8"/>
            </a:solidFill>
            <a:prstDash val="solid"/>
          </a:ln>
        </p:spPr>
      </p:sp>
      <p:sp>
        <p:nvSpPr>
          <p:cNvPr id="18" name="Text 16"/>
          <p:cNvSpPr/>
          <p:nvPr/>
        </p:nvSpPr>
        <p:spPr>
          <a:xfrm>
            <a:off x="6583680" y="286207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19" name="Shape 17"/>
          <p:cNvSpPr/>
          <p:nvPr/>
        </p:nvSpPr>
        <p:spPr>
          <a:xfrm>
            <a:off x="9281160" y="2743200"/>
            <a:ext cx="2468880" cy="658368"/>
          </a:xfrm>
          <a:prstGeom prst="roundRect">
            <a:avLst>
              <a:gd name="adj" fmla="val 16667"/>
            </a:avLst>
          </a:prstGeom>
          <a:solidFill>
            <a:srgbClr val="DFF4FF"/>
          </a:solidFill>
          <a:ln w="17780">
            <a:solidFill>
              <a:srgbClr val="1C8DD8"/>
            </a:solidFill>
            <a:prstDash val="solid"/>
          </a:ln>
        </p:spPr>
      </p:sp>
      <p:sp>
        <p:nvSpPr>
          <p:cNvPr id="20" name="Text 18"/>
          <p:cNvSpPr/>
          <p:nvPr/>
        </p:nvSpPr>
        <p:spPr>
          <a:xfrm>
            <a:off x="9418320" y="286207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21" name="Shape 19"/>
          <p:cNvSpPr/>
          <p:nvPr/>
        </p:nvSpPr>
        <p:spPr>
          <a:xfrm>
            <a:off x="777240" y="3611880"/>
            <a:ext cx="2468880" cy="658368"/>
          </a:xfrm>
          <a:prstGeom prst="roundRect">
            <a:avLst>
              <a:gd name="adj" fmla="val 16667"/>
            </a:avLst>
          </a:prstGeom>
          <a:solidFill>
            <a:srgbClr val="FFF4CC"/>
          </a:solidFill>
          <a:ln w="17780">
            <a:solidFill>
              <a:srgbClr val="FFD166"/>
            </a:solidFill>
            <a:prstDash val="solid"/>
          </a:ln>
        </p:spPr>
      </p:sp>
      <p:sp>
        <p:nvSpPr>
          <p:cNvPr id="22" name="Text 20"/>
          <p:cNvSpPr/>
          <p:nvPr/>
        </p:nvSpPr>
        <p:spPr>
          <a:xfrm>
            <a:off x="914400" y="373075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23" name="Shape 21"/>
          <p:cNvSpPr/>
          <p:nvPr/>
        </p:nvSpPr>
        <p:spPr>
          <a:xfrm>
            <a:off x="3611880" y="3611880"/>
            <a:ext cx="2468880" cy="658368"/>
          </a:xfrm>
          <a:prstGeom prst="roundRect">
            <a:avLst>
              <a:gd name="adj" fmla="val 16667"/>
            </a:avLst>
          </a:prstGeom>
          <a:solidFill>
            <a:srgbClr val="FFF4CC"/>
          </a:solidFill>
          <a:ln w="17780">
            <a:solidFill>
              <a:srgbClr val="FFD166"/>
            </a:solidFill>
            <a:prstDash val="solid"/>
          </a:ln>
        </p:spPr>
      </p:sp>
      <p:sp>
        <p:nvSpPr>
          <p:cNvPr id="24" name="Text 22"/>
          <p:cNvSpPr/>
          <p:nvPr/>
        </p:nvSpPr>
        <p:spPr>
          <a:xfrm>
            <a:off x="3749040" y="373075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25" name="Shape 23"/>
          <p:cNvSpPr/>
          <p:nvPr/>
        </p:nvSpPr>
        <p:spPr>
          <a:xfrm>
            <a:off x="6446520" y="3611880"/>
            <a:ext cx="2468880" cy="658368"/>
          </a:xfrm>
          <a:prstGeom prst="roundRect">
            <a:avLst>
              <a:gd name="adj" fmla="val 16667"/>
            </a:avLst>
          </a:prstGeom>
          <a:solidFill>
            <a:srgbClr val="FFF4CC"/>
          </a:solidFill>
          <a:ln w="17780">
            <a:solidFill>
              <a:srgbClr val="FFD166"/>
            </a:solidFill>
            <a:prstDash val="solid"/>
          </a:ln>
        </p:spPr>
      </p:sp>
      <p:sp>
        <p:nvSpPr>
          <p:cNvPr id="26" name="Text 24"/>
          <p:cNvSpPr/>
          <p:nvPr/>
        </p:nvSpPr>
        <p:spPr>
          <a:xfrm>
            <a:off x="6583680" y="373075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27" name="Shape 25"/>
          <p:cNvSpPr/>
          <p:nvPr/>
        </p:nvSpPr>
        <p:spPr>
          <a:xfrm>
            <a:off x="9281160" y="3611880"/>
            <a:ext cx="2468880" cy="658368"/>
          </a:xfrm>
          <a:prstGeom prst="roundRect">
            <a:avLst>
              <a:gd name="adj" fmla="val 16667"/>
            </a:avLst>
          </a:prstGeom>
          <a:solidFill>
            <a:srgbClr val="FFF4CC"/>
          </a:solidFill>
          <a:ln w="17780">
            <a:solidFill>
              <a:srgbClr val="FFD166"/>
            </a:solidFill>
            <a:prstDash val="solid"/>
          </a:ln>
        </p:spPr>
      </p:sp>
      <p:sp>
        <p:nvSpPr>
          <p:cNvPr id="28" name="Text 26"/>
          <p:cNvSpPr/>
          <p:nvPr/>
        </p:nvSpPr>
        <p:spPr>
          <a:xfrm>
            <a:off x="9418320" y="3730752"/>
            <a:ext cx="2194560" cy="457200"/>
          </a:xfrm>
          <a:prstGeom prst="rect">
            <a:avLst/>
          </a:prstGeom>
          <a:noFill/>
          <a:ln/>
        </p:spPr>
        <p:txBody>
          <a:bodyPr wrap="square" lIns="0" tIns="0" rIns="0" bIns="0" rtlCol="0" anchor="ctr">
            <a:normAutofit/>
          </a:bodyPr>
          <a:lstStyle/>
          <a:p>
            <a:pPr algn="ctr" indent="0" marL="0">
              <a:buNone/>
            </a:pPr>
            <a:endParaRPr lang="en-US" sz="1200" dirty="0"/>
          </a:p>
        </p:txBody>
      </p:sp>
      <p:sp>
        <p:nvSpPr>
          <p:cNvPr id="29" name="Text 27"/>
          <p:cNvSpPr/>
          <p:nvPr/>
        </p:nvSpPr>
        <p:spPr>
          <a:xfrm>
            <a:off x="1097280" y="5074920"/>
            <a:ext cx="9966960" cy="411480"/>
          </a:xfrm>
          <a:prstGeom prst="rect">
            <a:avLst/>
          </a:prstGeom>
          <a:noFill/>
          <a:ln/>
        </p:spPr>
        <p:txBody>
          <a:bodyPr wrap="square" lIns="0" tIns="0" rIns="0" bIns="0" rtlCol="0" anchor="ctr">
            <a:normAutofit/>
          </a:bodyPr>
          <a:lstStyle/>
          <a:p>
            <a:pPr algn="ctr" indent="0" marL="0">
              <a:buNone/>
            </a:pPr>
            <a:r>
              <a:rPr lang="en-US" sz="1700" b="1" dirty="0">
                <a:solidFill>
                  <a:srgbClr val="EF476F"/>
                </a:solidFill>
                <a:latin typeface="Aptos" pitchFamily="34" charset="0"/>
                <a:ea typeface="Aptos" pitchFamily="34" charset="-122"/>
                <a:cs typeface="Aptos" pitchFamily="34" charset="-120"/>
              </a:rPr>
              <a:t>Share answers with your partner before teacher feedback.</a:t>
            </a:r>
            <a:endParaRPr lang="en-US" sz="1700" dirty="0"/>
          </a:p>
        </p:txBody>
      </p:sp>
      <p:sp>
        <p:nvSpPr>
          <p:cNvPr id="30" name="Shape 28"/>
          <p:cNvSpPr/>
          <p:nvPr/>
        </p:nvSpPr>
        <p:spPr>
          <a:xfrm>
            <a:off x="0" y="6565392"/>
            <a:ext cx="12188952" cy="292608"/>
          </a:xfrm>
          <a:prstGeom prst="rect">
            <a:avLst/>
          </a:prstGeom>
          <a:solidFill>
            <a:srgbClr val="FFFFFF"/>
          </a:solidFill>
          <a:ln w="12700">
            <a:solidFill>
              <a:srgbClr val="C9E6F5"/>
            </a:solidFill>
            <a:prstDash val="solid"/>
          </a:ln>
        </p:spPr>
      </p:sp>
      <p:sp>
        <p:nvSpPr>
          <p:cNvPr id="31" name="Text 29"/>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2" name="Text 30"/>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What is the relationship?</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Look at the clues. Choose the best phrase.</a:t>
            </a:r>
            <a:endParaRPr lang="en-US" sz="1450" dirty="0"/>
          </a:p>
        </p:txBody>
      </p:sp>
      <p:sp>
        <p:nvSpPr>
          <p:cNvPr id="4" name="Shape 2"/>
          <p:cNvSpPr/>
          <p:nvPr/>
        </p:nvSpPr>
        <p:spPr>
          <a:xfrm>
            <a:off x="822960" y="1234440"/>
            <a:ext cx="10561320" cy="2194560"/>
          </a:xfrm>
          <a:prstGeom prst="roundRect">
            <a:avLst>
              <a:gd name="adj" fmla="val 5000"/>
            </a:avLst>
          </a:prstGeom>
          <a:solidFill>
            <a:srgbClr val="DFF8EF"/>
          </a:solidFill>
          <a:ln w="17780">
            <a:solidFill>
              <a:srgbClr val="00A7A7"/>
            </a:solidFill>
            <a:prstDash val="solid"/>
          </a:ln>
        </p:spPr>
      </p:sp>
      <p:sp>
        <p:nvSpPr>
          <p:cNvPr id="5" name="Text 3"/>
          <p:cNvSpPr/>
          <p:nvPr/>
        </p:nvSpPr>
        <p:spPr>
          <a:xfrm>
            <a:off x="1143000" y="1737360"/>
            <a:ext cx="9966960" cy="640080"/>
          </a:xfrm>
          <a:prstGeom prst="rect">
            <a:avLst/>
          </a:prstGeom>
          <a:noFill/>
          <a:ln/>
        </p:spPr>
        <p:txBody>
          <a:bodyPr wrap="square" lIns="0" tIns="0" rIns="0" bIns="0" rtlCol="0" anchor="ctr">
            <a:normAutofit/>
          </a:bodyPr>
          <a:lstStyle/>
          <a:p>
            <a:pPr algn="ctr" indent="0" marL="0">
              <a:buNone/>
            </a:pPr>
            <a:r>
              <a:rPr lang="en-US" sz="2200" b="1" dirty="0">
                <a:solidFill>
                  <a:srgbClr val="173B57"/>
                </a:solidFill>
                <a:latin typeface="Aptos" pitchFamily="34" charset="0"/>
                <a:ea typeface="Aptos" pitchFamily="34" charset="-122"/>
                <a:cs typeface="Aptos" pitchFamily="34" charset="-120"/>
              </a:rPr>
              <a:t>Clue: She is in my family. She is a girl. She is my mother and father’s child. Who is she?</a:t>
            </a:r>
            <a:endParaRPr lang="en-US" sz="2200" dirty="0"/>
          </a:p>
        </p:txBody>
      </p:sp>
      <p:sp>
        <p:nvSpPr>
          <p:cNvPr id="6" name="Shape 4"/>
          <p:cNvSpPr/>
          <p:nvPr/>
        </p:nvSpPr>
        <p:spPr>
          <a:xfrm>
            <a:off x="1097280" y="3840480"/>
            <a:ext cx="2148840" cy="822960"/>
          </a:xfrm>
          <a:prstGeom prst="roundRect">
            <a:avLst>
              <a:gd name="adj" fmla="val 13333"/>
            </a:avLst>
          </a:prstGeom>
          <a:solidFill>
            <a:srgbClr val="DFF4FF"/>
          </a:solidFill>
          <a:ln w="17780">
            <a:solidFill>
              <a:srgbClr val="1C8DD8"/>
            </a:solidFill>
            <a:prstDash val="solid"/>
          </a:ln>
        </p:spPr>
      </p:sp>
      <p:sp>
        <p:nvSpPr>
          <p:cNvPr id="7" name="Text 5"/>
          <p:cNvSpPr/>
          <p:nvPr/>
        </p:nvSpPr>
        <p:spPr>
          <a:xfrm>
            <a:off x="1234440" y="3959352"/>
            <a:ext cx="1874520" cy="621792"/>
          </a:xfrm>
          <a:prstGeom prst="rect">
            <a:avLst/>
          </a:prstGeom>
          <a:noFill/>
          <a:ln/>
        </p:spPr>
        <p:txBody>
          <a:bodyPr wrap="square" lIns="0" tIns="0" rIns="0" bIns="0" rtlCol="0" anchor="ctr">
            <a:normAutofit/>
          </a:bodyPr>
          <a:lstStyle/>
          <a:p>
            <a:pPr algn="ctr" indent="0" marL="0">
              <a:buNone/>
            </a:pPr>
            <a:r>
              <a:rPr lang="en-US" sz="1700" b="1" dirty="0">
                <a:solidFill>
                  <a:srgbClr val="173B57"/>
                </a:solidFill>
                <a:latin typeface="Aptos" pitchFamily="34" charset="0"/>
                <a:ea typeface="Aptos" pitchFamily="34" charset="-122"/>
                <a:cs typeface="Aptos" pitchFamily="34" charset="-120"/>
              </a:rPr>
              <a:t>mother</a:t>
            </a:r>
            <a:endParaRPr lang="en-US" sz="1700" dirty="0"/>
          </a:p>
        </p:txBody>
      </p:sp>
      <p:sp>
        <p:nvSpPr>
          <p:cNvPr id="8" name="Shape 6"/>
          <p:cNvSpPr/>
          <p:nvPr/>
        </p:nvSpPr>
        <p:spPr>
          <a:xfrm>
            <a:off x="3703320" y="3840480"/>
            <a:ext cx="2148840" cy="822960"/>
          </a:xfrm>
          <a:prstGeom prst="roundRect">
            <a:avLst>
              <a:gd name="adj" fmla="val 13333"/>
            </a:avLst>
          </a:prstGeom>
          <a:solidFill>
            <a:srgbClr val="FFF4CC"/>
          </a:solidFill>
          <a:ln w="17780">
            <a:solidFill>
              <a:srgbClr val="FFD166"/>
            </a:solidFill>
            <a:prstDash val="solid"/>
          </a:ln>
        </p:spPr>
      </p:sp>
      <p:sp>
        <p:nvSpPr>
          <p:cNvPr id="9" name="Text 7"/>
          <p:cNvSpPr/>
          <p:nvPr/>
        </p:nvSpPr>
        <p:spPr>
          <a:xfrm>
            <a:off x="3840480" y="3959352"/>
            <a:ext cx="1874520" cy="621792"/>
          </a:xfrm>
          <a:prstGeom prst="rect">
            <a:avLst/>
          </a:prstGeom>
          <a:noFill/>
          <a:ln/>
        </p:spPr>
        <p:txBody>
          <a:bodyPr wrap="square" lIns="0" tIns="0" rIns="0" bIns="0" rtlCol="0" anchor="ctr">
            <a:normAutofit/>
          </a:bodyPr>
          <a:lstStyle/>
          <a:p>
            <a:pPr algn="ctr" indent="0" marL="0">
              <a:buNone/>
            </a:pPr>
            <a:r>
              <a:rPr lang="en-US" sz="1700" b="1" dirty="0">
                <a:solidFill>
                  <a:srgbClr val="173B57"/>
                </a:solidFill>
                <a:latin typeface="Aptos" pitchFamily="34" charset="0"/>
                <a:ea typeface="Aptos" pitchFamily="34" charset="-122"/>
                <a:cs typeface="Aptos" pitchFamily="34" charset="-120"/>
              </a:rPr>
              <a:t>sister</a:t>
            </a:r>
            <a:endParaRPr lang="en-US" sz="1700" dirty="0"/>
          </a:p>
        </p:txBody>
      </p:sp>
      <p:sp>
        <p:nvSpPr>
          <p:cNvPr id="10" name="Shape 8"/>
          <p:cNvSpPr/>
          <p:nvPr/>
        </p:nvSpPr>
        <p:spPr>
          <a:xfrm>
            <a:off x="6309360" y="3840480"/>
            <a:ext cx="2148840" cy="822960"/>
          </a:xfrm>
          <a:prstGeom prst="roundRect">
            <a:avLst>
              <a:gd name="adj" fmla="val 13333"/>
            </a:avLst>
          </a:prstGeom>
          <a:solidFill>
            <a:srgbClr val="DFF4FF"/>
          </a:solidFill>
          <a:ln w="17780">
            <a:solidFill>
              <a:srgbClr val="1C8DD8"/>
            </a:solidFill>
            <a:prstDash val="solid"/>
          </a:ln>
        </p:spPr>
      </p:sp>
      <p:sp>
        <p:nvSpPr>
          <p:cNvPr id="11" name="Text 9"/>
          <p:cNvSpPr/>
          <p:nvPr/>
        </p:nvSpPr>
        <p:spPr>
          <a:xfrm>
            <a:off x="6446520" y="3959352"/>
            <a:ext cx="1874520" cy="621792"/>
          </a:xfrm>
          <a:prstGeom prst="rect">
            <a:avLst/>
          </a:prstGeom>
          <a:noFill/>
          <a:ln/>
        </p:spPr>
        <p:txBody>
          <a:bodyPr wrap="square" lIns="0" tIns="0" rIns="0" bIns="0" rtlCol="0" anchor="ctr">
            <a:normAutofit/>
          </a:bodyPr>
          <a:lstStyle/>
          <a:p>
            <a:pPr algn="ctr" indent="0" marL="0">
              <a:buNone/>
            </a:pPr>
            <a:r>
              <a:rPr lang="en-US" sz="1700" b="1" dirty="0">
                <a:solidFill>
                  <a:srgbClr val="173B57"/>
                </a:solidFill>
                <a:latin typeface="Aptos" pitchFamily="34" charset="0"/>
                <a:ea typeface="Aptos" pitchFamily="34" charset="-122"/>
                <a:cs typeface="Aptos" pitchFamily="34" charset="-120"/>
              </a:rPr>
              <a:t>aunt</a:t>
            </a:r>
            <a:endParaRPr lang="en-US" sz="1700" dirty="0"/>
          </a:p>
        </p:txBody>
      </p:sp>
      <p:sp>
        <p:nvSpPr>
          <p:cNvPr id="12" name="Shape 10"/>
          <p:cNvSpPr/>
          <p:nvPr/>
        </p:nvSpPr>
        <p:spPr>
          <a:xfrm>
            <a:off x="8915400" y="3840480"/>
            <a:ext cx="2148840" cy="822960"/>
          </a:xfrm>
          <a:prstGeom prst="roundRect">
            <a:avLst>
              <a:gd name="adj" fmla="val 13333"/>
            </a:avLst>
          </a:prstGeom>
          <a:solidFill>
            <a:srgbClr val="DFF4FF"/>
          </a:solidFill>
          <a:ln w="17780">
            <a:solidFill>
              <a:srgbClr val="1C8DD8"/>
            </a:solidFill>
            <a:prstDash val="solid"/>
          </a:ln>
        </p:spPr>
      </p:sp>
      <p:sp>
        <p:nvSpPr>
          <p:cNvPr id="13" name="Text 11"/>
          <p:cNvSpPr/>
          <p:nvPr/>
        </p:nvSpPr>
        <p:spPr>
          <a:xfrm>
            <a:off x="9052560" y="3959352"/>
            <a:ext cx="1874520" cy="621792"/>
          </a:xfrm>
          <a:prstGeom prst="rect">
            <a:avLst/>
          </a:prstGeom>
          <a:noFill/>
          <a:ln/>
        </p:spPr>
        <p:txBody>
          <a:bodyPr wrap="square" lIns="0" tIns="0" rIns="0" bIns="0" rtlCol="0" anchor="ctr">
            <a:normAutofit/>
          </a:bodyPr>
          <a:lstStyle/>
          <a:p>
            <a:pPr algn="ctr" indent="0" marL="0">
              <a:buNone/>
            </a:pPr>
            <a:r>
              <a:rPr lang="en-US" sz="1700" b="1" dirty="0">
                <a:solidFill>
                  <a:srgbClr val="173B57"/>
                </a:solidFill>
                <a:latin typeface="Aptos" pitchFamily="34" charset="0"/>
                <a:ea typeface="Aptos" pitchFamily="34" charset="-122"/>
                <a:cs typeface="Aptos" pitchFamily="34" charset="-120"/>
              </a:rPr>
              <a:t>friend</a:t>
            </a:r>
            <a:endParaRPr lang="en-US" sz="1700" dirty="0"/>
          </a:p>
        </p:txBody>
      </p:sp>
      <p:sp>
        <p:nvSpPr>
          <p:cNvPr id="14" name="Text 12"/>
          <p:cNvSpPr/>
          <p:nvPr/>
        </p:nvSpPr>
        <p:spPr>
          <a:xfrm>
            <a:off x="1051560" y="5623560"/>
            <a:ext cx="10149840" cy="411480"/>
          </a:xfrm>
          <a:prstGeom prst="rect">
            <a:avLst/>
          </a:prstGeom>
          <a:noFill/>
          <a:ln/>
        </p:spPr>
        <p:txBody>
          <a:bodyPr wrap="square" lIns="0" tIns="0" rIns="0" bIns="0" rtlCol="0" anchor="ctr">
            <a:normAutofit/>
          </a:bodyPr>
          <a:lstStyle/>
          <a:p>
            <a:pPr algn="ctr" indent="0" marL="0">
              <a:buNone/>
            </a:pPr>
            <a:r>
              <a:rPr lang="en-US" sz="1700" b="1" dirty="0">
                <a:solidFill>
                  <a:srgbClr val="EF476F"/>
                </a:solidFill>
                <a:latin typeface="Aptos" pitchFamily="34" charset="0"/>
                <a:ea typeface="Aptos" pitchFamily="34" charset="-122"/>
                <a:cs typeface="Aptos" pitchFamily="34" charset="-120"/>
              </a:rPr>
              <a:t>Pair talk: “I think she is the _____ because _____.”</a:t>
            </a:r>
            <a:endParaRPr lang="en-US" sz="1700" dirty="0"/>
          </a:p>
        </p:txBody>
      </p:sp>
      <p:sp>
        <p:nvSpPr>
          <p:cNvPr id="15" name="Shape 13"/>
          <p:cNvSpPr/>
          <p:nvPr/>
        </p:nvSpPr>
        <p:spPr>
          <a:xfrm>
            <a:off x="0" y="6565392"/>
            <a:ext cx="12188952" cy="292608"/>
          </a:xfrm>
          <a:prstGeom prst="rect">
            <a:avLst/>
          </a:prstGeom>
          <a:solidFill>
            <a:srgbClr val="FFFFFF"/>
          </a:solidFill>
          <a:ln w="12700">
            <a:solidFill>
              <a:srgbClr val="C9E6F5"/>
            </a:solidFill>
            <a:prstDash val="solid"/>
          </a:ln>
        </p:spPr>
      </p:sp>
      <p:sp>
        <p:nvSpPr>
          <p:cNvPr id="16" name="Text 14"/>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17" name="Text 15"/>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Team Challenge: Family &amp; Friends Race</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A fast review game before the final speaking task.</a:t>
            </a:r>
            <a:endParaRPr lang="en-US" sz="1450" dirty="0"/>
          </a:p>
        </p:txBody>
      </p:sp>
      <p:sp>
        <p:nvSpPr>
          <p:cNvPr id="4" name="Shape 2"/>
          <p:cNvSpPr/>
          <p:nvPr/>
        </p:nvSpPr>
        <p:spPr>
          <a:xfrm>
            <a:off x="713232" y="1508760"/>
            <a:ext cx="3401568" cy="2148840"/>
          </a:xfrm>
          <a:prstGeom prst="roundRect">
            <a:avLst>
              <a:gd name="adj" fmla="val 5106"/>
            </a:avLst>
          </a:prstGeom>
          <a:solidFill>
            <a:srgbClr val="DFF4FF"/>
          </a:solidFill>
          <a:ln w="17780">
            <a:solidFill>
              <a:srgbClr val="1C8DD8"/>
            </a:solidFill>
            <a:prstDash val="solid"/>
          </a:ln>
        </p:spPr>
      </p:sp>
      <p:sp>
        <p:nvSpPr>
          <p:cNvPr id="5" name="Text 3"/>
          <p:cNvSpPr/>
          <p:nvPr/>
        </p:nvSpPr>
        <p:spPr>
          <a:xfrm>
            <a:off x="850392" y="16184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65506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Round 1</a:t>
            </a:r>
            <a:endParaRPr lang="en-US" sz="1550" dirty="0"/>
          </a:p>
        </p:txBody>
      </p:sp>
      <p:sp>
        <p:nvSpPr>
          <p:cNvPr id="7" name="Text 5"/>
          <p:cNvSpPr/>
          <p:nvPr/>
        </p:nvSpPr>
        <p:spPr>
          <a:xfrm>
            <a:off x="877824" y="2075688"/>
            <a:ext cx="3072384" cy="146304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Teacher acts a person. Team says the family/friend word.</a:t>
            </a:r>
            <a:endParaRPr lang="en-US" sz="1360" dirty="0"/>
          </a:p>
        </p:txBody>
      </p:sp>
      <p:sp>
        <p:nvSpPr>
          <p:cNvPr id="8" name="Shape 6"/>
          <p:cNvSpPr/>
          <p:nvPr/>
        </p:nvSpPr>
        <p:spPr>
          <a:xfrm>
            <a:off x="4480560" y="1508760"/>
            <a:ext cx="3401568" cy="2148840"/>
          </a:xfrm>
          <a:prstGeom prst="roundRect">
            <a:avLst>
              <a:gd name="adj" fmla="val 5106"/>
            </a:avLst>
          </a:prstGeom>
          <a:solidFill>
            <a:srgbClr val="DFF8EF"/>
          </a:solidFill>
          <a:ln w="17780">
            <a:solidFill>
              <a:srgbClr val="00A7A7"/>
            </a:solidFill>
            <a:prstDash val="solid"/>
          </a:ln>
        </p:spPr>
      </p:sp>
      <p:sp>
        <p:nvSpPr>
          <p:cNvPr id="9" name="Text 7"/>
          <p:cNvSpPr/>
          <p:nvPr/>
        </p:nvSpPr>
        <p:spPr>
          <a:xfrm>
            <a:off x="4617720" y="16184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5166360" y="165506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Round 2</a:t>
            </a:r>
            <a:endParaRPr lang="en-US" sz="1550" dirty="0"/>
          </a:p>
        </p:txBody>
      </p:sp>
      <p:sp>
        <p:nvSpPr>
          <p:cNvPr id="11" name="Text 9"/>
          <p:cNvSpPr/>
          <p:nvPr/>
        </p:nvSpPr>
        <p:spPr>
          <a:xfrm>
            <a:off x="4645152" y="2075688"/>
            <a:ext cx="3072384" cy="146304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Teacher says a description. Team points to the right word.</a:t>
            </a:r>
            <a:endParaRPr lang="en-US" sz="1360" dirty="0"/>
          </a:p>
        </p:txBody>
      </p:sp>
      <p:sp>
        <p:nvSpPr>
          <p:cNvPr id="12" name="Shape 10"/>
          <p:cNvSpPr/>
          <p:nvPr/>
        </p:nvSpPr>
        <p:spPr>
          <a:xfrm>
            <a:off x="8247888" y="1508760"/>
            <a:ext cx="3401568" cy="2148840"/>
          </a:xfrm>
          <a:prstGeom prst="roundRect">
            <a:avLst>
              <a:gd name="adj" fmla="val 5106"/>
            </a:avLst>
          </a:prstGeom>
          <a:solidFill>
            <a:srgbClr val="FFF4CC"/>
          </a:solidFill>
          <a:ln w="17780">
            <a:solidFill>
              <a:srgbClr val="FFD166"/>
            </a:solidFill>
            <a:prstDash val="solid"/>
          </a:ln>
        </p:spPr>
      </p:sp>
      <p:sp>
        <p:nvSpPr>
          <p:cNvPr id="13" name="Text 11"/>
          <p:cNvSpPr/>
          <p:nvPr/>
        </p:nvSpPr>
        <p:spPr>
          <a:xfrm>
            <a:off x="8385048" y="16184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8933688" y="1655064"/>
            <a:ext cx="2532888"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Round 3</a:t>
            </a:r>
            <a:endParaRPr lang="en-US" sz="1550" dirty="0"/>
          </a:p>
        </p:txBody>
      </p:sp>
      <p:sp>
        <p:nvSpPr>
          <p:cNvPr id="15" name="Text 13"/>
          <p:cNvSpPr/>
          <p:nvPr/>
        </p:nvSpPr>
        <p:spPr>
          <a:xfrm>
            <a:off x="8412480" y="2075688"/>
            <a:ext cx="3072384" cy="146304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One student asks. Another student answers.</a:t>
            </a:r>
            <a:endParaRPr lang="en-US" sz="1360" dirty="0"/>
          </a:p>
        </p:txBody>
      </p:sp>
      <p:sp>
        <p:nvSpPr>
          <p:cNvPr id="16" name="Text 14"/>
          <p:cNvSpPr/>
          <p:nvPr/>
        </p:nvSpPr>
        <p:spPr>
          <a:xfrm>
            <a:off x="914400" y="4892040"/>
            <a:ext cx="10332720" cy="411480"/>
          </a:xfrm>
          <a:prstGeom prst="rect">
            <a:avLst/>
          </a:prstGeom>
          <a:noFill/>
          <a:ln/>
        </p:spPr>
        <p:txBody>
          <a:bodyPr wrap="square" lIns="0" tIns="0" rIns="0" bIns="0" rtlCol="0" anchor="ctr">
            <a:normAutofit/>
          </a:bodyPr>
          <a:lstStyle/>
          <a:p>
            <a:pPr algn="ctr" indent="0" marL="0">
              <a:buNone/>
            </a:pPr>
            <a:r>
              <a:rPr lang="en-US" sz="1600" b="1" dirty="0">
                <a:solidFill>
                  <a:srgbClr val="EF476F"/>
                </a:solidFill>
                <a:latin typeface="Aptos" pitchFamily="34" charset="0"/>
                <a:ea typeface="Aptos" pitchFamily="34" charset="-122"/>
                <a:cs typeface="Aptos" pitchFamily="34" charset="-120"/>
              </a:rPr>
              <a:t>Scoring: 1 point for clear English · 1 point for kind words · 1 point for teamwork</a:t>
            </a:r>
            <a:endParaRPr lang="en-US" sz="1600" dirty="0"/>
          </a:p>
        </p:txBody>
      </p:sp>
      <p:sp>
        <p:nvSpPr>
          <p:cNvPr id="17" name="Shape 15"/>
          <p:cNvSpPr/>
          <p:nvPr/>
        </p:nvSpPr>
        <p:spPr>
          <a:xfrm>
            <a:off x="0" y="6565392"/>
            <a:ext cx="12188952" cy="292608"/>
          </a:xfrm>
          <a:prstGeom prst="rect">
            <a:avLst/>
          </a:prstGeom>
          <a:solidFill>
            <a:srgbClr val="FFFFFF"/>
          </a:solidFill>
          <a:ln w="12700">
            <a:solidFill>
              <a:srgbClr val="C9E6F5"/>
            </a:solidFill>
            <a:prstDash val="solid"/>
          </a:ln>
        </p:spPr>
      </p:sp>
      <p:sp>
        <p:nvSpPr>
          <p:cNvPr id="18" name="Text 16"/>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19" name="Text 17"/>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Mini Presentation: Someone Special</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speak for 20–30 seconds.</a:t>
            </a:r>
            <a:endParaRPr lang="en-US" sz="1450" dirty="0"/>
          </a:p>
        </p:txBody>
      </p:sp>
      <p:sp>
        <p:nvSpPr>
          <p:cNvPr id="4" name="Shape 2"/>
          <p:cNvSpPr/>
          <p:nvPr/>
        </p:nvSpPr>
        <p:spPr>
          <a:xfrm>
            <a:off x="914400" y="1143000"/>
            <a:ext cx="10332720" cy="2651760"/>
          </a:xfrm>
          <a:prstGeom prst="roundRect">
            <a:avLst>
              <a:gd name="adj" fmla="val 4138"/>
            </a:avLst>
          </a:prstGeom>
          <a:solidFill>
            <a:srgbClr val="FFF4CC"/>
          </a:solidFill>
          <a:ln w="17780">
            <a:solidFill>
              <a:srgbClr val="FFD166"/>
            </a:solidFill>
            <a:prstDash val="solid"/>
          </a:ln>
        </p:spPr>
      </p:sp>
      <p:sp>
        <p:nvSpPr>
          <p:cNvPr id="5" name="Text 3"/>
          <p:cNvSpPr/>
          <p:nvPr/>
        </p:nvSpPr>
        <p:spPr>
          <a:xfrm>
            <a:off x="1234440" y="1417320"/>
            <a:ext cx="9692640" cy="2148840"/>
          </a:xfrm>
          <a:prstGeom prst="rect">
            <a:avLst/>
          </a:prstGeom>
          <a:noFill/>
          <a:ln/>
        </p:spPr>
        <p:txBody>
          <a:bodyPr wrap="square" lIns="0" tIns="0" rIns="0" bIns="0" rtlCol="0" anchor="ctr">
            <a:normAutofit/>
          </a:bodyPr>
          <a:lstStyle/>
          <a:p>
            <a:pPr indent="0" marL="0">
              <a:buNone/>
            </a:pPr>
            <a:r>
              <a:rPr lang="en-US" sz="2300" b="1" dirty="0">
                <a:solidFill>
                  <a:srgbClr val="1F2933"/>
                </a:solidFill>
                <a:latin typeface="Aptos" pitchFamily="34" charset="0"/>
                <a:ea typeface="Aptos" pitchFamily="34" charset="-122"/>
                <a:cs typeface="Aptos" pitchFamily="34" charset="-120"/>
              </a:rPr>
              <a:t>Hello. This is my _____.</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His/Her name is _____.</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He/She is _____.</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He/She likes _____.</a:t>
            </a:r>
            <a:endParaRPr lang="en-US" sz="2300" dirty="0"/>
          </a:p>
          <a:p>
            <a:pPr indent="0" marL="0">
              <a:buNone/>
            </a:pPr>
            <a:r>
              <a:rPr lang="en-US" sz="2300" b="1" dirty="0">
                <a:solidFill>
                  <a:srgbClr val="1F2933"/>
                </a:solidFill>
                <a:latin typeface="Aptos" pitchFamily="34" charset="0"/>
                <a:ea typeface="Aptos" pitchFamily="34" charset="-122"/>
                <a:cs typeface="Aptos" pitchFamily="34" charset="-120"/>
              </a:rPr>
              <a:t>I like him/her because _____.</a:t>
            </a:r>
            <a:endParaRPr lang="en-US" sz="2300" dirty="0"/>
          </a:p>
        </p:txBody>
      </p:sp>
      <p:sp>
        <p:nvSpPr>
          <p:cNvPr id="6" name="Shape 4"/>
          <p:cNvSpPr/>
          <p:nvPr/>
        </p:nvSpPr>
        <p:spPr>
          <a:xfrm>
            <a:off x="914400" y="4160520"/>
            <a:ext cx="2240280" cy="868680"/>
          </a:xfrm>
          <a:prstGeom prst="roundRect">
            <a:avLst>
              <a:gd name="adj" fmla="val 12632"/>
            </a:avLst>
          </a:prstGeom>
          <a:solidFill>
            <a:srgbClr val="DFF4FF"/>
          </a:solidFill>
          <a:ln w="17780">
            <a:solidFill>
              <a:srgbClr val="1C8DD8"/>
            </a:solidFill>
            <a:prstDash val="solid"/>
          </a:ln>
        </p:spPr>
      </p:sp>
      <p:sp>
        <p:nvSpPr>
          <p:cNvPr id="7" name="Text 5"/>
          <p:cNvSpPr/>
          <p:nvPr/>
        </p:nvSpPr>
        <p:spPr>
          <a:xfrm>
            <a:off x="1051560" y="42702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8" name="Text 6"/>
          <p:cNvSpPr/>
          <p:nvPr/>
        </p:nvSpPr>
        <p:spPr>
          <a:xfrm>
            <a:off x="1600200" y="4306824"/>
            <a:ext cx="137160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Look up</a:t>
            </a:r>
            <a:endParaRPr lang="en-US" sz="1380" dirty="0"/>
          </a:p>
        </p:txBody>
      </p:sp>
      <p:sp>
        <p:nvSpPr>
          <p:cNvPr id="9" name="Shape 7"/>
          <p:cNvSpPr/>
          <p:nvPr/>
        </p:nvSpPr>
        <p:spPr>
          <a:xfrm>
            <a:off x="3657600" y="4160520"/>
            <a:ext cx="2240280" cy="868680"/>
          </a:xfrm>
          <a:prstGeom prst="roundRect">
            <a:avLst>
              <a:gd name="adj" fmla="val 12632"/>
            </a:avLst>
          </a:prstGeom>
          <a:solidFill>
            <a:srgbClr val="DFF8EF"/>
          </a:solidFill>
          <a:ln w="17780">
            <a:solidFill>
              <a:srgbClr val="00A7A7"/>
            </a:solidFill>
            <a:prstDash val="solid"/>
          </a:ln>
        </p:spPr>
      </p:sp>
      <p:sp>
        <p:nvSpPr>
          <p:cNvPr id="10" name="Text 8"/>
          <p:cNvSpPr/>
          <p:nvPr/>
        </p:nvSpPr>
        <p:spPr>
          <a:xfrm>
            <a:off x="3794760" y="42702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1" name="Text 9"/>
          <p:cNvSpPr/>
          <p:nvPr/>
        </p:nvSpPr>
        <p:spPr>
          <a:xfrm>
            <a:off x="4343400" y="4306824"/>
            <a:ext cx="137160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Speak clearly</a:t>
            </a:r>
            <a:endParaRPr lang="en-US" sz="1380" dirty="0"/>
          </a:p>
        </p:txBody>
      </p:sp>
      <p:sp>
        <p:nvSpPr>
          <p:cNvPr id="12" name="Shape 10"/>
          <p:cNvSpPr/>
          <p:nvPr/>
        </p:nvSpPr>
        <p:spPr>
          <a:xfrm>
            <a:off x="6400800" y="4160520"/>
            <a:ext cx="2240280" cy="868680"/>
          </a:xfrm>
          <a:prstGeom prst="roundRect">
            <a:avLst>
              <a:gd name="adj" fmla="val 12632"/>
            </a:avLst>
          </a:prstGeom>
          <a:solidFill>
            <a:srgbClr val="DFF4FF"/>
          </a:solidFill>
          <a:ln w="17780">
            <a:solidFill>
              <a:srgbClr val="1C8DD8"/>
            </a:solidFill>
            <a:prstDash val="solid"/>
          </a:ln>
        </p:spPr>
      </p:sp>
      <p:sp>
        <p:nvSpPr>
          <p:cNvPr id="13" name="Text 11"/>
          <p:cNvSpPr/>
          <p:nvPr/>
        </p:nvSpPr>
        <p:spPr>
          <a:xfrm>
            <a:off x="6537960" y="42702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7086600" y="4306824"/>
            <a:ext cx="137160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Smile</a:t>
            </a:r>
            <a:endParaRPr lang="en-US" sz="1380" dirty="0"/>
          </a:p>
        </p:txBody>
      </p:sp>
      <p:sp>
        <p:nvSpPr>
          <p:cNvPr id="15" name="Shape 13"/>
          <p:cNvSpPr/>
          <p:nvPr/>
        </p:nvSpPr>
        <p:spPr>
          <a:xfrm>
            <a:off x="9144000" y="4160520"/>
            <a:ext cx="2240280" cy="868680"/>
          </a:xfrm>
          <a:prstGeom prst="roundRect">
            <a:avLst>
              <a:gd name="adj" fmla="val 12632"/>
            </a:avLst>
          </a:prstGeom>
          <a:solidFill>
            <a:srgbClr val="DFF8EF"/>
          </a:solidFill>
          <a:ln w="17780">
            <a:solidFill>
              <a:srgbClr val="00A7A7"/>
            </a:solidFill>
            <a:prstDash val="solid"/>
          </a:ln>
        </p:spPr>
      </p:sp>
      <p:sp>
        <p:nvSpPr>
          <p:cNvPr id="16" name="Text 14"/>
          <p:cNvSpPr/>
          <p:nvPr/>
        </p:nvSpPr>
        <p:spPr>
          <a:xfrm>
            <a:off x="9281160" y="42702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7" name="Text 15"/>
          <p:cNvSpPr/>
          <p:nvPr/>
        </p:nvSpPr>
        <p:spPr>
          <a:xfrm>
            <a:off x="9829800" y="4306824"/>
            <a:ext cx="137160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Say thank you</a:t>
            </a:r>
            <a:endParaRPr lang="en-US" sz="1380" dirty="0"/>
          </a:p>
        </p:txBody>
      </p:sp>
      <p:sp>
        <p:nvSpPr>
          <p:cNvPr id="18" name="Text 16"/>
          <p:cNvSpPr/>
          <p:nvPr/>
        </p:nvSpPr>
        <p:spPr>
          <a:xfrm>
            <a:off x="1051560" y="5715000"/>
            <a:ext cx="10149840" cy="320040"/>
          </a:xfrm>
          <a:prstGeom prst="rect">
            <a:avLst/>
          </a:prstGeom>
          <a:noFill/>
          <a:ln/>
        </p:spPr>
        <p:txBody>
          <a:bodyPr wrap="square" lIns="0" tIns="0" rIns="0" bIns="0" rtlCol="0" anchor="ctr">
            <a:normAutofit/>
          </a:bodyPr>
          <a:lstStyle/>
          <a:p>
            <a:pPr algn="ctr" indent="0" marL="0">
              <a:buNone/>
            </a:pPr>
            <a:r>
              <a:rPr lang="en-US" sz="1550" b="1" dirty="0">
                <a:solidFill>
                  <a:srgbClr val="5E6B73"/>
                </a:solidFill>
                <a:latin typeface="Aptos" pitchFamily="34" charset="0"/>
                <a:ea typeface="Aptos" pitchFamily="34" charset="-122"/>
                <a:cs typeface="Aptos" pitchFamily="34" charset="-120"/>
              </a:rPr>
              <a:t>Audience job: Listen and remember one kind word.</a:t>
            </a:r>
            <a:endParaRPr lang="en-US" sz="1550" dirty="0"/>
          </a:p>
        </p:txBody>
      </p:sp>
      <p:sp>
        <p:nvSpPr>
          <p:cNvPr id="19" name="Shape 17"/>
          <p:cNvSpPr/>
          <p:nvPr/>
        </p:nvSpPr>
        <p:spPr>
          <a:xfrm>
            <a:off x="0" y="6565392"/>
            <a:ext cx="12188952" cy="292608"/>
          </a:xfrm>
          <a:prstGeom prst="rect">
            <a:avLst/>
          </a:prstGeom>
          <a:solidFill>
            <a:srgbClr val="FFFFFF"/>
          </a:solidFill>
          <a:ln w="12700">
            <a:solidFill>
              <a:srgbClr val="C9E6F5"/>
            </a:solidFill>
            <a:prstDash val="solid"/>
          </a:ln>
        </p:spPr>
      </p:sp>
      <p:sp>
        <p:nvSpPr>
          <p:cNvPr id="20" name="Text 1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1" name="Text 1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Our Speaking Class Rules</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Create a safe classroom for family and friend stories.</a:t>
            </a:r>
            <a:endParaRPr lang="en-US" sz="1450" dirty="0"/>
          </a:p>
        </p:txBody>
      </p:sp>
      <p:sp>
        <p:nvSpPr>
          <p:cNvPr id="4" name="Shape 2"/>
          <p:cNvSpPr/>
          <p:nvPr/>
        </p:nvSpPr>
        <p:spPr>
          <a:xfrm>
            <a:off x="713232" y="1325880"/>
            <a:ext cx="5120640" cy="1417320"/>
          </a:xfrm>
          <a:prstGeom prst="roundRect">
            <a:avLst>
              <a:gd name="adj" fmla="val 7742"/>
            </a:avLst>
          </a:prstGeom>
          <a:solidFill>
            <a:srgbClr val="DFF4FF"/>
          </a:solidFill>
          <a:ln w="17780">
            <a:solidFill>
              <a:srgbClr val="1C8DD8"/>
            </a:solidFill>
            <a:prstDash val="solid"/>
          </a:ln>
        </p:spPr>
      </p:sp>
      <p:sp>
        <p:nvSpPr>
          <p:cNvPr id="5" name="Text 3"/>
          <p:cNvSpPr/>
          <p:nvPr/>
        </p:nvSpPr>
        <p:spPr>
          <a:xfrm>
            <a:off x="85039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47218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Share only what is okay.</a:t>
            </a:r>
            <a:endParaRPr lang="en-US" sz="1550" dirty="0"/>
          </a:p>
        </p:txBody>
      </p:sp>
      <p:sp>
        <p:nvSpPr>
          <p:cNvPr id="7" name="Text 5"/>
          <p:cNvSpPr/>
          <p:nvPr/>
        </p:nvSpPr>
        <p:spPr>
          <a:xfrm>
            <a:off x="877824" y="1892808"/>
            <a:ext cx="4791456" cy="73152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You can choose a real person or imaginary person.</a:t>
            </a:r>
            <a:endParaRPr lang="en-US" sz="1360" dirty="0"/>
          </a:p>
        </p:txBody>
      </p:sp>
      <p:sp>
        <p:nvSpPr>
          <p:cNvPr id="8" name="Shape 6"/>
          <p:cNvSpPr/>
          <p:nvPr/>
        </p:nvSpPr>
        <p:spPr>
          <a:xfrm>
            <a:off x="6355080" y="1325880"/>
            <a:ext cx="5120640" cy="1417320"/>
          </a:xfrm>
          <a:prstGeom prst="roundRect">
            <a:avLst>
              <a:gd name="adj" fmla="val 7742"/>
            </a:avLst>
          </a:prstGeom>
          <a:solidFill>
            <a:srgbClr val="DFF8EF"/>
          </a:solidFill>
          <a:ln w="17780">
            <a:solidFill>
              <a:srgbClr val="00A7A7"/>
            </a:solidFill>
            <a:prstDash val="solid"/>
          </a:ln>
        </p:spPr>
      </p:sp>
      <p:sp>
        <p:nvSpPr>
          <p:cNvPr id="9" name="Text 7"/>
          <p:cNvSpPr/>
          <p:nvPr/>
        </p:nvSpPr>
        <p:spPr>
          <a:xfrm>
            <a:off x="6492240"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7040880" y="147218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Help, don’t laugh.</a:t>
            </a:r>
            <a:endParaRPr lang="en-US" sz="1550" dirty="0"/>
          </a:p>
        </p:txBody>
      </p:sp>
      <p:sp>
        <p:nvSpPr>
          <p:cNvPr id="11" name="Text 9"/>
          <p:cNvSpPr/>
          <p:nvPr/>
        </p:nvSpPr>
        <p:spPr>
          <a:xfrm>
            <a:off x="6519672" y="1892808"/>
            <a:ext cx="4791456" cy="73152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We are a team.</a:t>
            </a:r>
            <a:endParaRPr lang="en-US" sz="1360" dirty="0"/>
          </a:p>
        </p:txBody>
      </p:sp>
      <p:sp>
        <p:nvSpPr>
          <p:cNvPr id="12" name="Shape 10"/>
          <p:cNvSpPr/>
          <p:nvPr/>
        </p:nvSpPr>
        <p:spPr>
          <a:xfrm>
            <a:off x="713232" y="3246120"/>
            <a:ext cx="5120640" cy="1417320"/>
          </a:xfrm>
          <a:prstGeom prst="roundRect">
            <a:avLst>
              <a:gd name="adj" fmla="val 7742"/>
            </a:avLst>
          </a:prstGeom>
          <a:solidFill>
            <a:srgbClr val="FFF4CC"/>
          </a:solidFill>
          <a:ln w="17780">
            <a:solidFill>
              <a:srgbClr val="FFD166"/>
            </a:solidFill>
            <a:prstDash val="solid"/>
          </a:ln>
        </p:spPr>
      </p:sp>
      <p:sp>
        <p:nvSpPr>
          <p:cNvPr id="13" name="Text 11"/>
          <p:cNvSpPr/>
          <p:nvPr/>
        </p:nvSpPr>
        <p:spPr>
          <a:xfrm>
            <a:off x="850392" y="33558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1399032" y="339242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Listen with your eyes.</a:t>
            </a:r>
            <a:endParaRPr lang="en-US" sz="1550" dirty="0"/>
          </a:p>
        </p:txBody>
      </p:sp>
      <p:sp>
        <p:nvSpPr>
          <p:cNvPr id="15" name="Text 13"/>
          <p:cNvSpPr/>
          <p:nvPr/>
        </p:nvSpPr>
        <p:spPr>
          <a:xfrm>
            <a:off x="877824" y="3813048"/>
            <a:ext cx="4791456" cy="73152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Look at the speaker.</a:t>
            </a:r>
            <a:endParaRPr lang="en-US" sz="1360" dirty="0"/>
          </a:p>
        </p:txBody>
      </p:sp>
      <p:sp>
        <p:nvSpPr>
          <p:cNvPr id="16" name="Shape 14"/>
          <p:cNvSpPr/>
          <p:nvPr/>
        </p:nvSpPr>
        <p:spPr>
          <a:xfrm>
            <a:off x="6355080" y="3246120"/>
            <a:ext cx="5120640" cy="1417320"/>
          </a:xfrm>
          <a:prstGeom prst="roundRect">
            <a:avLst>
              <a:gd name="adj" fmla="val 7742"/>
            </a:avLst>
          </a:prstGeom>
          <a:solidFill>
            <a:srgbClr val="DFF4FF"/>
          </a:solidFill>
          <a:ln w="17780">
            <a:solidFill>
              <a:srgbClr val="1C8DD8"/>
            </a:solidFill>
            <a:prstDash val="solid"/>
          </a:ln>
        </p:spPr>
      </p:sp>
      <p:sp>
        <p:nvSpPr>
          <p:cNvPr id="17" name="Text 15"/>
          <p:cNvSpPr/>
          <p:nvPr/>
        </p:nvSpPr>
        <p:spPr>
          <a:xfrm>
            <a:off x="6492240" y="335584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7040880" y="3392424"/>
            <a:ext cx="42519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Kind words only.</a:t>
            </a:r>
            <a:endParaRPr lang="en-US" sz="1550" dirty="0"/>
          </a:p>
        </p:txBody>
      </p:sp>
      <p:sp>
        <p:nvSpPr>
          <p:cNvPr id="19" name="Text 17"/>
          <p:cNvSpPr/>
          <p:nvPr/>
        </p:nvSpPr>
        <p:spPr>
          <a:xfrm>
            <a:off x="6519672" y="3813048"/>
            <a:ext cx="4791456" cy="73152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Describe people with respect.</a:t>
            </a:r>
            <a:endParaRPr lang="en-US" sz="1360" dirty="0"/>
          </a:p>
        </p:txBody>
      </p:sp>
      <p:sp>
        <p:nvSpPr>
          <p:cNvPr id="20" name="Text 18"/>
          <p:cNvSpPr/>
          <p:nvPr/>
        </p:nvSpPr>
        <p:spPr>
          <a:xfrm>
            <a:off x="1051560" y="5715000"/>
            <a:ext cx="10149840" cy="320040"/>
          </a:xfrm>
          <a:prstGeom prst="rect">
            <a:avLst/>
          </a:prstGeom>
          <a:noFill/>
          <a:ln/>
        </p:spPr>
        <p:txBody>
          <a:bodyPr wrap="square" lIns="0" tIns="0" rIns="0" bIns="0" rtlCol="0" anchor="ctr">
            <a:normAutofit/>
          </a:bodyPr>
          <a:lstStyle/>
          <a:p>
            <a:pPr algn="ctr" indent="0" marL="0">
              <a:buNone/>
            </a:pPr>
            <a:r>
              <a:rPr lang="en-US" sz="1600" b="1" dirty="0">
                <a:solidFill>
                  <a:srgbClr val="EF476F"/>
                </a:solidFill>
                <a:latin typeface="Aptos" pitchFamily="34" charset="0"/>
                <a:ea typeface="Aptos" pitchFamily="34" charset="-122"/>
                <a:cs typeface="Aptos" pitchFamily="34" charset="-120"/>
              </a:rPr>
              <a:t>Class chant: “Kind words. Clear voice. Brave English.”</a:t>
            </a:r>
            <a:endParaRPr lang="en-US" sz="1600" dirty="0"/>
          </a:p>
        </p:txBody>
      </p:sp>
      <p:sp>
        <p:nvSpPr>
          <p:cNvPr id="21" name="Shape 19"/>
          <p:cNvSpPr/>
          <p:nvPr/>
        </p:nvSpPr>
        <p:spPr>
          <a:xfrm>
            <a:off x="0" y="6565392"/>
            <a:ext cx="12188952" cy="292608"/>
          </a:xfrm>
          <a:prstGeom prst="rect">
            <a:avLst/>
          </a:prstGeom>
          <a:solidFill>
            <a:srgbClr val="FFFFFF"/>
          </a:solidFill>
          <a:ln w="12700">
            <a:solidFill>
              <a:srgbClr val="C9E6F5"/>
            </a:solidFill>
            <a:prstDash val="solid"/>
          </a:ln>
        </p:spPr>
      </p:sp>
      <p:sp>
        <p:nvSpPr>
          <p:cNvPr id="22" name="Text 20"/>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3" name="Text 21"/>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Speaking Passport: Day 3 Stamp</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Self-check at the end.</a:t>
            </a:r>
            <a:endParaRPr lang="en-US" sz="1450" dirty="0"/>
          </a:p>
        </p:txBody>
      </p:sp>
      <p:sp>
        <p:nvSpPr>
          <p:cNvPr id="4" name="Text 2"/>
          <p:cNvSpPr/>
          <p:nvPr/>
        </p:nvSpPr>
        <p:spPr>
          <a:xfrm>
            <a:off x="822960" y="1188720"/>
            <a:ext cx="2743200" cy="365760"/>
          </a:xfrm>
          <a:prstGeom prst="rect">
            <a:avLst/>
          </a:prstGeom>
          <a:noFill/>
          <a:ln/>
        </p:spPr>
        <p:txBody>
          <a:bodyPr wrap="square" lIns="0" tIns="0" rIns="0" bIns="0" rtlCol="0" anchor="ctr">
            <a:normAutofit/>
          </a:bodyPr>
          <a:lstStyle/>
          <a:p>
            <a:pPr indent="0" marL="0">
              <a:buNone/>
            </a:pPr>
            <a:r>
              <a:rPr lang="en-US" sz="2000" b="1" dirty="0">
                <a:solidFill>
                  <a:srgbClr val="173B57"/>
                </a:solidFill>
                <a:latin typeface="Aptos" pitchFamily="34" charset="0"/>
                <a:ea typeface="Aptos" pitchFamily="34" charset="-122"/>
                <a:cs typeface="Aptos" pitchFamily="34" charset="-120"/>
              </a:rPr>
              <a:t>Today I can…</a:t>
            </a:r>
            <a:endParaRPr lang="en-US" sz="2000" dirty="0"/>
          </a:p>
        </p:txBody>
      </p:sp>
      <p:sp>
        <p:nvSpPr>
          <p:cNvPr id="5" name="Shape 3"/>
          <p:cNvSpPr/>
          <p:nvPr/>
        </p:nvSpPr>
        <p:spPr>
          <a:xfrm>
            <a:off x="914400" y="1737360"/>
            <a:ext cx="3291840" cy="566928"/>
          </a:xfrm>
          <a:prstGeom prst="roundRect">
            <a:avLst>
              <a:gd name="adj" fmla="val 19355"/>
            </a:avLst>
          </a:prstGeom>
          <a:solidFill>
            <a:srgbClr val="DFF4FF"/>
          </a:solidFill>
          <a:ln w="17780">
            <a:solidFill>
              <a:srgbClr val="1C8DD8"/>
            </a:solidFill>
            <a:prstDash val="solid"/>
          </a:ln>
        </p:spPr>
      </p:sp>
      <p:sp>
        <p:nvSpPr>
          <p:cNvPr id="6" name="Text 4"/>
          <p:cNvSpPr/>
          <p:nvPr/>
        </p:nvSpPr>
        <p:spPr>
          <a:xfrm>
            <a:off x="1051560" y="1856232"/>
            <a:ext cx="3017520" cy="365760"/>
          </a:xfrm>
          <a:prstGeom prst="rect">
            <a:avLst/>
          </a:prstGeom>
          <a:noFill/>
          <a:ln/>
        </p:spPr>
        <p:txBody>
          <a:bodyPr wrap="square" lIns="0" tIns="0" rIns="0" bIns="0" rtlCol="0" anchor="ctr">
            <a:normAutofit/>
          </a:bodyPr>
          <a:lstStyle/>
          <a:p>
            <a:pPr algn="l" indent="0" marL="0">
              <a:buNone/>
            </a:pPr>
            <a:r>
              <a:rPr lang="en-US" sz="1400" b="1" dirty="0">
                <a:solidFill>
                  <a:srgbClr val="173B57"/>
                </a:solidFill>
                <a:latin typeface="Aptos" pitchFamily="34" charset="0"/>
                <a:ea typeface="Aptos" pitchFamily="34" charset="-122"/>
                <a:cs typeface="Aptos" pitchFamily="34" charset="-120"/>
              </a:rPr>
              <a:t>say family words</a:t>
            </a:r>
            <a:endParaRPr lang="en-US" sz="1400" dirty="0"/>
          </a:p>
        </p:txBody>
      </p:sp>
      <p:sp>
        <p:nvSpPr>
          <p:cNvPr id="7" name="Shape 5"/>
          <p:cNvSpPr/>
          <p:nvPr/>
        </p:nvSpPr>
        <p:spPr>
          <a:xfrm>
            <a:off x="4480560" y="1737360"/>
            <a:ext cx="6126480" cy="566928"/>
          </a:xfrm>
          <a:prstGeom prst="roundRect">
            <a:avLst>
              <a:gd name="adj" fmla="val 19355"/>
            </a:avLst>
          </a:prstGeom>
          <a:solidFill>
            <a:srgbClr val="FFF4CC"/>
          </a:solidFill>
          <a:ln w="17780">
            <a:solidFill>
              <a:srgbClr val="FFD166"/>
            </a:solidFill>
            <a:prstDash val="solid"/>
          </a:ln>
        </p:spPr>
      </p:sp>
      <p:sp>
        <p:nvSpPr>
          <p:cNvPr id="8" name="Text 6"/>
          <p:cNvSpPr/>
          <p:nvPr/>
        </p:nvSpPr>
        <p:spPr>
          <a:xfrm>
            <a:off x="4617720" y="1856232"/>
            <a:ext cx="5852160" cy="365760"/>
          </a:xfrm>
          <a:prstGeom prst="rect">
            <a:avLst/>
          </a:prstGeom>
          <a:noFill/>
          <a:ln/>
        </p:spPr>
        <p:txBody>
          <a:bodyPr wrap="square" lIns="0" tIns="0" rIns="0" bIns="0" rtlCol="0" anchor="ctr">
            <a:normAutofit/>
          </a:bodyPr>
          <a:lstStyle/>
          <a:p>
            <a:pPr algn="l" indent="0" marL="0">
              <a:buNone/>
            </a:pPr>
            <a:r>
              <a:rPr lang="en-US" sz="1400" dirty="0">
                <a:solidFill>
                  <a:srgbClr val="1F2933"/>
                </a:solidFill>
                <a:latin typeface="Aptos" pitchFamily="34" charset="0"/>
                <a:ea typeface="Aptos" pitchFamily="34" charset="-122"/>
                <a:cs typeface="Aptos" pitchFamily="34" charset="-120"/>
              </a:rPr>
              <a:t>mother · father · sister · brother</a:t>
            </a:r>
            <a:endParaRPr lang="en-US" sz="1400" dirty="0"/>
          </a:p>
        </p:txBody>
      </p:sp>
      <p:sp>
        <p:nvSpPr>
          <p:cNvPr id="9" name="Shape 7"/>
          <p:cNvSpPr/>
          <p:nvPr/>
        </p:nvSpPr>
        <p:spPr>
          <a:xfrm>
            <a:off x="10835640" y="1737360"/>
            <a:ext cx="566928" cy="566928"/>
          </a:xfrm>
          <a:prstGeom prst="roundRect">
            <a:avLst>
              <a:gd name="adj" fmla="val 19355"/>
            </a:avLst>
          </a:prstGeom>
          <a:solidFill>
            <a:srgbClr val="DFF8EF"/>
          </a:solidFill>
          <a:ln w="17780">
            <a:solidFill>
              <a:srgbClr val="00A7A7"/>
            </a:solidFill>
            <a:prstDash val="solid"/>
          </a:ln>
        </p:spPr>
      </p:sp>
      <p:sp>
        <p:nvSpPr>
          <p:cNvPr id="10" name="Text 8"/>
          <p:cNvSpPr/>
          <p:nvPr/>
        </p:nvSpPr>
        <p:spPr>
          <a:xfrm>
            <a:off x="10972800" y="1856232"/>
            <a:ext cx="292608" cy="365760"/>
          </a:xfrm>
          <a:prstGeom prst="rect">
            <a:avLst/>
          </a:prstGeom>
          <a:noFill/>
          <a:ln/>
        </p:spPr>
        <p:txBody>
          <a:bodyPr wrap="square" lIns="0" tIns="0" rIns="0" bIns="0" rtlCol="0" anchor="ctr">
            <a:normAutofit/>
          </a:bodyPr>
          <a:lstStyle/>
          <a:p>
            <a:pPr algn="ctr" indent="0" marL="0">
              <a:buNone/>
            </a:pPr>
            <a:r>
              <a:rPr lang="en-US" sz="1800" dirty="0">
                <a:solidFill>
                  <a:srgbClr val="173B57"/>
                </a:solidFill>
                <a:latin typeface="Aptos" pitchFamily="34" charset="0"/>
                <a:ea typeface="Aptos" pitchFamily="34" charset="-122"/>
                <a:cs typeface="Aptos" pitchFamily="34" charset="-120"/>
              </a:rPr>
              <a:t>○</a:t>
            </a:r>
            <a:endParaRPr lang="en-US" sz="1800" dirty="0"/>
          </a:p>
        </p:txBody>
      </p:sp>
      <p:sp>
        <p:nvSpPr>
          <p:cNvPr id="11" name="Shape 9"/>
          <p:cNvSpPr/>
          <p:nvPr/>
        </p:nvSpPr>
        <p:spPr>
          <a:xfrm>
            <a:off x="914400" y="2560320"/>
            <a:ext cx="3291840" cy="566928"/>
          </a:xfrm>
          <a:prstGeom prst="roundRect">
            <a:avLst>
              <a:gd name="adj" fmla="val 19355"/>
            </a:avLst>
          </a:prstGeom>
          <a:solidFill>
            <a:srgbClr val="DFF4FF"/>
          </a:solidFill>
          <a:ln w="17780">
            <a:solidFill>
              <a:srgbClr val="1C8DD8"/>
            </a:solidFill>
            <a:prstDash val="solid"/>
          </a:ln>
        </p:spPr>
      </p:sp>
      <p:sp>
        <p:nvSpPr>
          <p:cNvPr id="12" name="Text 10"/>
          <p:cNvSpPr/>
          <p:nvPr/>
        </p:nvSpPr>
        <p:spPr>
          <a:xfrm>
            <a:off x="1051560" y="2679192"/>
            <a:ext cx="3017520" cy="365760"/>
          </a:xfrm>
          <a:prstGeom prst="rect">
            <a:avLst/>
          </a:prstGeom>
          <a:noFill/>
          <a:ln/>
        </p:spPr>
        <p:txBody>
          <a:bodyPr wrap="square" lIns="0" tIns="0" rIns="0" bIns="0" rtlCol="0" anchor="ctr">
            <a:normAutofit/>
          </a:bodyPr>
          <a:lstStyle/>
          <a:p>
            <a:pPr algn="l" indent="0" marL="0">
              <a:buNone/>
            </a:pPr>
            <a:r>
              <a:rPr lang="en-US" sz="1400" b="1" dirty="0">
                <a:solidFill>
                  <a:srgbClr val="173B57"/>
                </a:solidFill>
                <a:latin typeface="Aptos" pitchFamily="34" charset="0"/>
                <a:ea typeface="Aptos" pitchFamily="34" charset="-122"/>
                <a:cs typeface="Aptos" pitchFamily="34" charset="-120"/>
              </a:rPr>
              <a:t>introduce someone</a:t>
            </a:r>
            <a:endParaRPr lang="en-US" sz="1400" dirty="0"/>
          </a:p>
        </p:txBody>
      </p:sp>
      <p:sp>
        <p:nvSpPr>
          <p:cNvPr id="13" name="Shape 11"/>
          <p:cNvSpPr/>
          <p:nvPr/>
        </p:nvSpPr>
        <p:spPr>
          <a:xfrm>
            <a:off x="4480560" y="2560320"/>
            <a:ext cx="6126480" cy="566928"/>
          </a:xfrm>
          <a:prstGeom prst="roundRect">
            <a:avLst>
              <a:gd name="adj" fmla="val 19355"/>
            </a:avLst>
          </a:prstGeom>
          <a:solidFill>
            <a:srgbClr val="FFF4CC"/>
          </a:solidFill>
          <a:ln w="17780">
            <a:solidFill>
              <a:srgbClr val="FFD166"/>
            </a:solidFill>
            <a:prstDash val="solid"/>
          </a:ln>
        </p:spPr>
      </p:sp>
      <p:sp>
        <p:nvSpPr>
          <p:cNvPr id="14" name="Text 12"/>
          <p:cNvSpPr/>
          <p:nvPr/>
        </p:nvSpPr>
        <p:spPr>
          <a:xfrm>
            <a:off x="4617720" y="2679192"/>
            <a:ext cx="5852160" cy="365760"/>
          </a:xfrm>
          <a:prstGeom prst="rect">
            <a:avLst/>
          </a:prstGeom>
          <a:noFill/>
          <a:ln/>
        </p:spPr>
        <p:txBody>
          <a:bodyPr wrap="square" lIns="0" tIns="0" rIns="0" bIns="0" rtlCol="0" anchor="ctr">
            <a:normAutofit/>
          </a:bodyPr>
          <a:lstStyle/>
          <a:p>
            <a:pPr algn="l" indent="0" marL="0">
              <a:buNone/>
            </a:pPr>
            <a:r>
              <a:rPr lang="en-US" sz="1400" dirty="0">
                <a:solidFill>
                  <a:srgbClr val="1F2933"/>
                </a:solidFill>
                <a:latin typeface="Aptos" pitchFamily="34" charset="0"/>
                <a:ea typeface="Aptos" pitchFamily="34" charset="-122"/>
                <a:cs typeface="Aptos" pitchFamily="34" charset="-120"/>
              </a:rPr>
              <a:t>This is my friend.</a:t>
            </a:r>
            <a:endParaRPr lang="en-US" sz="1400" dirty="0"/>
          </a:p>
        </p:txBody>
      </p:sp>
      <p:sp>
        <p:nvSpPr>
          <p:cNvPr id="15" name="Shape 13"/>
          <p:cNvSpPr/>
          <p:nvPr/>
        </p:nvSpPr>
        <p:spPr>
          <a:xfrm>
            <a:off x="10835640" y="2560320"/>
            <a:ext cx="566928" cy="566928"/>
          </a:xfrm>
          <a:prstGeom prst="roundRect">
            <a:avLst>
              <a:gd name="adj" fmla="val 19355"/>
            </a:avLst>
          </a:prstGeom>
          <a:solidFill>
            <a:srgbClr val="DFF8EF"/>
          </a:solidFill>
          <a:ln w="17780">
            <a:solidFill>
              <a:srgbClr val="00A7A7"/>
            </a:solidFill>
            <a:prstDash val="solid"/>
          </a:ln>
        </p:spPr>
      </p:sp>
      <p:sp>
        <p:nvSpPr>
          <p:cNvPr id="16" name="Text 14"/>
          <p:cNvSpPr/>
          <p:nvPr/>
        </p:nvSpPr>
        <p:spPr>
          <a:xfrm>
            <a:off x="10972800" y="2679192"/>
            <a:ext cx="292608" cy="365760"/>
          </a:xfrm>
          <a:prstGeom prst="rect">
            <a:avLst/>
          </a:prstGeom>
          <a:noFill/>
          <a:ln/>
        </p:spPr>
        <p:txBody>
          <a:bodyPr wrap="square" lIns="0" tIns="0" rIns="0" bIns="0" rtlCol="0" anchor="ctr">
            <a:normAutofit/>
          </a:bodyPr>
          <a:lstStyle/>
          <a:p>
            <a:pPr algn="ctr" indent="0" marL="0">
              <a:buNone/>
            </a:pPr>
            <a:r>
              <a:rPr lang="en-US" sz="1800" dirty="0">
                <a:solidFill>
                  <a:srgbClr val="173B57"/>
                </a:solidFill>
                <a:latin typeface="Aptos" pitchFamily="34" charset="0"/>
                <a:ea typeface="Aptos" pitchFamily="34" charset="-122"/>
                <a:cs typeface="Aptos" pitchFamily="34" charset="-120"/>
              </a:rPr>
              <a:t>○</a:t>
            </a:r>
            <a:endParaRPr lang="en-US" sz="1800" dirty="0"/>
          </a:p>
        </p:txBody>
      </p:sp>
      <p:sp>
        <p:nvSpPr>
          <p:cNvPr id="17" name="Shape 15"/>
          <p:cNvSpPr/>
          <p:nvPr/>
        </p:nvSpPr>
        <p:spPr>
          <a:xfrm>
            <a:off x="914400" y="3383280"/>
            <a:ext cx="3291840" cy="566928"/>
          </a:xfrm>
          <a:prstGeom prst="roundRect">
            <a:avLst>
              <a:gd name="adj" fmla="val 19355"/>
            </a:avLst>
          </a:prstGeom>
          <a:solidFill>
            <a:srgbClr val="DFF4FF"/>
          </a:solidFill>
          <a:ln w="17780">
            <a:solidFill>
              <a:srgbClr val="1C8DD8"/>
            </a:solidFill>
            <a:prstDash val="solid"/>
          </a:ln>
        </p:spPr>
      </p:sp>
      <p:sp>
        <p:nvSpPr>
          <p:cNvPr id="18" name="Text 16"/>
          <p:cNvSpPr/>
          <p:nvPr/>
        </p:nvSpPr>
        <p:spPr>
          <a:xfrm>
            <a:off x="1051560" y="3502152"/>
            <a:ext cx="3017520" cy="365760"/>
          </a:xfrm>
          <a:prstGeom prst="rect">
            <a:avLst/>
          </a:prstGeom>
          <a:noFill/>
          <a:ln/>
        </p:spPr>
        <p:txBody>
          <a:bodyPr wrap="square" lIns="0" tIns="0" rIns="0" bIns="0" rtlCol="0" anchor="ctr">
            <a:normAutofit/>
          </a:bodyPr>
          <a:lstStyle/>
          <a:p>
            <a:pPr algn="l" indent="0" marL="0">
              <a:buNone/>
            </a:pPr>
            <a:r>
              <a:rPr lang="en-US" sz="1400" b="1" dirty="0">
                <a:solidFill>
                  <a:srgbClr val="173B57"/>
                </a:solidFill>
                <a:latin typeface="Aptos" pitchFamily="34" charset="0"/>
                <a:ea typeface="Aptos" pitchFamily="34" charset="-122"/>
                <a:cs typeface="Aptos" pitchFamily="34" charset="-120"/>
              </a:rPr>
              <a:t>describe a person</a:t>
            </a:r>
            <a:endParaRPr lang="en-US" sz="1400" dirty="0"/>
          </a:p>
        </p:txBody>
      </p:sp>
      <p:sp>
        <p:nvSpPr>
          <p:cNvPr id="19" name="Shape 17"/>
          <p:cNvSpPr/>
          <p:nvPr/>
        </p:nvSpPr>
        <p:spPr>
          <a:xfrm>
            <a:off x="4480560" y="3383280"/>
            <a:ext cx="6126480" cy="566928"/>
          </a:xfrm>
          <a:prstGeom prst="roundRect">
            <a:avLst>
              <a:gd name="adj" fmla="val 19355"/>
            </a:avLst>
          </a:prstGeom>
          <a:solidFill>
            <a:srgbClr val="FFF4CC"/>
          </a:solidFill>
          <a:ln w="17780">
            <a:solidFill>
              <a:srgbClr val="FFD166"/>
            </a:solidFill>
            <a:prstDash val="solid"/>
          </a:ln>
        </p:spPr>
      </p:sp>
      <p:sp>
        <p:nvSpPr>
          <p:cNvPr id="20" name="Text 18"/>
          <p:cNvSpPr/>
          <p:nvPr/>
        </p:nvSpPr>
        <p:spPr>
          <a:xfrm>
            <a:off x="4617720" y="3502152"/>
            <a:ext cx="5852160" cy="365760"/>
          </a:xfrm>
          <a:prstGeom prst="rect">
            <a:avLst/>
          </a:prstGeom>
          <a:noFill/>
          <a:ln/>
        </p:spPr>
        <p:txBody>
          <a:bodyPr wrap="square" lIns="0" tIns="0" rIns="0" bIns="0" rtlCol="0" anchor="ctr">
            <a:normAutofit/>
          </a:bodyPr>
          <a:lstStyle/>
          <a:p>
            <a:pPr algn="l" indent="0" marL="0">
              <a:buNone/>
            </a:pPr>
            <a:r>
              <a:rPr lang="en-US" sz="1400" dirty="0">
                <a:solidFill>
                  <a:srgbClr val="1F2933"/>
                </a:solidFill>
                <a:latin typeface="Aptos" pitchFamily="34" charset="0"/>
                <a:ea typeface="Aptos" pitchFamily="34" charset="-122"/>
                <a:cs typeface="Aptos" pitchFamily="34" charset="-120"/>
              </a:rPr>
              <a:t>She is kind. He is funny.</a:t>
            </a:r>
            <a:endParaRPr lang="en-US" sz="1400" dirty="0"/>
          </a:p>
        </p:txBody>
      </p:sp>
      <p:sp>
        <p:nvSpPr>
          <p:cNvPr id="21" name="Shape 19"/>
          <p:cNvSpPr/>
          <p:nvPr/>
        </p:nvSpPr>
        <p:spPr>
          <a:xfrm>
            <a:off x="10835640" y="3383280"/>
            <a:ext cx="566928" cy="566928"/>
          </a:xfrm>
          <a:prstGeom prst="roundRect">
            <a:avLst>
              <a:gd name="adj" fmla="val 19355"/>
            </a:avLst>
          </a:prstGeom>
          <a:solidFill>
            <a:srgbClr val="DFF8EF"/>
          </a:solidFill>
          <a:ln w="17780">
            <a:solidFill>
              <a:srgbClr val="00A7A7"/>
            </a:solidFill>
            <a:prstDash val="solid"/>
          </a:ln>
        </p:spPr>
      </p:sp>
      <p:sp>
        <p:nvSpPr>
          <p:cNvPr id="22" name="Text 20"/>
          <p:cNvSpPr/>
          <p:nvPr/>
        </p:nvSpPr>
        <p:spPr>
          <a:xfrm>
            <a:off x="10972800" y="3502152"/>
            <a:ext cx="292608" cy="365760"/>
          </a:xfrm>
          <a:prstGeom prst="rect">
            <a:avLst/>
          </a:prstGeom>
          <a:noFill/>
          <a:ln/>
        </p:spPr>
        <p:txBody>
          <a:bodyPr wrap="square" lIns="0" tIns="0" rIns="0" bIns="0" rtlCol="0" anchor="ctr">
            <a:normAutofit/>
          </a:bodyPr>
          <a:lstStyle/>
          <a:p>
            <a:pPr algn="ctr" indent="0" marL="0">
              <a:buNone/>
            </a:pPr>
            <a:r>
              <a:rPr lang="en-US" sz="1800" dirty="0">
                <a:solidFill>
                  <a:srgbClr val="173B57"/>
                </a:solidFill>
                <a:latin typeface="Aptos" pitchFamily="34" charset="0"/>
                <a:ea typeface="Aptos" pitchFamily="34" charset="-122"/>
                <a:cs typeface="Aptos" pitchFamily="34" charset="-120"/>
              </a:rPr>
              <a:t>○</a:t>
            </a:r>
            <a:endParaRPr lang="en-US" sz="1800" dirty="0"/>
          </a:p>
        </p:txBody>
      </p:sp>
      <p:sp>
        <p:nvSpPr>
          <p:cNvPr id="23" name="Shape 21"/>
          <p:cNvSpPr/>
          <p:nvPr/>
        </p:nvSpPr>
        <p:spPr>
          <a:xfrm>
            <a:off x="914400" y="4206240"/>
            <a:ext cx="3291840" cy="566928"/>
          </a:xfrm>
          <a:prstGeom prst="roundRect">
            <a:avLst>
              <a:gd name="adj" fmla="val 19355"/>
            </a:avLst>
          </a:prstGeom>
          <a:solidFill>
            <a:srgbClr val="DFF4FF"/>
          </a:solidFill>
          <a:ln w="17780">
            <a:solidFill>
              <a:srgbClr val="1C8DD8"/>
            </a:solidFill>
            <a:prstDash val="solid"/>
          </a:ln>
        </p:spPr>
      </p:sp>
      <p:sp>
        <p:nvSpPr>
          <p:cNvPr id="24" name="Text 22"/>
          <p:cNvSpPr/>
          <p:nvPr/>
        </p:nvSpPr>
        <p:spPr>
          <a:xfrm>
            <a:off x="1051560" y="4325112"/>
            <a:ext cx="3017520" cy="365760"/>
          </a:xfrm>
          <a:prstGeom prst="rect">
            <a:avLst/>
          </a:prstGeom>
          <a:noFill/>
          <a:ln/>
        </p:spPr>
        <p:txBody>
          <a:bodyPr wrap="square" lIns="0" tIns="0" rIns="0" bIns="0" rtlCol="0" anchor="ctr">
            <a:normAutofit/>
          </a:bodyPr>
          <a:lstStyle/>
          <a:p>
            <a:pPr algn="l" indent="0" marL="0">
              <a:buNone/>
            </a:pPr>
            <a:r>
              <a:rPr lang="en-US" sz="1400" b="1" dirty="0">
                <a:solidFill>
                  <a:srgbClr val="173B57"/>
                </a:solidFill>
                <a:latin typeface="Aptos" pitchFamily="34" charset="0"/>
                <a:ea typeface="Aptos" pitchFamily="34" charset="-122"/>
                <a:cs typeface="Aptos" pitchFamily="34" charset="-120"/>
              </a:rPr>
              <a:t>ask about someone</a:t>
            </a:r>
            <a:endParaRPr lang="en-US" sz="1400" dirty="0"/>
          </a:p>
        </p:txBody>
      </p:sp>
      <p:sp>
        <p:nvSpPr>
          <p:cNvPr id="25" name="Shape 23"/>
          <p:cNvSpPr/>
          <p:nvPr/>
        </p:nvSpPr>
        <p:spPr>
          <a:xfrm>
            <a:off x="4480560" y="4206240"/>
            <a:ext cx="6126480" cy="566928"/>
          </a:xfrm>
          <a:prstGeom prst="roundRect">
            <a:avLst>
              <a:gd name="adj" fmla="val 19355"/>
            </a:avLst>
          </a:prstGeom>
          <a:solidFill>
            <a:srgbClr val="FFF4CC"/>
          </a:solidFill>
          <a:ln w="17780">
            <a:solidFill>
              <a:srgbClr val="FFD166"/>
            </a:solidFill>
            <a:prstDash val="solid"/>
          </a:ln>
        </p:spPr>
      </p:sp>
      <p:sp>
        <p:nvSpPr>
          <p:cNvPr id="26" name="Text 24"/>
          <p:cNvSpPr/>
          <p:nvPr/>
        </p:nvSpPr>
        <p:spPr>
          <a:xfrm>
            <a:off x="4617720" y="4325112"/>
            <a:ext cx="5852160" cy="365760"/>
          </a:xfrm>
          <a:prstGeom prst="rect">
            <a:avLst/>
          </a:prstGeom>
          <a:noFill/>
          <a:ln/>
        </p:spPr>
        <p:txBody>
          <a:bodyPr wrap="square" lIns="0" tIns="0" rIns="0" bIns="0" rtlCol="0" anchor="ctr">
            <a:normAutofit/>
          </a:bodyPr>
          <a:lstStyle/>
          <a:p>
            <a:pPr algn="l" indent="0" marL="0">
              <a:buNone/>
            </a:pPr>
            <a:r>
              <a:rPr lang="en-US" sz="1400" dirty="0">
                <a:solidFill>
                  <a:srgbClr val="1F2933"/>
                </a:solidFill>
                <a:latin typeface="Aptos" pitchFamily="34" charset="0"/>
                <a:ea typeface="Aptos" pitchFamily="34" charset="-122"/>
                <a:cs typeface="Aptos" pitchFamily="34" charset="-120"/>
              </a:rPr>
              <a:t>Who is he? What is she like?</a:t>
            </a:r>
            <a:endParaRPr lang="en-US" sz="1400" dirty="0"/>
          </a:p>
        </p:txBody>
      </p:sp>
      <p:sp>
        <p:nvSpPr>
          <p:cNvPr id="27" name="Shape 25"/>
          <p:cNvSpPr/>
          <p:nvPr/>
        </p:nvSpPr>
        <p:spPr>
          <a:xfrm>
            <a:off x="10835640" y="4206240"/>
            <a:ext cx="566928" cy="566928"/>
          </a:xfrm>
          <a:prstGeom prst="roundRect">
            <a:avLst>
              <a:gd name="adj" fmla="val 19355"/>
            </a:avLst>
          </a:prstGeom>
          <a:solidFill>
            <a:srgbClr val="DFF8EF"/>
          </a:solidFill>
          <a:ln w="17780">
            <a:solidFill>
              <a:srgbClr val="00A7A7"/>
            </a:solidFill>
            <a:prstDash val="solid"/>
          </a:ln>
        </p:spPr>
      </p:sp>
      <p:sp>
        <p:nvSpPr>
          <p:cNvPr id="28" name="Text 26"/>
          <p:cNvSpPr/>
          <p:nvPr/>
        </p:nvSpPr>
        <p:spPr>
          <a:xfrm>
            <a:off x="10972800" y="4325112"/>
            <a:ext cx="292608" cy="365760"/>
          </a:xfrm>
          <a:prstGeom prst="rect">
            <a:avLst/>
          </a:prstGeom>
          <a:noFill/>
          <a:ln/>
        </p:spPr>
        <p:txBody>
          <a:bodyPr wrap="square" lIns="0" tIns="0" rIns="0" bIns="0" rtlCol="0" anchor="ctr">
            <a:normAutofit/>
          </a:bodyPr>
          <a:lstStyle/>
          <a:p>
            <a:pPr algn="ctr" indent="0" marL="0">
              <a:buNone/>
            </a:pPr>
            <a:r>
              <a:rPr lang="en-US" sz="1800" dirty="0">
                <a:solidFill>
                  <a:srgbClr val="173B57"/>
                </a:solidFill>
                <a:latin typeface="Aptos" pitchFamily="34" charset="0"/>
                <a:ea typeface="Aptos" pitchFamily="34" charset="-122"/>
                <a:cs typeface="Aptos" pitchFamily="34" charset="-120"/>
              </a:rPr>
              <a:t>○</a:t>
            </a:r>
            <a:endParaRPr lang="en-US" sz="1800" dirty="0"/>
          </a:p>
        </p:txBody>
      </p:sp>
      <p:sp>
        <p:nvSpPr>
          <p:cNvPr id="29" name="Text 27"/>
          <p:cNvSpPr/>
          <p:nvPr/>
        </p:nvSpPr>
        <p:spPr>
          <a:xfrm>
            <a:off x="914400" y="5349240"/>
            <a:ext cx="10332720" cy="411480"/>
          </a:xfrm>
          <a:prstGeom prst="rect">
            <a:avLst/>
          </a:prstGeom>
          <a:noFill/>
          <a:ln/>
        </p:spPr>
        <p:txBody>
          <a:bodyPr wrap="square" lIns="0" tIns="0" rIns="0" bIns="0" rtlCol="0" anchor="ctr">
            <a:normAutofit/>
          </a:bodyPr>
          <a:lstStyle/>
          <a:p>
            <a:pPr algn="ctr" indent="0" marL="0">
              <a:buNone/>
            </a:pPr>
            <a:r>
              <a:rPr lang="en-US" sz="1700" b="1" dirty="0">
                <a:solidFill>
                  <a:srgbClr val="EF476F"/>
                </a:solidFill>
                <a:latin typeface="Aptos" pitchFamily="34" charset="0"/>
                <a:ea typeface="Aptos" pitchFamily="34" charset="-122"/>
                <a:cs typeface="Aptos" pitchFamily="34" charset="-120"/>
              </a:rPr>
              <a:t>Circle one:  🙂 I can do it   😐 I need practice   🙁 I need help</a:t>
            </a:r>
            <a:endParaRPr lang="en-US" sz="1700" dirty="0"/>
          </a:p>
        </p:txBody>
      </p:sp>
      <p:sp>
        <p:nvSpPr>
          <p:cNvPr id="30" name="Shape 28"/>
          <p:cNvSpPr/>
          <p:nvPr/>
        </p:nvSpPr>
        <p:spPr>
          <a:xfrm>
            <a:off x="0" y="6565392"/>
            <a:ext cx="12188952" cy="292608"/>
          </a:xfrm>
          <a:prstGeom prst="rect">
            <a:avLst/>
          </a:prstGeom>
          <a:solidFill>
            <a:srgbClr val="FFFFFF"/>
          </a:solidFill>
          <a:ln w="12700">
            <a:solidFill>
              <a:srgbClr val="C9E6F5"/>
            </a:solidFill>
            <a:prstDash val="solid"/>
          </a:ln>
        </p:spPr>
      </p:sp>
      <p:sp>
        <p:nvSpPr>
          <p:cNvPr id="31" name="Text 29"/>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2" name="Text 30"/>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Exit Ticket</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A quick closing routine.</a:t>
            </a:r>
            <a:endParaRPr lang="en-US" sz="1450" dirty="0"/>
          </a:p>
        </p:txBody>
      </p:sp>
      <p:sp>
        <p:nvSpPr>
          <p:cNvPr id="4" name="Shape 2"/>
          <p:cNvSpPr/>
          <p:nvPr/>
        </p:nvSpPr>
        <p:spPr>
          <a:xfrm>
            <a:off x="914400" y="1371600"/>
            <a:ext cx="3291840" cy="3200400"/>
          </a:xfrm>
          <a:prstGeom prst="roundRect">
            <a:avLst>
              <a:gd name="adj" fmla="val 3429"/>
            </a:avLst>
          </a:prstGeom>
          <a:solidFill>
            <a:srgbClr val="DFF4FF"/>
          </a:solidFill>
          <a:ln w="17780">
            <a:solidFill>
              <a:srgbClr val="1C8DD8"/>
            </a:solidFill>
            <a:prstDash val="solid"/>
          </a:ln>
        </p:spPr>
      </p:sp>
      <p:sp>
        <p:nvSpPr>
          <p:cNvPr id="5" name="Text 3"/>
          <p:cNvSpPr/>
          <p:nvPr/>
        </p:nvSpPr>
        <p:spPr>
          <a:xfrm>
            <a:off x="1051560" y="14813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600200" y="1517904"/>
            <a:ext cx="24231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Say one sentence</a:t>
            </a:r>
            <a:endParaRPr lang="en-US" sz="1550" dirty="0"/>
          </a:p>
        </p:txBody>
      </p:sp>
      <p:sp>
        <p:nvSpPr>
          <p:cNvPr id="7" name="Text 5"/>
          <p:cNvSpPr/>
          <p:nvPr/>
        </p:nvSpPr>
        <p:spPr>
          <a:xfrm>
            <a:off x="1078992" y="1938528"/>
            <a:ext cx="2962656" cy="251460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“This is my ____.”</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“He/She is ____.”</a:t>
            </a:r>
            <a:endParaRPr lang="en-US" sz="1360" dirty="0"/>
          </a:p>
        </p:txBody>
      </p:sp>
      <p:sp>
        <p:nvSpPr>
          <p:cNvPr id="8" name="Shape 6"/>
          <p:cNvSpPr/>
          <p:nvPr/>
        </p:nvSpPr>
        <p:spPr>
          <a:xfrm>
            <a:off x="4434840" y="1371600"/>
            <a:ext cx="3291840" cy="3200400"/>
          </a:xfrm>
          <a:prstGeom prst="roundRect">
            <a:avLst>
              <a:gd name="adj" fmla="val 3429"/>
            </a:avLst>
          </a:prstGeom>
          <a:solidFill>
            <a:srgbClr val="FFF4CC"/>
          </a:solidFill>
          <a:ln w="17780">
            <a:solidFill>
              <a:srgbClr val="FFD166"/>
            </a:solidFill>
            <a:prstDash val="solid"/>
          </a:ln>
        </p:spPr>
      </p:sp>
      <p:sp>
        <p:nvSpPr>
          <p:cNvPr id="9" name="Text 7"/>
          <p:cNvSpPr/>
          <p:nvPr/>
        </p:nvSpPr>
        <p:spPr>
          <a:xfrm>
            <a:off x="4572000" y="14813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0" name="Text 8"/>
          <p:cNvSpPr/>
          <p:nvPr/>
        </p:nvSpPr>
        <p:spPr>
          <a:xfrm>
            <a:off x="5120640" y="1517904"/>
            <a:ext cx="24231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Tell one friend fact</a:t>
            </a:r>
            <a:endParaRPr lang="en-US" sz="1550" dirty="0"/>
          </a:p>
        </p:txBody>
      </p:sp>
      <p:sp>
        <p:nvSpPr>
          <p:cNvPr id="11" name="Text 9"/>
          <p:cNvSpPr/>
          <p:nvPr/>
        </p:nvSpPr>
        <p:spPr>
          <a:xfrm>
            <a:off x="4599432" y="1938528"/>
            <a:ext cx="2962656" cy="251460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“Ben likes football.”</a:t>
            </a:r>
            <a:endParaRPr lang="en-US" sz="1360" dirty="0"/>
          </a:p>
          <a:p>
            <a:pPr indent="0" marL="0">
              <a:buNone/>
            </a:pPr>
            <a:r>
              <a:rPr lang="en-US" sz="1360" dirty="0">
                <a:solidFill>
                  <a:srgbClr val="1F2933"/>
                </a:solidFill>
                <a:latin typeface="Aptos" pitchFamily="34" charset="0"/>
                <a:ea typeface="Aptos" pitchFamily="34" charset="-122"/>
                <a:cs typeface="Aptos" pitchFamily="34" charset="-120"/>
              </a:rPr>
              <a:t>“Mina is kind.”</a:t>
            </a:r>
            <a:endParaRPr lang="en-US" sz="1360" dirty="0"/>
          </a:p>
        </p:txBody>
      </p:sp>
      <p:sp>
        <p:nvSpPr>
          <p:cNvPr id="12" name="Shape 10"/>
          <p:cNvSpPr/>
          <p:nvPr/>
        </p:nvSpPr>
        <p:spPr>
          <a:xfrm>
            <a:off x="7955280" y="1371600"/>
            <a:ext cx="3291840" cy="3200400"/>
          </a:xfrm>
          <a:prstGeom prst="roundRect">
            <a:avLst>
              <a:gd name="adj" fmla="val 3429"/>
            </a:avLst>
          </a:prstGeom>
          <a:solidFill>
            <a:srgbClr val="DFF8EF"/>
          </a:solidFill>
          <a:ln w="17780">
            <a:solidFill>
              <a:srgbClr val="00A7A7"/>
            </a:solidFill>
            <a:prstDash val="solid"/>
          </a:ln>
        </p:spPr>
      </p:sp>
      <p:sp>
        <p:nvSpPr>
          <p:cNvPr id="13" name="Text 11"/>
          <p:cNvSpPr/>
          <p:nvPr/>
        </p:nvSpPr>
        <p:spPr>
          <a:xfrm>
            <a:off x="8092440" y="14813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4" name="Text 12"/>
          <p:cNvSpPr/>
          <p:nvPr/>
        </p:nvSpPr>
        <p:spPr>
          <a:xfrm>
            <a:off x="8641080" y="1517904"/>
            <a:ext cx="2423160" cy="310896"/>
          </a:xfrm>
          <a:prstGeom prst="rect">
            <a:avLst/>
          </a:prstGeom>
          <a:noFill/>
          <a:ln/>
        </p:spPr>
        <p:txBody>
          <a:bodyPr wrap="square" lIns="0" tIns="0" rIns="0" bIns="0" rtlCol="0" anchor="ctr">
            <a:normAutofit/>
          </a:bodyPr>
          <a:lstStyle/>
          <a:p>
            <a:pPr indent="0" marL="0">
              <a:buNone/>
            </a:pPr>
            <a:r>
              <a:rPr lang="en-US" sz="1550" b="1" dirty="0">
                <a:solidFill>
                  <a:srgbClr val="173B57"/>
                </a:solidFill>
                <a:latin typeface="Aptos Display" pitchFamily="34" charset="0"/>
                <a:ea typeface="Aptos Display" pitchFamily="34" charset="-122"/>
                <a:cs typeface="Aptos Display" pitchFamily="34" charset="-120"/>
              </a:rPr>
              <a:t>Choose your feeling</a:t>
            </a:r>
            <a:endParaRPr lang="en-US" sz="1550" dirty="0"/>
          </a:p>
        </p:txBody>
      </p:sp>
      <p:sp>
        <p:nvSpPr>
          <p:cNvPr id="15" name="Text 13"/>
          <p:cNvSpPr/>
          <p:nvPr/>
        </p:nvSpPr>
        <p:spPr>
          <a:xfrm>
            <a:off x="8119872" y="1938528"/>
            <a:ext cx="2962656" cy="2514600"/>
          </a:xfrm>
          <a:prstGeom prst="rect">
            <a:avLst/>
          </a:prstGeom>
          <a:noFill/>
          <a:ln/>
        </p:spPr>
        <p:txBody>
          <a:bodyPr wrap="square" lIns="0" tIns="0" rIns="0" bIns="0" rtlCol="0" anchor="t">
            <a:normAutofit/>
          </a:bodyPr>
          <a:lstStyle/>
          <a:p>
            <a:pPr indent="0" marL="0">
              <a:buNone/>
            </a:pPr>
            <a:r>
              <a:rPr lang="en-US" sz="1360" dirty="0">
                <a:solidFill>
                  <a:srgbClr val="1F2933"/>
                </a:solidFill>
                <a:latin typeface="Aptos" pitchFamily="34" charset="0"/>
                <a:ea typeface="Aptos" pitchFamily="34" charset="-122"/>
                <a:cs typeface="Aptos" pitchFamily="34" charset="-120"/>
              </a:rPr>
              <a:t>happy / okay / shy / proud</a:t>
            </a:r>
            <a:endParaRPr lang="en-US" sz="1360" dirty="0"/>
          </a:p>
        </p:txBody>
      </p:sp>
      <p:sp>
        <p:nvSpPr>
          <p:cNvPr id="16" name="Text 14"/>
          <p:cNvSpPr/>
          <p:nvPr/>
        </p:nvSpPr>
        <p:spPr>
          <a:xfrm>
            <a:off x="1051560" y="5623560"/>
            <a:ext cx="10149840" cy="320040"/>
          </a:xfrm>
          <a:prstGeom prst="rect">
            <a:avLst/>
          </a:prstGeom>
          <a:noFill/>
          <a:ln/>
        </p:spPr>
        <p:txBody>
          <a:bodyPr wrap="square" lIns="0" tIns="0" rIns="0" bIns="0" rtlCol="0" anchor="ctr">
            <a:normAutofit/>
          </a:bodyPr>
          <a:lstStyle/>
          <a:p>
            <a:pPr algn="ctr" indent="0" marL="0">
              <a:buNone/>
            </a:pPr>
            <a:r>
              <a:rPr lang="en-US" sz="1550" b="1" dirty="0">
                <a:solidFill>
                  <a:srgbClr val="5E6B73"/>
                </a:solidFill>
                <a:latin typeface="Aptos" pitchFamily="34" charset="0"/>
                <a:ea typeface="Aptos" pitchFamily="34" charset="-122"/>
                <a:cs typeface="Aptos" pitchFamily="34" charset="-120"/>
              </a:rPr>
              <a:t>Teacher says goodbye using each student’s name when possible.</a:t>
            </a:r>
            <a:endParaRPr lang="en-US" sz="1550" dirty="0"/>
          </a:p>
        </p:txBody>
      </p:sp>
      <p:sp>
        <p:nvSpPr>
          <p:cNvPr id="17" name="Shape 15"/>
          <p:cNvSpPr/>
          <p:nvPr/>
        </p:nvSpPr>
        <p:spPr>
          <a:xfrm>
            <a:off x="0" y="6565392"/>
            <a:ext cx="12188952" cy="292608"/>
          </a:xfrm>
          <a:prstGeom prst="rect">
            <a:avLst/>
          </a:prstGeom>
          <a:solidFill>
            <a:srgbClr val="FFFFFF"/>
          </a:solidFill>
          <a:ln w="12700">
            <a:solidFill>
              <a:srgbClr val="C9E6F5"/>
            </a:solidFill>
            <a:prstDash val="solid"/>
          </a:ln>
        </p:spPr>
      </p:sp>
      <p:sp>
        <p:nvSpPr>
          <p:cNvPr id="18" name="Text 16"/>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19" name="Text 17"/>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Teacher Quick Assessment</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Use this to understand your students after Day 3.</a:t>
            </a:r>
            <a:endParaRPr lang="en-US" sz="1450" dirty="0"/>
          </a:p>
        </p:txBody>
      </p:sp>
      <p:sp>
        <p:nvSpPr>
          <p:cNvPr id="4" name="Shape 2"/>
          <p:cNvSpPr/>
          <p:nvPr/>
        </p:nvSpPr>
        <p:spPr>
          <a:xfrm>
            <a:off x="502920" y="1143000"/>
            <a:ext cx="2057400" cy="594360"/>
          </a:xfrm>
          <a:prstGeom prst="roundRect">
            <a:avLst>
              <a:gd name="adj" fmla="val 18462"/>
            </a:avLst>
          </a:prstGeom>
          <a:solidFill>
            <a:srgbClr val="173B57"/>
          </a:solidFill>
          <a:ln w="17780">
            <a:solidFill>
              <a:srgbClr val="173B57"/>
            </a:solidFill>
            <a:prstDash val="solid"/>
          </a:ln>
        </p:spPr>
      </p:sp>
      <p:sp>
        <p:nvSpPr>
          <p:cNvPr id="5" name="Text 3"/>
          <p:cNvSpPr/>
          <p:nvPr/>
        </p:nvSpPr>
        <p:spPr>
          <a:xfrm>
            <a:off x="640080" y="1261872"/>
            <a:ext cx="1783080" cy="39319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Student name</a:t>
            </a:r>
            <a:endParaRPr lang="en-US" sz="1250" dirty="0"/>
          </a:p>
        </p:txBody>
      </p:sp>
      <p:sp>
        <p:nvSpPr>
          <p:cNvPr id="6" name="Shape 4"/>
          <p:cNvSpPr/>
          <p:nvPr/>
        </p:nvSpPr>
        <p:spPr>
          <a:xfrm>
            <a:off x="2834640" y="1143000"/>
            <a:ext cx="2057400" cy="594360"/>
          </a:xfrm>
          <a:prstGeom prst="roundRect">
            <a:avLst>
              <a:gd name="adj" fmla="val 18462"/>
            </a:avLst>
          </a:prstGeom>
          <a:solidFill>
            <a:srgbClr val="173B57"/>
          </a:solidFill>
          <a:ln w="17780">
            <a:solidFill>
              <a:srgbClr val="173B57"/>
            </a:solidFill>
            <a:prstDash val="solid"/>
          </a:ln>
        </p:spPr>
      </p:sp>
      <p:sp>
        <p:nvSpPr>
          <p:cNvPr id="7" name="Text 5"/>
          <p:cNvSpPr/>
          <p:nvPr/>
        </p:nvSpPr>
        <p:spPr>
          <a:xfrm>
            <a:off x="2971800" y="1261872"/>
            <a:ext cx="1783080" cy="39319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Confidence</a:t>
            </a:r>
            <a:endParaRPr lang="en-US" sz="1250" dirty="0"/>
          </a:p>
        </p:txBody>
      </p:sp>
      <p:sp>
        <p:nvSpPr>
          <p:cNvPr id="8" name="Shape 6"/>
          <p:cNvSpPr/>
          <p:nvPr/>
        </p:nvSpPr>
        <p:spPr>
          <a:xfrm>
            <a:off x="5166360" y="1143000"/>
            <a:ext cx="2057400" cy="594360"/>
          </a:xfrm>
          <a:prstGeom prst="roundRect">
            <a:avLst>
              <a:gd name="adj" fmla="val 18462"/>
            </a:avLst>
          </a:prstGeom>
          <a:solidFill>
            <a:srgbClr val="173B57"/>
          </a:solidFill>
          <a:ln w="17780">
            <a:solidFill>
              <a:srgbClr val="173B57"/>
            </a:solidFill>
            <a:prstDash val="solid"/>
          </a:ln>
        </p:spPr>
      </p:sp>
      <p:sp>
        <p:nvSpPr>
          <p:cNvPr id="9" name="Text 7"/>
          <p:cNvSpPr/>
          <p:nvPr/>
        </p:nvSpPr>
        <p:spPr>
          <a:xfrm>
            <a:off x="5303520" y="1261872"/>
            <a:ext cx="1783080" cy="39319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Listening</a:t>
            </a:r>
            <a:endParaRPr lang="en-US" sz="1250" dirty="0"/>
          </a:p>
        </p:txBody>
      </p:sp>
      <p:sp>
        <p:nvSpPr>
          <p:cNvPr id="10" name="Shape 8"/>
          <p:cNvSpPr/>
          <p:nvPr/>
        </p:nvSpPr>
        <p:spPr>
          <a:xfrm>
            <a:off x="7498080" y="1143000"/>
            <a:ext cx="2057400" cy="594360"/>
          </a:xfrm>
          <a:prstGeom prst="roundRect">
            <a:avLst>
              <a:gd name="adj" fmla="val 18462"/>
            </a:avLst>
          </a:prstGeom>
          <a:solidFill>
            <a:srgbClr val="173B57"/>
          </a:solidFill>
          <a:ln w="17780">
            <a:solidFill>
              <a:srgbClr val="173B57"/>
            </a:solidFill>
            <a:prstDash val="solid"/>
          </a:ln>
        </p:spPr>
      </p:sp>
      <p:sp>
        <p:nvSpPr>
          <p:cNvPr id="11" name="Text 9"/>
          <p:cNvSpPr/>
          <p:nvPr/>
        </p:nvSpPr>
        <p:spPr>
          <a:xfrm>
            <a:off x="7635240" y="1261872"/>
            <a:ext cx="1783080" cy="39319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Kind description</a:t>
            </a:r>
            <a:endParaRPr lang="en-US" sz="1250" dirty="0"/>
          </a:p>
        </p:txBody>
      </p:sp>
      <p:sp>
        <p:nvSpPr>
          <p:cNvPr id="12" name="Shape 10"/>
          <p:cNvSpPr/>
          <p:nvPr/>
        </p:nvSpPr>
        <p:spPr>
          <a:xfrm>
            <a:off x="9829800" y="1143000"/>
            <a:ext cx="2057400" cy="594360"/>
          </a:xfrm>
          <a:prstGeom prst="roundRect">
            <a:avLst>
              <a:gd name="adj" fmla="val 18462"/>
            </a:avLst>
          </a:prstGeom>
          <a:solidFill>
            <a:srgbClr val="173B57"/>
          </a:solidFill>
          <a:ln w="17780">
            <a:solidFill>
              <a:srgbClr val="173B57"/>
            </a:solidFill>
            <a:prstDash val="solid"/>
          </a:ln>
        </p:spPr>
      </p:sp>
      <p:sp>
        <p:nvSpPr>
          <p:cNvPr id="13" name="Text 11"/>
          <p:cNvSpPr/>
          <p:nvPr/>
        </p:nvSpPr>
        <p:spPr>
          <a:xfrm>
            <a:off x="9966960" y="1261872"/>
            <a:ext cx="1783080" cy="39319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Needs support</a:t>
            </a:r>
            <a:endParaRPr lang="en-US" sz="1250" dirty="0"/>
          </a:p>
        </p:txBody>
      </p:sp>
      <p:sp>
        <p:nvSpPr>
          <p:cNvPr id="14" name="Shape 12"/>
          <p:cNvSpPr/>
          <p:nvPr/>
        </p:nvSpPr>
        <p:spPr>
          <a:xfrm>
            <a:off x="502920" y="1874520"/>
            <a:ext cx="2057400" cy="530352"/>
          </a:xfrm>
          <a:prstGeom prst="roundRect">
            <a:avLst>
              <a:gd name="adj" fmla="val 20690"/>
            </a:avLst>
          </a:prstGeom>
          <a:solidFill>
            <a:srgbClr val="DFF4FF"/>
          </a:solidFill>
          <a:ln w="17780">
            <a:solidFill>
              <a:srgbClr val="1C8DD8"/>
            </a:solidFill>
            <a:prstDash val="solid"/>
          </a:ln>
        </p:spPr>
      </p:sp>
      <p:sp>
        <p:nvSpPr>
          <p:cNvPr id="15" name="Text 13"/>
          <p:cNvSpPr/>
          <p:nvPr/>
        </p:nvSpPr>
        <p:spPr>
          <a:xfrm>
            <a:off x="640080" y="199339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16" name="Shape 14"/>
          <p:cNvSpPr/>
          <p:nvPr/>
        </p:nvSpPr>
        <p:spPr>
          <a:xfrm>
            <a:off x="2834640" y="1874520"/>
            <a:ext cx="2057400" cy="530352"/>
          </a:xfrm>
          <a:prstGeom prst="roundRect">
            <a:avLst>
              <a:gd name="adj" fmla="val 20690"/>
            </a:avLst>
          </a:prstGeom>
          <a:solidFill>
            <a:srgbClr val="DFF4FF"/>
          </a:solidFill>
          <a:ln w="17780">
            <a:solidFill>
              <a:srgbClr val="1C8DD8"/>
            </a:solidFill>
            <a:prstDash val="solid"/>
          </a:ln>
        </p:spPr>
      </p:sp>
      <p:sp>
        <p:nvSpPr>
          <p:cNvPr id="17" name="Text 15"/>
          <p:cNvSpPr/>
          <p:nvPr/>
        </p:nvSpPr>
        <p:spPr>
          <a:xfrm>
            <a:off x="2971800" y="199339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18" name="Shape 16"/>
          <p:cNvSpPr/>
          <p:nvPr/>
        </p:nvSpPr>
        <p:spPr>
          <a:xfrm>
            <a:off x="5166360" y="1874520"/>
            <a:ext cx="2057400" cy="530352"/>
          </a:xfrm>
          <a:prstGeom prst="roundRect">
            <a:avLst>
              <a:gd name="adj" fmla="val 20690"/>
            </a:avLst>
          </a:prstGeom>
          <a:solidFill>
            <a:srgbClr val="DFF4FF"/>
          </a:solidFill>
          <a:ln w="17780">
            <a:solidFill>
              <a:srgbClr val="1C8DD8"/>
            </a:solidFill>
            <a:prstDash val="solid"/>
          </a:ln>
        </p:spPr>
      </p:sp>
      <p:sp>
        <p:nvSpPr>
          <p:cNvPr id="19" name="Text 17"/>
          <p:cNvSpPr/>
          <p:nvPr/>
        </p:nvSpPr>
        <p:spPr>
          <a:xfrm>
            <a:off x="5303520" y="199339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20" name="Shape 18"/>
          <p:cNvSpPr/>
          <p:nvPr/>
        </p:nvSpPr>
        <p:spPr>
          <a:xfrm>
            <a:off x="7498080" y="1874520"/>
            <a:ext cx="2057400" cy="530352"/>
          </a:xfrm>
          <a:prstGeom prst="roundRect">
            <a:avLst>
              <a:gd name="adj" fmla="val 20690"/>
            </a:avLst>
          </a:prstGeom>
          <a:solidFill>
            <a:srgbClr val="DFF4FF"/>
          </a:solidFill>
          <a:ln w="17780">
            <a:solidFill>
              <a:srgbClr val="1C8DD8"/>
            </a:solidFill>
            <a:prstDash val="solid"/>
          </a:ln>
        </p:spPr>
      </p:sp>
      <p:sp>
        <p:nvSpPr>
          <p:cNvPr id="21" name="Text 19"/>
          <p:cNvSpPr/>
          <p:nvPr/>
        </p:nvSpPr>
        <p:spPr>
          <a:xfrm>
            <a:off x="7635240" y="199339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22" name="Shape 20"/>
          <p:cNvSpPr/>
          <p:nvPr/>
        </p:nvSpPr>
        <p:spPr>
          <a:xfrm>
            <a:off x="9829800" y="1874520"/>
            <a:ext cx="2057400" cy="530352"/>
          </a:xfrm>
          <a:prstGeom prst="roundRect">
            <a:avLst>
              <a:gd name="adj" fmla="val 20690"/>
            </a:avLst>
          </a:prstGeom>
          <a:solidFill>
            <a:srgbClr val="DFF4FF"/>
          </a:solidFill>
          <a:ln w="17780">
            <a:solidFill>
              <a:srgbClr val="1C8DD8"/>
            </a:solidFill>
            <a:prstDash val="solid"/>
          </a:ln>
        </p:spPr>
      </p:sp>
      <p:sp>
        <p:nvSpPr>
          <p:cNvPr id="23" name="Text 21"/>
          <p:cNvSpPr/>
          <p:nvPr/>
        </p:nvSpPr>
        <p:spPr>
          <a:xfrm>
            <a:off x="9966960" y="199339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24" name="Shape 22"/>
          <p:cNvSpPr/>
          <p:nvPr/>
        </p:nvSpPr>
        <p:spPr>
          <a:xfrm>
            <a:off x="502920" y="2606040"/>
            <a:ext cx="2057400" cy="530352"/>
          </a:xfrm>
          <a:prstGeom prst="roundRect">
            <a:avLst>
              <a:gd name="adj" fmla="val 20690"/>
            </a:avLst>
          </a:prstGeom>
          <a:solidFill>
            <a:srgbClr val="FFF4CC"/>
          </a:solidFill>
          <a:ln w="17780">
            <a:solidFill>
              <a:srgbClr val="FFD166"/>
            </a:solidFill>
            <a:prstDash val="solid"/>
          </a:ln>
        </p:spPr>
      </p:sp>
      <p:sp>
        <p:nvSpPr>
          <p:cNvPr id="25" name="Text 23"/>
          <p:cNvSpPr/>
          <p:nvPr/>
        </p:nvSpPr>
        <p:spPr>
          <a:xfrm>
            <a:off x="640080" y="272491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26" name="Shape 24"/>
          <p:cNvSpPr/>
          <p:nvPr/>
        </p:nvSpPr>
        <p:spPr>
          <a:xfrm>
            <a:off x="2834640" y="2606040"/>
            <a:ext cx="2057400" cy="530352"/>
          </a:xfrm>
          <a:prstGeom prst="roundRect">
            <a:avLst>
              <a:gd name="adj" fmla="val 20690"/>
            </a:avLst>
          </a:prstGeom>
          <a:solidFill>
            <a:srgbClr val="FFF4CC"/>
          </a:solidFill>
          <a:ln w="17780">
            <a:solidFill>
              <a:srgbClr val="FFD166"/>
            </a:solidFill>
            <a:prstDash val="solid"/>
          </a:ln>
        </p:spPr>
      </p:sp>
      <p:sp>
        <p:nvSpPr>
          <p:cNvPr id="27" name="Text 25"/>
          <p:cNvSpPr/>
          <p:nvPr/>
        </p:nvSpPr>
        <p:spPr>
          <a:xfrm>
            <a:off x="2971800" y="272491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28" name="Shape 26"/>
          <p:cNvSpPr/>
          <p:nvPr/>
        </p:nvSpPr>
        <p:spPr>
          <a:xfrm>
            <a:off x="5166360" y="2606040"/>
            <a:ext cx="2057400" cy="530352"/>
          </a:xfrm>
          <a:prstGeom prst="roundRect">
            <a:avLst>
              <a:gd name="adj" fmla="val 20690"/>
            </a:avLst>
          </a:prstGeom>
          <a:solidFill>
            <a:srgbClr val="FFF4CC"/>
          </a:solidFill>
          <a:ln w="17780">
            <a:solidFill>
              <a:srgbClr val="FFD166"/>
            </a:solidFill>
            <a:prstDash val="solid"/>
          </a:ln>
        </p:spPr>
      </p:sp>
      <p:sp>
        <p:nvSpPr>
          <p:cNvPr id="29" name="Text 27"/>
          <p:cNvSpPr/>
          <p:nvPr/>
        </p:nvSpPr>
        <p:spPr>
          <a:xfrm>
            <a:off x="5303520" y="272491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30" name="Shape 28"/>
          <p:cNvSpPr/>
          <p:nvPr/>
        </p:nvSpPr>
        <p:spPr>
          <a:xfrm>
            <a:off x="7498080" y="2606040"/>
            <a:ext cx="2057400" cy="530352"/>
          </a:xfrm>
          <a:prstGeom prst="roundRect">
            <a:avLst>
              <a:gd name="adj" fmla="val 20690"/>
            </a:avLst>
          </a:prstGeom>
          <a:solidFill>
            <a:srgbClr val="FFF4CC"/>
          </a:solidFill>
          <a:ln w="17780">
            <a:solidFill>
              <a:srgbClr val="FFD166"/>
            </a:solidFill>
            <a:prstDash val="solid"/>
          </a:ln>
        </p:spPr>
      </p:sp>
      <p:sp>
        <p:nvSpPr>
          <p:cNvPr id="31" name="Text 29"/>
          <p:cNvSpPr/>
          <p:nvPr/>
        </p:nvSpPr>
        <p:spPr>
          <a:xfrm>
            <a:off x="7635240" y="272491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32" name="Shape 30"/>
          <p:cNvSpPr/>
          <p:nvPr/>
        </p:nvSpPr>
        <p:spPr>
          <a:xfrm>
            <a:off x="9829800" y="2606040"/>
            <a:ext cx="2057400" cy="530352"/>
          </a:xfrm>
          <a:prstGeom prst="roundRect">
            <a:avLst>
              <a:gd name="adj" fmla="val 20690"/>
            </a:avLst>
          </a:prstGeom>
          <a:solidFill>
            <a:srgbClr val="FFF4CC"/>
          </a:solidFill>
          <a:ln w="17780">
            <a:solidFill>
              <a:srgbClr val="FFD166"/>
            </a:solidFill>
            <a:prstDash val="solid"/>
          </a:ln>
        </p:spPr>
      </p:sp>
      <p:sp>
        <p:nvSpPr>
          <p:cNvPr id="33" name="Text 31"/>
          <p:cNvSpPr/>
          <p:nvPr/>
        </p:nvSpPr>
        <p:spPr>
          <a:xfrm>
            <a:off x="9966960" y="272491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34" name="Shape 32"/>
          <p:cNvSpPr/>
          <p:nvPr/>
        </p:nvSpPr>
        <p:spPr>
          <a:xfrm>
            <a:off x="502920" y="3337560"/>
            <a:ext cx="2057400" cy="530352"/>
          </a:xfrm>
          <a:prstGeom prst="roundRect">
            <a:avLst>
              <a:gd name="adj" fmla="val 20690"/>
            </a:avLst>
          </a:prstGeom>
          <a:solidFill>
            <a:srgbClr val="DFF4FF"/>
          </a:solidFill>
          <a:ln w="17780">
            <a:solidFill>
              <a:srgbClr val="1C8DD8"/>
            </a:solidFill>
            <a:prstDash val="solid"/>
          </a:ln>
        </p:spPr>
      </p:sp>
      <p:sp>
        <p:nvSpPr>
          <p:cNvPr id="35" name="Text 33"/>
          <p:cNvSpPr/>
          <p:nvPr/>
        </p:nvSpPr>
        <p:spPr>
          <a:xfrm>
            <a:off x="640080" y="345643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36" name="Shape 34"/>
          <p:cNvSpPr/>
          <p:nvPr/>
        </p:nvSpPr>
        <p:spPr>
          <a:xfrm>
            <a:off x="2834640" y="3337560"/>
            <a:ext cx="2057400" cy="530352"/>
          </a:xfrm>
          <a:prstGeom prst="roundRect">
            <a:avLst>
              <a:gd name="adj" fmla="val 20690"/>
            </a:avLst>
          </a:prstGeom>
          <a:solidFill>
            <a:srgbClr val="DFF4FF"/>
          </a:solidFill>
          <a:ln w="17780">
            <a:solidFill>
              <a:srgbClr val="1C8DD8"/>
            </a:solidFill>
            <a:prstDash val="solid"/>
          </a:ln>
        </p:spPr>
      </p:sp>
      <p:sp>
        <p:nvSpPr>
          <p:cNvPr id="37" name="Text 35"/>
          <p:cNvSpPr/>
          <p:nvPr/>
        </p:nvSpPr>
        <p:spPr>
          <a:xfrm>
            <a:off x="2971800" y="345643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38" name="Shape 36"/>
          <p:cNvSpPr/>
          <p:nvPr/>
        </p:nvSpPr>
        <p:spPr>
          <a:xfrm>
            <a:off x="5166360" y="3337560"/>
            <a:ext cx="2057400" cy="530352"/>
          </a:xfrm>
          <a:prstGeom prst="roundRect">
            <a:avLst>
              <a:gd name="adj" fmla="val 20690"/>
            </a:avLst>
          </a:prstGeom>
          <a:solidFill>
            <a:srgbClr val="DFF4FF"/>
          </a:solidFill>
          <a:ln w="17780">
            <a:solidFill>
              <a:srgbClr val="1C8DD8"/>
            </a:solidFill>
            <a:prstDash val="solid"/>
          </a:ln>
        </p:spPr>
      </p:sp>
      <p:sp>
        <p:nvSpPr>
          <p:cNvPr id="39" name="Text 37"/>
          <p:cNvSpPr/>
          <p:nvPr/>
        </p:nvSpPr>
        <p:spPr>
          <a:xfrm>
            <a:off x="5303520" y="345643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40" name="Shape 38"/>
          <p:cNvSpPr/>
          <p:nvPr/>
        </p:nvSpPr>
        <p:spPr>
          <a:xfrm>
            <a:off x="7498080" y="3337560"/>
            <a:ext cx="2057400" cy="530352"/>
          </a:xfrm>
          <a:prstGeom prst="roundRect">
            <a:avLst>
              <a:gd name="adj" fmla="val 20690"/>
            </a:avLst>
          </a:prstGeom>
          <a:solidFill>
            <a:srgbClr val="DFF4FF"/>
          </a:solidFill>
          <a:ln w="17780">
            <a:solidFill>
              <a:srgbClr val="1C8DD8"/>
            </a:solidFill>
            <a:prstDash val="solid"/>
          </a:ln>
        </p:spPr>
      </p:sp>
      <p:sp>
        <p:nvSpPr>
          <p:cNvPr id="41" name="Text 39"/>
          <p:cNvSpPr/>
          <p:nvPr/>
        </p:nvSpPr>
        <p:spPr>
          <a:xfrm>
            <a:off x="7635240" y="345643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42" name="Shape 40"/>
          <p:cNvSpPr/>
          <p:nvPr/>
        </p:nvSpPr>
        <p:spPr>
          <a:xfrm>
            <a:off x="9829800" y="3337560"/>
            <a:ext cx="2057400" cy="530352"/>
          </a:xfrm>
          <a:prstGeom prst="roundRect">
            <a:avLst>
              <a:gd name="adj" fmla="val 20690"/>
            </a:avLst>
          </a:prstGeom>
          <a:solidFill>
            <a:srgbClr val="DFF4FF"/>
          </a:solidFill>
          <a:ln w="17780">
            <a:solidFill>
              <a:srgbClr val="1C8DD8"/>
            </a:solidFill>
            <a:prstDash val="solid"/>
          </a:ln>
        </p:spPr>
      </p:sp>
      <p:sp>
        <p:nvSpPr>
          <p:cNvPr id="43" name="Text 41"/>
          <p:cNvSpPr/>
          <p:nvPr/>
        </p:nvSpPr>
        <p:spPr>
          <a:xfrm>
            <a:off x="9966960" y="345643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44" name="Shape 42"/>
          <p:cNvSpPr/>
          <p:nvPr/>
        </p:nvSpPr>
        <p:spPr>
          <a:xfrm>
            <a:off x="502920" y="4069080"/>
            <a:ext cx="2057400" cy="530352"/>
          </a:xfrm>
          <a:prstGeom prst="roundRect">
            <a:avLst>
              <a:gd name="adj" fmla="val 20690"/>
            </a:avLst>
          </a:prstGeom>
          <a:solidFill>
            <a:srgbClr val="FFF4CC"/>
          </a:solidFill>
          <a:ln w="17780">
            <a:solidFill>
              <a:srgbClr val="FFD166"/>
            </a:solidFill>
            <a:prstDash val="solid"/>
          </a:ln>
        </p:spPr>
      </p:sp>
      <p:sp>
        <p:nvSpPr>
          <p:cNvPr id="45" name="Text 43"/>
          <p:cNvSpPr/>
          <p:nvPr/>
        </p:nvSpPr>
        <p:spPr>
          <a:xfrm>
            <a:off x="640080" y="418795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46" name="Shape 44"/>
          <p:cNvSpPr/>
          <p:nvPr/>
        </p:nvSpPr>
        <p:spPr>
          <a:xfrm>
            <a:off x="2834640" y="4069080"/>
            <a:ext cx="2057400" cy="530352"/>
          </a:xfrm>
          <a:prstGeom prst="roundRect">
            <a:avLst>
              <a:gd name="adj" fmla="val 20690"/>
            </a:avLst>
          </a:prstGeom>
          <a:solidFill>
            <a:srgbClr val="FFF4CC"/>
          </a:solidFill>
          <a:ln w="17780">
            <a:solidFill>
              <a:srgbClr val="FFD166"/>
            </a:solidFill>
            <a:prstDash val="solid"/>
          </a:ln>
        </p:spPr>
      </p:sp>
      <p:sp>
        <p:nvSpPr>
          <p:cNvPr id="47" name="Text 45"/>
          <p:cNvSpPr/>
          <p:nvPr/>
        </p:nvSpPr>
        <p:spPr>
          <a:xfrm>
            <a:off x="2971800" y="418795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48" name="Shape 46"/>
          <p:cNvSpPr/>
          <p:nvPr/>
        </p:nvSpPr>
        <p:spPr>
          <a:xfrm>
            <a:off x="5166360" y="4069080"/>
            <a:ext cx="2057400" cy="530352"/>
          </a:xfrm>
          <a:prstGeom prst="roundRect">
            <a:avLst>
              <a:gd name="adj" fmla="val 20690"/>
            </a:avLst>
          </a:prstGeom>
          <a:solidFill>
            <a:srgbClr val="FFF4CC"/>
          </a:solidFill>
          <a:ln w="17780">
            <a:solidFill>
              <a:srgbClr val="FFD166"/>
            </a:solidFill>
            <a:prstDash val="solid"/>
          </a:ln>
        </p:spPr>
      </p:sp>
      <p:sp>
        <p:nvSpPr>
          <p:cNvPr id="49" name="Text 47"/>
          <p:cNvSpPr/>
          <p:nvPr/>
        </p:nvSpPr>
        <p:spPr>
          <a:xfrm>
            <a:off x="5303520" y="418795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50" name="Shape 48"/>
          <p:cNvSpPr/>
          <p:nvPr/>
        </p:nvSpPr>
        <p:spPr>
          <a:xfrm>
            <a:off x="7498080" y="4069080"/>
            <a:ext cx="2057400" cy="530352"/>
          </a:xfrm>
          <a:prstGeom prst="roundRect">
            <a:avLst>
              <a:gd name="adj" fmla="val 20690"/>
            </a:avLst>
          </a:prstGeom>
          <a:solidFill>
            <a:srgbClr val="FFF4CC"/>
          </a:solidFill>
          <a:ln w="17780">
            <a:solidFill>
              <a:srgbClr val="FFD166"/>
            </a:solidFill>
            <a:prstDash val="solid"/>
          </a:ln>
        </p:spPr>
      </p:sp>
      <p:sp>
        <p:nvSpPr>
          <p:cNvPr id="51" name="Text 49"/>
          <p:cNvSpPr/>
          <p:nvPr/>
        </p:nvSpPr>
        <p:spPr>
          <a:xfrm>
            <a:off x="7635240" y="418795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52" name="Shape 50"/>
          <p:cNvSpPr/>
          <p:nvPr/>
        </p:nvSpPr>
        <p:spPr>
          <a:xfrm>
            <a:off x="9829800" y="4069080"/>
            <a:ext cx="2057400" cy="530352"/>
          </a:xfrm>
          <a:prstGeom prst="roundRect">
            <a:avLst>
              <a:gd name="adj" fmla="val 20690"/>
            </a:avLst>
          </a:prstGeom>
          <a:solidFill>
            <a:srgbClr val="FFF4CC"/>
          </a:solidFill>
          <a:ln w="17780">
            <a:solidFill>
              <a:srgbClr val="FFD166"/>
            </a:solidFill>
            <a:prstDash val="solid"/>
          </a:ln>
        </p:spPr>
      </p:sp>
      <p:sp>
        <p:nvSpPr>
          <p:cNvPr id="53" name="Text 51"/>
          <p:cNvSpPr/>
          <p:nvPr/>
        </p:nvSpPr>
        <p:spPr>
          <a:xfrm>
            <a:off x="9966960" y="418795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54" name="Shape 52"/>
          <p:cNvSpPr/>
          <p:nvPr/>
        </p:nvSpPr>
        <p:spPr>
          <a:xfrm>
            <a:off x="502920" y="4800600"/>
            <a:ext cx="2057400" cy="530352"/>
          </a:xfrm>
          <a:prstGeom prst="roundRect">
            <a:avLst>
              <a:gd name="adj" fmla="val 20690"/>
            </a:avLst>
          </a:prstGeom>
          <a:solidFill>
            <a:srgbClr val="DFF4FF"/>
          </a:solidFill>
          <a:ln w="17780">
            <a:solidFill>
              <a:srgbClr val="1C8DD8"/>
            </a:solidFill>
            <a:prstDash val="solid"/>
          </a:ln>
        </p:spPr>
      </p:sp>
      <p:sp>
        <p:nvSpPr>
          <p:cNvPr id="55" name="Text 53"/>
          <p:cNvSpPr/>
          <p:nvPr/>
        </p:nvSpPr>
        <p:spPr>
          <a:xfrm>
            <a:off x="640080" y="491947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56" name="Shape 54"/>
          <p:cNvSpPr/>
          <p:nvPr/>
        </p:nvSpPr>
        <p:spPr>
          <a:xfrm>
            <a:off x="2834640" y="4800600"/>
            <a:ext cx="2057400" cy="530352"/>
          </a:xfrm>
          <a:prstGeom prst="roundRect">
            <a:avLst>
              <a:gd name="adj" fmla="val 20690"/>
            </a:avLst>
          </a:prstGeom>
          <a:solidFill>
            <a:srgbClr val="DFF4FF"/>
          </a:solidFill>
          <a:ln w="17780">
            <a:solidFill>
              <a:srgbClr val="1C8DD8"/>
            </a:solidFill>
            <a:prstDash val="solid"/>
          </a:ln>
        </p:spPr>
      </p:sp>
      <p:sp>
        <p:nvSpPr>
          <p:cNvPr id="57" name="Text 55"/>
          <p:cNvSpPr/>
          <p:nvPr/>
        </p:nvSpPr>
        <p:spPr>
          <a:xfrm>
            <a:off x="2971800" y="491947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58" name="Shape 56"/>
          <p:cNvSpPr/>
          <p:nvPr/>
        </p:nvSpPr>
        <p:spPr>
          <a:xfrm>
            <a:off x="5166360" y="4800600"/>
            <a:ext cx="2057400" cy="530352"/>
          </a:xfrm>
          <a:prstGeom prst="roundRect">
            <a:avLst>
              <a:gd name="adj" fmla="val 20690"/>
            </a:avLst>
          </a:prstGeom>
          <a:solidFill>
            <a:srgbClr val="DFF4FF"/>
          </a:solidFill>
          <a:ln w="17780">
            <a:solidFill>
              <a:srgbClr val="1C8DD8"/>
            </a:solidFill>
            <a:prstDash val="solid"/>
          </a:ln>
        </p:spPr>
      </p:sp>
      <p:sp>
        <p:nvSpPr>
          <p:cNvPr id="59" name="Text 57"/>
          <p:cNvSpPr/>
          <p:nvPr/>
        </p:nvSpPr>
        <p:spPr>
          <a:xfrm>
            <a:off x="5303520" y="491947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60" name="Shape 58"/>
          <p:cNvSpPr/>
          <p:nvPr/>
        </p:nvSpPr>
        <p:spPr>
          <a:xfrm>
            <a:off x="7498080" y="4800600"/>
            <a:ext cx="2057400" cy="530352"/>
          </a:xfrm>
          <a:prstGeom prst="roundRect">
            <a:avLst>
              <a:gd name="adj" fmla="val 20690"/>
            </a:avLst>
          </a:prstGeom>
          <a:solidFill>
            <a:srgbClr val="DFF4FF"/>
          </a:solidFill>
          <a:ln w="17780">
            <a:solidFill>
              <a:srgbClr val="1C8DD8"/>
            </a:solidFill>
            <a:prstDash val="solid"/>
          </a:ln>
        </p:spPr>
      </p:sp>
      <p:sp>
        <p:nvSpPr>
          <p:cNvPr id="61" name="Text 59"/>
          <p:cNvSpPr/>
          <p:nvPr/>
        </p:nvSpPr>
        <p:spPr>
          <a:xfrm>
            <a:off x="7635240" y="491947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62" name="Shape 60"/>
          <p:cNvSpPr/>
          <p:nvPr/>
        </p:nvSpPr>
        <p:spPr>
          <a:xfrm>
            <a:off x="9829800" y="4800600"/>
            <a:ext cx="2057400" cy="530352"/>
          </a:xfrm>
          <a:prstGeom prst="roundRect">
            <a:avLst>
              <a:gd name="adj" fmla="val 20690"/>
            </a:avLst>
          </a:prstGeom>
          <a:solidFill>
            <a:srgbClr val="DFF4FF"/>
          </a:solidFill>
          <a:ln w="17780">
            <a:solidFill>
              <a:srgbClr val="1C8DD8"/>
            </a:solidFill>
            <a:prstDash val="solid"/>
          </a:ln>
        </p:spPr>
      </p:sp>
      <p:sp>
        <p:nvSpPr>
          <p:cNvPr id="63" name="Text 61"/>
          <p:cNvSpPr/>
          <p:nvPr/>
        </p:nvSpPr>
        <p:spPr>
          <a:xfrm>
            <a:off x="9966960" y="4919472"/>
            <a:ext cx="1783080" cy="329184"/>
          </a:xfrm>
          <a:prstGeom prst="rect">
            <a:avLst/>
          </a:prstGeom>
          <a:noFill/>
          <a:ln/>
        </p:spPr>
        <p:txBody>
          <a:bodyPr wrap="square" lIns="0" tIns="0" rIns="0" bIns="0" rtlCol="0" anchor="ctr">
            <a:normAutofit/>
          </a:bodyPr>
          <a:lstStyle/>
          <a:p>
            <a:pPr algn="ctr" indent="0" marL="0">
              <a:buNone/>
            </a:pPr>
            <a:endParaRPr lang="en-US" sz="1000" dirty="0"/>
          </a:p>
        </p:txBody>
      </p:sp>
      <p:sp>
        <p:nvSpPr>
          <p:cNvPr id="64" name="Text 62"/>
          <p:cNvSpPr/>
          <p:nvPr/>
        </p:nvSpPr>
        <p:spPr>
          <a:xfrm>
            <a:off x="914400" y="5760720"/>
            <a:ext cx="10332720" cy="320040"/>
          </a:xfrm>
          <a:prstGeom prst="rect">
            <a:avLst/>
          </a:prstGeom>
          <a:noFill/>
          <a:ln/>
        </p:spPr>
        <p:txBody>
          <a:bodyPr wrap="square" lIns="0" tIns="0" rIns="0" bIns="0" rtlCol="0" anchor="ctr">
            <a:normAutofit/>
          </a:bodyPr>
          <a:lstStyle/>
          <a:p>
            <a:pPr algn="ctr" indent="0" marL="0">
              <a:buNone/>
            </a:pPr>
            <a:r>
              <a:rPr lang="en-US" sz="1450" b="1" dirty="0">
                <a:solidFill>
                  <a:srgbClr val="5E6B73"/>
                </a:solidFill>
                <a:latin typeface="Aptos" pitchFamily="34" charset="0"/>
                <a:ea typeface="Aptos" pitchFamily="34" charset="-122"/>
                <a:cs typeface="Aptos" pitchFamily="34" charset="-120"/>
              </a:rPr>
              <a:t>After class, note who needs more family vocabulary, who can model, and who needs confidence support.</a:t>
            </a:r>
            <a:endParaRPr lang="en-US" sz="1450" dirty="0"/>
          </a:p>
        </p:txBody>
      </p:sp>
      <p:sp>
        <p:nvSpPr>
          <p:cNvPr id="65" name="Shape 63"/>
          <p:cNvSpPr/>
          <p:nvPr/>
        </p:nvSpPr>
        <p:spPr>
          <a:xfrm>
            <a:off x="0" y="6565392"/>
            <a:ext cx="12188952" cy="292608"/>
          </a:xfrm>
          <a:prstGeom prst="rect">
            <a:avLst/>
          </a:prstGeom>
          <a:solidFill>
            <a:srgbClr val="FFFFFF"/>
          </a:solidFill>
          <a:ln w="12700">
            <a:solidFill>
              <a:srgbClr val="C9E6F5"/>
            </a:solidFill>
            <a:prstDash val="solid"/>
          </a:ln>
        </p:spPr>
      </p:sp>
      <p:sp>
        <p:nvSpPr>
          <p:cNvPr id="66" name="Text 64"/>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67" name="Text 65"/>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Printable Cards: Family Words</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Print this slide and cut into cards.</a:t>
            </a:r>
            <a:endParaRPr lang="en-US" sz="1450" dirty="0"/>
          </a:p>
        </p:txBody>
      </p:sp>
      <p:sp>
        <p:nvSpPr>
          <p:cNvPr id="4" name="Shape 2"/>
          <p:cNvSpPr/>
          <p:nvPr/>
        </p:nvSpPr>
        <p:spPr>
          <a:xfrm>
            <a:off x="731520" y="1234440"/>
            <a:ext cx="3337560" cy="1097280"/>
          </a:xfrm>
          <a:prstGeom prst="roundRect">
            <a:avLst>
              <a:gd name="adj" fmla="val 10000"/>
            </a:avLst>
          </a:prstGeom>
          <a:solidFill>
            <a:srgbClr val="DFF4FF"/>
          </a:solidFill>
          <a:ln w="17780">
            <a:solidFill>
              <a:srgbClr val="1C8DD8"/>
            </a:solidFill>
            <a:prstDash val="solid"/>
          </a:ln>
        </p:spPr>
      </p:sp>
      <p:sp>
        <p:nvSpPr>
          <p:cNvPr id="5" name="Text 3"/>
          <p:cNvSpPr/>
          <p:nvPr/>
        </p:nvSpPr>
        <p:spPr>
          <a:xfrm>
            <a:off x="868680" y="13441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417320" y="138074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mother</a:t>
            </a:r>
            <a:endParaRPr lang="en-US" sz="1800" dirty="0"/>
          </a:p>
        </p:txBody>
      </p:sp>
      <p:sp>
        <p:nvSpPr>
          <p:cNvPr id="7" name="Shape 5"/>
          <p:cNvSpPr/>
          <p:nvPr/>
        </p:nvSpPr>
        <p:spPr>
          <a:xfrm>
            <a:off x="4498848" y="1234440"/>
            <a:ext cx="3337560" cy="1097280"/>
          </a:xfrm>
          <a:prstGeom prst="roundRect">
            <a:avLst>
              <a:gd name="adj" fmla="val 10000"/>
            </a:avLst>
          </a:prstGeom>
          <a:solidFill>
            <a:srgbClr val="FFF4CC"/>
          </a:solidFill>
          <a:ln w="17780">
            <a:solidFill>
              <a:srgbClr val="FFD166"/>
            </a:solidFill>
            <a:prstDash val="solid"/>
          </a:ln>
        </p:spPr>
      </p:sp>
      <p:sp>
        <p:nvSpPr>
          <p:cNvPr id="8" name="Text 6"/>
          <p:cNvSpPr/>
          <p:nvPr/>
        </p:nvSpPr>
        <p:spPr>
          <a:xfrm>
            <a:off x="4636008" y="13441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9" name="Text 7"/>
          <p:cNvSpPr/>
          <p:nvPr/>
        </p:nvSpPr>
        <p:spPr>
          <a:xfrm>
            <a:off x="5184648" y="138074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father</a:t>
            </a:r>
            <a:endParaRPr lang="en-US" sz="1800" dirty="0"/>
          </a:p>
        </p:txBody>
      </p:sp>
      <p:sp>
        <p:nvSpPr>
          <p:cNvPr id="10" name="Shape 8"/>
          <p:cNvSpPr/>
          <p:nvPr/>
        </p:nvSpPr>
        <p:spPr>
          <a:xfrm>
            <a:off x="8266176" y="1234440"/>
            <a:ext cx="3337560" cy="1097280"/>
          </a:xfrm>
          <a:prstGeom prst="roundRect">
            <a:avLst>
              <a:gd name="adj" fmla="val 10000"/>
            </a:avLst>
          </a:prstGeom>
          <a:solidFill>
            <a:srgbClr val="DFF4FF"/>
          </a:solidFill>
          <a:ln w="17780">
            <a:solidFill>
              <a:srgbClr val="1C8DD8"/>
            </a:solidFill>
            <a:prstDash val="solid"/>
          </a:ln>
        </p:spPr>
      </p:sp>
      <p:sp>
        <p:nvSpPr>
          <p:cNvPr id="11" name="Text 9"/>
          <p:cNvSpPr/>
          <p:nvPr/>
        </p:nvSpPr>
        <p:spPr>
          <a:xfrm>
            <a:off x="8403336" y="134416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Text 10"/>
          <p:cNvSpPr/>
          <p:nvPr/>
        </p:nvSpPr>
        <p:spPr>
          <a:xfrm>
            <a:off x="8951976" y="138074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sister</a:t>
            </a:r>
            <a:endParaRPr lang="en-US" sz="1800" dirty="0"/>
          </a:p>
        </p:txBody>
      </p:sp>
      <p:sp>
        <p:nvSpPr>
          <p:cNvPr id="13" name="Shape 11"/>
          <p:cNvSpPr/>
          <p:nvPr/>
        </p:nvSpPr>
        <p:spPr>
          <a:xfrm>
            <a:off x="731520" y="2743200"/>
            <a:ext cx="3337560" cy="1097280"/>
          </a:xfrm>
          <a:prstGeom prst="roundRect">
            <a:avLst>
              <a:gd name="adj" fmla="val 10000"/>
            </a:avLst>
          </a:prstGeom>
          <a:solidFill>
            <a:srgbClr val="FFF4CC"/>
          </a:solidFill>
          <a:ln w="17780">
            <a:solidFill>
              <a:srgbClr val="FFD166"/>
            </a:solidFill>
            <a:prstDash val="solid"/>
          </a:ln>
        </p:spPr>
      </p:sp>
      <p:sp>
        <p:nvSpPr>
          <p:cNvPr id="14" name="Text 12"/>
          <p:cNvSpPr/>
          <p:nvPr/>
        </p:nvSpPr>
        <p:spPr>
          <a:xfrm>
            <a:off x="868680"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5" name="Text 13"/>
          <p:cNvSpPr/>
          <p:nvPr/>
        </p:nvSpPr>
        <p:spPr>
          <a:xfrm>
            <a:off x="1417320" y="288950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brother</a:t>
            </a:r>
            <a:endParaRPr lang="en-US" sz="1800" dirty="0"/>
          </a:p>
        </p:txBody>
      </p:sp>
      <p:sp>
        <p:nvSpPr>
          <p:cNvPr id="16" name="Shape 14"/>
          <p:cNvSpPr/>
          <p:nvPr/>
        </p:nvSpPr>
        <p:spPr>
          <a:xfrm>
            <a:off x="4498848" y="2743200"/>
            <a:ext cx="3337560" cy="1097280"/>
          </a:xfrm>
          <a:prstGeom prst="roundRect">
            <a:avLst>
              <a:gd name="adj" fmla="val 10000"/>
            </a:avLst>
          </a:prstGeom>
          <a:solidFill>
            <a:srgbClr val="DFF4FF"/>
          </a:solidFill>
          <a:ln w="17780">
            <a:solidFill>
              <a:srgbClr val="1C8DD8"/>
            </a:solidFill>
            <a:prstDash val="solid"/>
          </a:ln>
        </p:spPr>
      </p:sp>
      <p:sp>
        <p:nvSpPr>
          <p:cNvPr id="17" name="Text 15"/>
          <p:cNvSpPr/>
          <p:nvPr/>
        </p:nvSpPr>
        <p:spPr>
          <a:xfrm>
            <a:off x="4636008"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5184648" y="288950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grandmother</a:t>
            </a:r>
            <a:endParaRPr lang="en-US" sz="1800" dirty="0"/>
          </a:p>
        </p:txBody>
      </p:sp>
      <p:sp>
        <p:nvSpPr>
          <p:cNvPr id="19" name="Shape 17"/>
          <p:cNvSpPr/>
          <p:nvPr/>
        </p:nvSpPr>
        <p:spPr>
          <a:xfrm>
            <a:off x="8266176" y="2743200"/>
            <a:ext cx="3337560" cy="1097280"/>
          </a:xfrm>
          <a:prstGeom prst="roundRect">
            <a:avLst>
              <a:gd name="adj" fmla="val 10000"/>
            </a:avLst>
          </a:prstGeom>
          <a:solidFill>
            <a:srgbClr val="FFF4CC"/>
          </a:solidFill>
          <a:ln w="17780">
            <a:solidFill>
              <a:srgbClr val="FFD166"/>
            </a:solidFill>
            <a:prstDash val="solid"/>
          </a:ln>
        </p:spPr>
      </p:sp>
      <p:sp>
        <p:nvSpPr>
          <p:cNvPr id="20" name="Text 18"/>
          <p:cNvSpPr/>
          <p:nvPr/>
        </p:nvSpPr>
        <p:spPr>
          <a:xfrm>
            <a:off x="8403336" y="285292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1" name="Text 19"/>
          <p:cNvSpPr/>
          <p:nvPr/>
        </p:nvSpPr>
        <p:spPr>
          <a:xfrm>
            <a:off x="8951976" y="288950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grandfather</a:t>
            </a:r>
            <a:endParaRPr lang="en-US" sz="1800" dirty="0"/>
          </a:p>
        </p:txBody>
      </p:sp>
      <p:sp>
        <p:nvSpPr>
          <p:cNvPr id="22" name="Shape 20"/>
          <p:cNvSpPr/>
          <p:nvPr/>
        </p:nvSpPr>
        <p:spPr>
          <a:xfrm>
            <a:off x="731520" y="4251960"/>
            <a:ext cx="3337560" cy="1097280"/>
          </a:xfrm>
          <a:prstGeom prst="roundRect">
            <a:avLst>
              <a:gd name="adj" fmla="val 10000"/>
            </a:avLst>
          </a:prstGeom>
          <a:solidFill>
            <a:srgbClr val="DFF4FF"/>
          </a:solidFill>
          <a:ln w="17780">
            <a:solidFill>
              <a:srgbClr val="1C8DD8"/>
            </a:solidFill>
            <a:prstDash val="solid"/>
          </a:ln>
        </p:spPr>
      </p:sp>
      <p:sp>
        <p:nvSpPr>
          <p:cNvPr id="23" name="Text 21"/>
          <p:cNvSpPr/>
          <p:nvPr/>
        </p:nvSpPr>
        <p:spPr>
          <a:xfrm>
            <a:off x="868680" y="43616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4" name="Text 22"/>
          <p:cNvSpPr/>
          <p:nvPr/>
        </p:nvSpPr>
        <p:spPr>
          <a:xfrm>
            <a:off x="1417320" y="439826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aunt</a:t>
            </a:r>
            <a:endParaRPr lang="en-US" sz="1800" dirty="0"/>
          </a:p>
        </p:txBody>
      </p:sp>
      <p:sp>
        <p:nvSpPr>
          <p:cNvPr id="25" name="Shape 23"/>
          <p:cNvSpPr/>
          <p:nvPr/>
        </p:nvSpPr>
        <p:spPr>
          <a:xfrm>
            <a:off x="4498848" y="4251960"/>
            <a:ext cx="3337560" cy="1097280"/>
          </a:xfrm>
          <a:prstGeom prst="roundRect">
            <a:avLst>
              <a:gd name="adj" fmla="val 10000"/>
            </a:avLst>
          </a:prstGeom>
          <a:solidFill>
            <a:srgbClr val="FFF4CC"/>
          </a:solidFill>
          <a:ln w="17780">
            <a:solidFill>
              <a:srgbClr val="FFD166"/>
            </a:solidFill>
            <a:prstDash val="solid"/>
          </a:ln>
        </p:spPr>
      </p:sp>
      <p:sp>
        <p:nvSpPr>
          <p:cNvPr id="26" name="Text 24"/>
          <p:cNvSpPr/>
          <p:nvPr/>
        </p:nvSpPr>
        <p:spPr>
          <a:xfrm>
            <a:off x="4636008" y="43616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7" name="Text 25"/>
          <p:cNvSpPr/>
          <p:nvPr/>
        </p:nvSpPr>
        <p:spPr>
          <a:xfrm>
            <a:off x="5184648" y="439826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uncle</a:t>
            </a:r>
            <a:endParaRPr lang="en-US" sz="1800" dirty="0"/>
          </a:p>
        </p:txBody>
      </p:sp>
      <p:sp>
        <p:nvSpPr>
          <p:cNvPr id="28" name="Shape 26"/>
          <p:cNvSpPr/>
          <p:nvPr/>
        </p:nvSpPr>
        <p:spPr>
          <a:xfrm>
            <a:off x="8266176" y="4251960"/>
            <a:ext cx="3337560" cy="1097280"/>
          </a:xfrm>
          <a:prstGeom prst="roundRect">
            <a:avLst>
              <a:gd name="adj" fmla="val 10000"/>
            </a:avLst>
          </a:prstGeom>
          <a:solidFill>
            <a:srgbClr val="DFF4FF"/>
          </a:solidFill>
          <a:ln w="17780">
            <a:solidFill>
              <a:srgbClr val="1C8DD8"/>
            </a:solidFill>
            <a:prstDash val="solid"/>
          </a:ln>
        </p:spPr>
      </p:sp>
      <p:sp>
        <p:nvSpPr>
          <p:cNvPr id="29" name="Text 27"/>
          <p:cNvSpPr/>
          <p:nvPr/>
        </p:nvSpPr>
        <p:spPr>
          <a:xfrm>
            <a:off x="8403336" y="43616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30" name="Text 28"/>
          <p:cNvSpPr/>
          <p:nvPr/>
        </p:nvSpPr>
        <p:spPr>
          <a:xfrm>
            <a:off x="8951976" y="4398264"/>
            <a:ext cx="2468880" cy="310896"/>
          </a:xfrm>
          <a:prstGeom prst="rect">
            <a:avLst/>
          </a:prstGeom>
          <a:noFill/>
          <a:ln/>
        </p:spPr>
        <p:txBody>
          <a:bodyPr wrap="square" lIns="0" tIns="0" rIns="0" bIns="0" rtlCol="0" anchor="ctr">
            <a:normAutofit/>
          </a:bodyPr>
          <a:lstStyle/>
          <a:p>
            <a:pPr indent="0" marL="0">
              <a:buNone/>
            </a:pPr>
            <a:r>
              <a:rPr lang="en-US" sz="1800" b="1" dirty="0">
                <a:solidFill>
                  <a:srgbClr val="173B57"/>
                </a:solidFill>
                <a:latin typeface="Aptos Display" pitchFamily="34" charset="0"/>
                <a:ea typeface="Aptos Display" pitchFamily="34" charset="-122"/>
                <a:cs typeface="Aptos Display" pitchFamily="34" charset="-120"/>
              </a:rPr>
              <a:t>cousin</a:t>
            </a:r>
            <a:endParaRPr lang="en-US" sz="1800" dirty="0"/>
          </a:p>
        </p:txBody>
      </p:sp>
      <p:sp>
        <p:nvSpPr>
          <p:cNvPr id="31" name="Text 29"/>
          <p:cNvSpPr/>
          <p:nvPr/>
        </p:nvSpPr>
        <p:spPr>
          <a:xfrm>
            <a:off x="914400" y="5715000"/>
            <a:ext cx="10332720" cy="320040"/>
          </a:xfrm>
          <a:prstGeom prst="rect">
            <a:avLst/>
          </a:prstGeom>
          <a:noFill/>
          <a:ln/>
        </p:spPr>
        <p:txBody>
          <a:bodyPr wrap="square" lIns="0" tIns="0" rIns="0" bIns="0" rtlCol="0" anchor="ctr">
            <a:normAutofit/>
          </a:bodyPr>
          <a:lstStyle/>
          <a:p>
            <a:pPr algn="ctr" indent="0" marL="0">
              <a:buNone/>
            </a:pPr>
            <a:r>
              <a:rPr lang="en-US" sz="1450" b="1" dirty="0">
                <a:solidFill>
                  <a:srgbClr val="5E6B73"/>
                </a:solidFill>
                <a:latin typeface="Aptos" pitchFamily="34" charset="0"/>
                <a:ea typeface="Aptos" pitchFamily="34" charset="-122"/>
                <a:cs typeface="Aptos" pitchFamily="34" charset="-120"/>
              </a:rPr>
              <a:t>Teacher idea: Give one card to each student. They must introduce the person on the card.</a:t>
            </a:r>
            <a:endParaRPr lang="en-US" sz="1450" dirty="0"/>
          </a:p>
        </p:txBody>
      </p:sp>
      <p:sp>
        <p:nvSpPr>
          <p:cNvPr id="32" name="Shape 30"/>
          <p:cNvSpPr/>
          <p:nvPr/>
        </p:nvSpPr>
        <p:spPr>
          <a:xfrm>
            <a:off x="0" y="6565392"/>
            <a:ext cx="12188952" cy="292608"/>
          </a:xfrm>
          <a:prstGeom prst="rect">
            <a:avLst/>
          </a:prstGeom>
          <a:solidFill>
            <a:srgbClr val="FFFFFF"/>
          </a:solidFill>
          <a:ln w="12700">
            <a:solidFill>
              <a:srgbClr val="C9E6F5"/>
            </a:solidFill>
            <a:prstDash val="solid"/>
          </a:ln>
        </p:spPr>
      </p:sp>
      <p:sp>
        <p:nvSpPr>
          <p:cNvPr id="33" name="Text 31"/>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4" name="Text 32"/>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Printable Cards: Describe People</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Students pick a card and build a sentence.</a:t>
            </a:r>
            <a:endParaRPr lang="en-US" sz="1450" dirty="0"/>
          </a:p>
        </p:txBody>
      </p:sp>
      <p:sp>
        <p:nvSpPr>
          <p:cNvPr id="4" name="Shape 2"/>
          <p:cNvSpPr/>
          <p:nvPr/>
        </p:nvSpPr>
        <p:spPr>
          <a:xfrm>
            <a:off x="731520" y="1234440"/>
            <a:ext cx="3337560" cy="1097280"/>
          </a:xfrm>
          <a:prstGeom prst="roundRect">
            <a:avLst>
              <a:gd name="adj" fmla="val 10000"/>
            </a:avLst>
          </a:prstGeom>
          <a:solidFill>
            <a:srgbClr val="FFF4CC"/>
          </a:solidFill>
          <a:ln w="17780">
            <a:solidFill>
              <a:srgbClr val="FFD166"/>
            </a:solidFill>
            <a:prstDash val="solid"/>
          </a:ln>
        </p:spPr>
      </p:sp>
      <p:sp>
        <p:nvSpPr>
          <p:cNvPr id="5" name="Text 3"/>
          <p:cNvSpPr/>
          <p:nvPr/>
        </p:nvSpPr>
        <p:spPr>
          <a:xfrm>
            <a:off x="868680" y="135331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kind</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She is kind.</a:t>
            </a:r>
            <a:endParaRPr lang="en-US" sz="1600" dirty="0"/>
          </a:p>
        </p:txBody>
      </p:sp>
      <p:sp>
        <p:nvSpPr>
          <p:cNvPr id="6" name="Shape 4"/>
          <p:cNvSpPr/>
          <p:nvPr/>
        </p:nvSpPr>
        <p:spPr>
          <a:xfrm>
            <a:off x="4498848" y="1234440"/>
            <a:ext cx="3337560" cy="1097280"/>
          </a:xfrm>
          <a:prstGeom prst="roundRect">
            <a:avLst>
              <a:gd name="adj" fmla="val 10000"/>
            </a:avLst>
          </a:prstGeom>
          <a:solidFill>
            <a:srgbClr val="DFF8EF"/>
          </a:solidFill>
          <a:ln w="17780">
            <a:solidFill>
              <a:srgbClr val="00A7A7"/>
            </a:solidFill>
            <a:prstDash val="solid"/>
          </a:ln>
        </p:spPr>
      </p:sp>
      <p:sp>
        <p:nvSpPr>
          <p:cNvPr id="7" name="Text 5"/>
          <p:cNvSpPr/>
          <p:nvPr/>
        </p:nvSpPr>
        <p:spPr>
          <a:xfrm>
            <a:off x="4636008" y="135331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funny</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He is funny.</a:t>
            </a:r>
            <a:endParaRPr lang="en-US" sz="1600" dirty="0"/>
          </a:p>
        </p:txBody>
      </p:sp>
      <p:sp>
        <p:nvSpPr>
          <p:cNvPr id="8" name="Shape 6"/>
          <p:cNvSpPr/>
          <p:nvPr/>
        </p:nvSpPr>
        <p:spPr>
          <a:xfrm>
            <a:off x="8266176" y="1234440"/>
            <a:ext cx="3337560" cy="1097280"/>
          </a:xfrm>
          <a:prstGeom prst="roundRect">
            <a:avLst>
              <a:gd name="adj" fmla="val 10000"/>
            </a:avLst>
          </a:prstGeom>
          <a:solidFill>
            <a:srgbClr val="FFF4CC"/>
          </a:solidFill>
          <a:ln w="17780">
            <a:solidFill>
              <a:srgbClr val="FFD166"/>
            </a:solidFill>
            <a:prstDash val="solid"/>
          </a:ln>
        </p:spPr>
      </p:sp>
      <p:sp>
        <p:nvSpPr>
          <p:cNvPr id="9" name="Text 7"/>
          <p:cNvSpPr/>
          <p:nvPr/>
        </p:nvSpPr>
        <p:spPr>
          <a:xfrm>
            <a:off x="8403336" y="135331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smart</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She is smart.</a:t>
            </a:r>
            <a:endParaRPr lang="en-US" sz="1600" dirty="0"/>
          </a:p>
        </p:txBody>
      </p:sp>
      <p:sp>
        <p:nvSpPr>
          <p:cNvPr id="10" name="Shape 8"/>
          <p:cNvSpPr/>
          <p:nvPr/>
        </p:nvSpPr>
        <p:spPr>
          <a:xfrm>
            <a:off x="731520" y="2743200"/>
            <a:ext cx="3337560" cy="1097280"/>
          </a:xfrm>
          <a:prstGeom prst="roundRect">
            <a:avLst>
              <a:gd name="adj" fmla="val 10000"/>
            </a:avLst>
          </a:prstGeom>
          <a:solidFill>
            <a:srgbClr val="DFF8EF"/>
          </a:solidFill>
          <a:ln w="17780">
            <a:solidFill>
              <a:srgbClr val="00A7A7"/>
            </a:solidFill>
            <a:prstDash val="solid"/>
          </a:ln>
        </p:spPr>
      </p:sp>
      <p:sp>
        <p:nvSpPr>
          <p:cNvPr id="11" name="Text 9"/>
          <p:cNvSpPr/>
          <p:nvPr/>
        </p:nvSpPr>
        <p:spPr>
          <a:xfrm>
            <a:off x="868680" y="286207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helpful</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He is helpful.</a:t>
            </a:r>
            <a:endParaRPr lang="en-US" sz="1600" dirty="0"/>
          </a:p>
        </p:txBody>
      </p:sp>
      <p:sp>
        <p:nvSpPr>
          <p:cNvPr id="12" name="Shape 10"/>
          <p:cNvSpPr/>
          <p:nvPr/>
        </p:nvSpPr>
        <p:spPr>
          <a:xfrm>
            <a:off x="4498848" y="2743200"/>
            <a:ext cx="3337560" cy="1097280"/>
          </a:xfrm>
          <a:prstGeom prst="roundRect">
            <a:avLst>
              <a:gd name="adj" fmla="val 10000"/>
            </a:avLst>
          </a:prstGeom>
          <a:solidFill>
            <a:srgbClr val="FFF4CC"/>
          </a:solidFill>
          <a:ln w="17780">
            <a:solidFill>
              <a:srgbClr val="FFD166"/>
            </a:solidFill>
            <a:prstDash val="solid"/>
          </a:ln>
        </p:spPr>
      </p:sp>
      <p:sp>
        <p:nvSpPr>
          <p:cNvPr id="13" name="Text 11"/>
          <p:cNvSpPr/>
          <p:nvPr/>
        </p:nvSpPr>
        <p:spPr>
          <a:xfrm>
            <a:off x="4636008" y="286207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friendly</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She is friendly.</a:t>
            </a:r>
            <a:endParaRPr lang="en-US" sz="1600" dirty="0"/>
          </a:p>
        </p:txBody>
      </p:sp>
      <p:sp>
        <p:nvSpPr>
          <p:cNvPr id="14" name="Shape 12"/>
          <p:cNvSpPr/>
          <p:nvPr/>
        </p:nvSpPr>
        <p:spPr>
          <a:xfrm>
            <a:off x="8266176" y="2743200"/>
            <a:ext cx="3337560" cy="1097280"/>
          </a:xfrm>
          <a:prstGeom prst="roundRect">
            <a:avLst>
              <a:gd name="adj" fmla="val 10000"/>
            </a:avLst>
          </a:prstGeom>
          <a:solidFill>
            <a:srgbClr val="DFF8EF"/>
          </a:solidFill>
          <a:ln w="17780">
            <a:solidFill>
              <a:srgbClr val="00A7A7"/>
            </a:solidFill>
            <a:prstDash val="solid"/>
          </a:ln>
        </p:spPr>
      </p:sp>
      <p:sp>
        <p:nvSpPr>
          <p:cNvPr id="15" name="Text 13"/>
          <p:cNvSpPr/>
          <p:nvPr/>
        </p:nvSpPr>
        <p:spPr>
          <a:xfrm>
            <a:off x="8403336" y="286207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quiet</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He is quiet.</a:t>
            </a:r>
            <a:endParaRPr lang="en-US" sz="1600" dirty="0"/>
          </a:p>
        </p:txBody>
      </p:sp>
      <p:sp>
        <p:nvSpPr>
          <p:cNvPr id="16" name="Shape 14"/>
          <p:cNvSpPr/>
          <p:nvPr/>
        </p:nvSpPr>
        <p:spPr>
          <a:xfrm>
            <a:off x="731520" y="4251960"/>
            <a:ext cx="3337560" cy="1097280"/>
          </a:xfrm>
          <a:prstGeom prst="roundRect">
            <a:avLst>
              <a:gd name="adj" fmla="val 10000"/>
            </a:avLst>
          </a:prstGeom>
          <a:solidFill>
            <a:srgbClr val="FFF4CC"/>
          </a:solidFill>
          <a:ln w="17780">
            <a:solidFill>
              <a:srgbClr val="FFD166"/>
            </a:solidFill>
            <a:prstDash val="solid"/>
          </a:ln>
        </p:spPr>
      </p:sp>
      <p:sp>
        <p:nvSpPr>
          <p:cNvPr id="17" name="Text 15"/>
          <p:cNvSpPr/>
          <p:nvPr/>
        </p:nvSpPr>
        <p:spPr>
          <a:xfrm>
            <a:off x="868680" y="437083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long hair</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She has long hair.</a:t>
            </a:r>
            <a:endParaRPr lang="en-US" sz="1600" dirty="0"/>
          </a:p>
        </p:txBody>
      </p:sp>
      <p:sp>
        <p:nvSpPr>
          <p:cNvPr id="18" name="Shape 16"/>
          <p:cNvSpPr/>
          <p:nvPr/>
        </p:nvSpPr>
        <p:spPr>
          <a:xfrm>
            <a:off x="4498848" y="4251960"/>
            <a:ext cx="3337560" cy="1097280"/>
          </a:xfrm>
          <a:prstGeom prst="roundRect">
            <a:avLst>
              <a:gd name="adj" fmla="val 10000"/>
            </a:avLst>
          </a:prstGeom>
          <a:solidFill>
            <a:srgbClr val="DFF8EF"/>
          </a:solidFill>
          <a:ln w="17780">
            <a:solidFill>
              <a:srgbClr val="00A7A7"/>
            </a:solidFill>
            <a:prstDash val="solid"/>
          </a:ln>
        </p:spPr>
      </p:sp>
      <p:sp>
        <p:nvSpPr>
          <p:cNvPr id="19" name="Text 17"/>
          <p:cNvSpPr/>
          <p:nvPr/>
        </p:nvSpPr>
        <p:spPr>
          <a:xfrm>
            <a:off x="4636008" y="437083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short hair</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He has short hair.</a:t>
            </a:r>
            <a:endParaRPr lang="en-US" sz="1600" dirty="0"/>
          </a:p>
        </p:txBody>
      </p:sp>
      <p:sp>
        <p:nvSpPr>
          <p:cNvPr id="20" name="Shape 18"/>
          <p:cNvSpPr/>
          <p:nvPr/>
        </p:nvSpPr>
        <p:spPr>
          <a:xfrm>
            <a:off x="8266176" y="4251960"/>
            <a:ext cx="3337560" cy="1097280"/>
          </a:xfrm>
          <a:prstGeom prst="roundRect">
            <a:avLst>
              <a:gd name="adj" fmla="val 10000"/>
            </a:avLst>
          </a:prstGeom>
          <a:solidFill>
            <a:srgbClr val="FFF4CC"/>
          </a:solidFill>
          <a:ln w="17780">
            <a:solidFill>
              <a:srgbClr val="FFD166"/>
            </a:solidFill>
            <a:prstDash val="solid"/>
          </a:ln>
        </p:spPr>
      </p:sp>
      <p:sp>
        <p:nvSpPr>
          <p:cNvPr id="21" name="Text 19"/>
          <p:cNvSpPr/>
          <p:nvPr/>
        </p:nvSpPr>
        <p:spPr>
          <a:xfrm>
            <a:off x="8403336" y="4370832"/>
            <a:ext cx="3063240" cy="896112"/>
          </a:xfrm>
          <a:prstGeom prst="rect">
            <a:avLst/>
          </a:prstGeom>
          <a:noFill/>
          <a:ln/>
        </p:spPr>
        <p:txBody>
          <a:bodyPr wrap="square" lIns="0" tIns="0" rIns="0" bIns="0" rtlCol="0" anchor="ctr">
            <a:normAutofit/>
          </a:bodyPr>
          <a:lstStyle/>
          <a:p>
            <a:pPr algn="ctr" indent="0" marL="0">
              <a:buNone/>
            </a:pPr>
            <a:r>
              <a:rPr lang="en-US" sz="1600" b="1" dirty="0">
                <a:solidFill>
                  <a:srgbClr val="173B57"/>
                </a:solidFill>
                <a:latin typeface="Aptos" pitchFamily="34" charset="0"/>
                <a:ea typeface="Aptos" pitchFamily="34" charset="-122"/>
                <a:cs typeface="Aptos" pitchFamily="34" charset="-120"/>
              </a:rPr>
              <a:t>likes games</a:t>
            </a:r>
            <a:endParaRPr lang="en-US" sz="1600" dirty="0"/>
          </a:p>
          <a:p>
            <a:pPr algn="ctr" indent="0" marL="0">
              <a:buNone/>
            </a:pPr>
            <a:r>
              <a:rPr lang="en-US" sz="1600" b="1" dirty="0">
                <a:solidFill>
                  <a:srgbClr val="173B57"/>
                </a:solidFill>
                <a:latin typeface="Aptos" pitchFamily="34" charset="0"/>
                <a:ea typeface="Aptos" pitchFamily="34" charset="-122"/>
                <a:cs typeface="Aptos" pitchFamily="34" charset="-120"/>
              </a:rPr>
              <a:t>He/She likes games.</a:t>
            </a:r>
            <a:endParaRPr lang="en-US" sz="1600" dirty="0"/>
          </a:p>
        </p:txBody>
      </p:sp>
      <p:sp>
        <p:nvSpPr>
          <p:cNvPr id="22" name="Text 20"/>
          <p:cNvSpPr/>
          <p:nvPr/>
        </p:nvSpPr>
        <p:spPr>
          <a:xfrm>
            <a:off x="914400" y="5715000"/>
            <a:ext cx="10332720" cy="320040"/>
          </a:xfrm>
          <a:prstGeom prst="rect">
            <a:avLst/>
          </a:prstGeom>
          <a:noFill/>
          <a:ln/>
        </p:spPr>
        <p:txBody>
          <a:bodyPr wrap="square" lIns="0" tIns="0" rIns="0" bIns="0" rtlCol="0" anchor="ctr">
            <a:normAutofit/>
          </a:bodyPr>
          <a:lstStyle/>
          <a:p>
            <a:pPr algn="ctr" indent="0" marL="0">
              <a:buNone/>
            </a:pPr>
            <a:r>
              <a:rPr lang="en-US" sz="1450" b="1" dirty="0">
                <a:solidFill>
                  <a:srgbClr val="5E6B73"/>
                </a:solidFill>
                <a:latin typeface="Aptos" pitchFamily="34" charset="0"/>
                <a:ea typeface="Aptos" pitchFamily="34" charset="-122"/>
                <a:cs typeface="Aptos" pitchFamily="34" charset="-120"/>
              </a:rPr>
              <a:t>Teacher idea: Student picks 2 cards and describes one person.</a:t>
            </a:r>
            <a:endParaRPr lang="en-US" sz="1450" dirty="0"/>
          </a:p>
        </p:txBody>
      </p:sp>
      <p:sp>
        <p:nvSpPr>
          <p:cNvPr id="23" name="Shape 21"/>
          <p:cNvSpPr/>
          <p:nvPr/>
        </p:nvSpPr>
        <p:spPr>
          <a:xfrm>
            <a:off x="0" y="6565392"/>
            <a:ext cx="12188952" cy="292608"/>
          </a:xfrm>
          <a:prstGeom prst="rect">
            <a:avLst/>
          </a:prstGeom>
          <a:solidFill>
            <a:srgbClr val="FFFFFF"/>
          </a:solidFill>
          <a:ln w="12700">
            <a:solidFill>
              <a:srgbClr val="C9E6F5"/>
            </a:solidFill>
            <a:prstDash val="solid"/>
          </a:ln>
        </p:spPr>
      </p:sp>
      <p:sp>
        <p:nvSpPr>
          <p:cNvPr id="24" name="Text 22"/>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25" name="Text 23"/>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Printable Cards: Friend Questions</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Use for interviews, mingle, or small-group speaking.</a:t>
            </a:r>
            <a:endParaRPr lang="en-US" sz="1450" dirty="0"/>
          </a:p>
        </p:txBody>
      </p:sp>
      <p:sp>
        <p:nvSpPr>
          <p:cNvPr id="4" name="Shape 2"/>
          <p:cNvSpPr/>
          <p:nvPr/>
        </p:nvSpPr>
        <p:spPr>
          <a:xfrm>
            <a:off x="713232" y="1325880"/>
            <a:ext cx="2423160" cy="1508760"/>
          </a:xfrm>
          <a:prstGeom prst="roundRect">
            <a:avLst>
              <a:gd name="adj" fmla="val 7273"/>
            </a:avLst>
          </a:prstGeom>
          <a:solidFill>
            <a:srgbClr val="FFF4CC"/>
          </a:solidFill>
          <a:ln w="17780">
            <a:solidFill>
              <a:srgbClr val="FFD166"/>
            </a:solidFill>
            <a:prstDash val="solid"/>
          </a:ln>
        </p:spPr>
      </p:sp>
      <p:sp>
        <p:nvSpPr>
          <p:cNvPr id="5" name="Text 3"/>
          <p:cNvSpPr/>
          <p:nvPr/>
        </p:nvSpPr>
        <p:spPr>
          <a:xfrm>
            <a:off x="85039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6" name="Text 4"/>
          <p:cNvSpPr/>
          <p:nvPr/>
        </p:nvSpPr>
        <p:spPr>
          <a:xfrm>
            <a:off x="1399032" y="147218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Who is your friend?</a:t>
            </a:r>
            <a:endParaRPr lang="en-US" sz="1380" dirty="0"/>
          </a:p>
        </p:txBody>
      </p:sp>
      <p:sp>
        <p:nvSpPr>
          <p:cNvPr id="7" name="Shape 5"/>
          <p:cNvSpPr/>
          <p:nvPr/>
        </p:nvSpPr>
        <p:spPr>
          <a:xfrm>
            <a:off x="3502152" y="1325880"/>
            <a:ext cx="2423160" cy="1508760"/>
          </a:xfrm>
          <a:prstGeom prst="roundRect">
            <a:avLst>
              <a:gd name="adj" fmla="val 7273"/>
            </a:avLst>
          </a:prstGeom>
          <a:solidFill>
            <a:srgbClr val="DFF4FF"/>
          </a:solidFill>
          <a:ln w="17780">
            <a:solidFill>
              <a:srgbClr val="1C8DD8"/>
            </a:solidFill>
            <a:prstDash val="solid"/>
          </a:ln>
        </p:spPr>
      </p:sp>
      <p:sp>
        <p:nvSpPr>
          <p:cNvPr id="8" name="Text 6"/>
          <p:cNvSpPr/>
          <p:nvPr/>
        </p:nvSpPr>
        <p:spPr>
          <a:xfrm>
            <a:off x="363931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9" name="Text 7"/>
          <p:cNvSpPr/>
          <p:nvPr/>
        </p:nvSpPr>
        <p:spPr>
          <a:xfrm>
            <a:off x="4187952" y="147218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What is he/she like?</a:t>
            </a:r>
            <a:endParaRPr lang="en-US" sz="1380" dirty="0"/>
          </a:p>
        </p:txBody>
      </p:sp>
      <p:sp>
        <p:nvSpPr>
          <p:cNvPr id="10" name="Shape 8"/>
          <p:cNvSpPr/>
          <p:nvPr/>
        </p:nvSpPr>
        <p:spPr>
          <a:xfrm>
            <a:off x="6291072" y="1325880"/>
            <a:ext cx="2423160" cy="1508760"/>
          </a:xfrm>
          <a:prstGeom prst="roundRect">
            <a:avLst>
              <a:gd name="adj" fmla="val 7273"/>
            </a:avLst>
          </a:prstGeom>
          <a:solidFill>
            <a:srgbClr val="FFF4CC"/>
          </a:solidFill>
          <a:ln w="17780">
            <a:solidFill>
              <a:srgbClr val="FFD166"/>
            </a:solidFill>
            <a:prstDash val="solid"/>
          </a:ln>
        </p:spPr>
      </p:sp>
      <p:sp>
        <p:nvSpPr>
          <p:cNvPr id="11" name="Text 9"/>
          <p:cNvSpPr/>
          <p:nvPr/>
        </p:nvSpPr>
        <p:spPr>
          <a:xfrm>
            <a:off x="642823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Text 10"/>
          <p:cNvSpPr/>
          <p:nvPr/>
        </p:nvSpPr>
        <p:spPr>
          <a:xfrm>
            <a:off x="6976872" y="147218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What does he/she like?</a:t>
            </a:r>
            <a:endParaRPr lang="en-US" sz="1380" dirty="0"/>
          </a:p>
        </p:txBody>
      </p:sp>
      <p:sp>
        <p:nvSpPr>
          <p:cNvPr id="13" name="Shape 11"/>
          <p:cNvSpPr/>
          <p:nvPr/>
        </p:nvSpPr>
        <p:spPr>
          <a:xfrm>
            <a:off x="9079992" y="1325880"/>
            <a:ext cx="2423160" cy="1508760"/>
          </a:xfrm>
          <a:prstGeom prst="roundRect">
            <a:avLst>
              <a:gd name="adj" fmla="val 7273"/>
            </a:avLst>
          </a:prstGeom>
          <a:solidFill>
            <a:srgbClr val="DFF4FF"/>
          </a:solidFill>
          <a:ln w="17780">
            <a:solidFill>
              <a:srgbClr val="1C8DD8"/>
            </a:solidFill>
            <a:prstDash val="solid"/>
          </a:ln>
        </p:spPr>
      </p:sp>
      <p:sp>
        <p:nvSpPr>
          <p:cNvPr id="14" name="Text 12"/>
          <p:cNvSpPr/>
          <p:nvPr/>
        </p:nvSpPr>
        <p:spPr>
          <a:xfrm>
            <a:off x="9217152" y="143560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5" name="Text 13"/>
          <p:cNvSpPr/>
          <p:nvPr/>
        </p:nvSpPr>
        <p:spPr>
          <a:xfrm>
            <a:off x="9765792" y="147218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What do you do together?</a:t>
            </a:r>
            <a:endParaRPr lang="en-US" sz="1380" dirty="0"/>
          </a:p>
        </p:txBody>
      </p:sp>
      <p:sp>
        <p:nvSpPr>
          <p:cNvPr id="16" name="Shape 14"/>
          <p:cNvSpPr/>
          <p:nvPr/>
        </p:nvSpPr>
        <p:spPr>
          <a:xfrm>
            <a:off x="713232" y="3337560"/>
            <a:ext cx="2423160" cy="1508760"/>
          </a:xfrm>
          <a:prstGeom prst="roundRect">
            <a:avLst>
              <a:gd name="adj" fmla="val 7273"/>
            </a:avLst>
          </a:prstGeom>
          <a:solidFill>
            <a:srgbClr val="FFF4CC"/>
          </a:solidFill>
          <a:ln w="17780">
            <a:solidFill>
              <a:srgbClr val="FFD166"/>
            </a:solidFill>
            <a:prstDash val="solid"/>
          </a:ln>
        </p:spPr>
      </p:sp>
      <p:sp>
        <p:nvSpPr>
          <p:cNvPr id="17" name="Text 15"/>
          <p:cNvSpPr/>
          <p:nvPr/>
        </p:nvSpPr>
        <p:spPr>
          <a:xfrm>
            <a:off x="850392" y="34472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8" name="Text 16"/>
          <p:cNvSpPr/>
          <p:nvPr/>
        </p:nvSpPr>
        <p:spPr>
          <a:xfrm>
            <a:off x="1399032" y="348386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Where do you meet?</a:t>
            </a:r>
            <a:endParaRPr lang="en-US" sz="1380" dirty="0"/>
          </a:p>
        </p:txBody>
      </p:sp>
      <p:sp>
        <p:nvSpPr>
          <p:cNvPr id="19" name="Shape 17"/>
          <p:cNvSpPr/>
          <p:nvPr/>
        </p:nvSpPr>
        <p:spPr>
          <a:xfrm>
            <a:off x="3502152" y="3337560"/>
            <a:ext cx="2423160" cy="1508760"/>
          </a:xfrm>
          <a:prstGeom prst="roundRect">
            <a:avLst>
              <a:gd name="adj" fmla="val 7273"/>
            </a:avLst>
          </a:prstGeom>
          <a:solidFill>
            <a:srgbClr val="DFF4FF"/>
          </a:solidFill>
          <a:ln w="17780">
            <a:solidFill>
              <a:srgbClr val="1C8DD8"/>
            </a:solidFill>
            <a:prstDash val="solid"/>
          </a:ln>
        </p:spPr>
      </p:sp>
      <p:sp>
        <p:nvSpPr>
          <p:cNvPr id="20" name="Text 18"/>
          <p:cNvSpPr/>
          <p:nvPr/>
        </p:nvSpPr>
        <p:spPr>
          <a:xfrm>
            <a:off x="3639312" y="34472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1" name="Text 19"/>
          <p:cNvSpPr/>
          <p:nvPr/>
        </p:nvSpPr>
        <p:spPr>
          <a:xfrm>
            <a:off x="4187952" y="348386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How do you feel with him/her?</a:t>
            </a:r>
            <a:endParaRPr lang="en-US" sz="1380" dirty="0"/>
          </a:p>
        </p:txBody>
      </p:sp>
      <p:sp>
        <p:nvSpPr>
          <p:cNvPr id="22" name="Shape 20"/>
          <p:cNvSpPr/>
          <p:nvPr/>
        </p:nvSpPr>
        <p:spPr>
          <a:xfrm>
            <a:off x="6291072" y="3337560"/>
            <a:ext cx="2423160" cy="1508760"/>
          </a:xfrm>
          <a:prstGeom prst="roundRect">
            <a:avLst>
              <a:gd name="adj" fmla="val 7273"/>
            </a:avLst>
          </a:prstGeom>
          <a:solidFill>
            <a:srgbClr val="FFF4CC"/>
          </a:solidFill>
          <a:ln w="17780">
            <a:solidFill>
              <a:srgbClr val="FFD166"/>
            </a:solidFill>
            <a:prstDash val="solid"/>
          </a:ln>
        </p:spPr>
      </p:sp>
      <p:sp>
        <p:nvSpPr>
          <p:cNvPr id="23" name="Text 21"/>
          <p:cNvSpPr/>
          <p:nvPr/>
        </p:nvSpPr>
        <p:spPr>
          <a:xfrm>
            <a:off x="6428232" y="34472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4" name="Text 22"/>
          <p:cNvSpPr/>
          <p:nvPr/>
        </p:nvSpPr>
        <p:spPr>
          <a:xfrm>
            <a:off x="6976872" y="348386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What do you say to him/her?</a:t>
            </a:r>
            <a:endParaRPr lang="en-US" sz="1380" dirty="0"/>
          </a:p>
        </p:txBody>
      </p:sp>
      <p:sp>
        <p:nvSpPr>
          <p:cNvPr id="25" name="Shape 23"/>
          <p:cNvSpPr/>
          <p:nvPr/>
        </p:nvSpPr>
        <p:spPr>
          <a:xfrm>
            <a:off x="9079992" y="3337560"/>
            <a:ext cx="2423160" cy="1508760"/>
          </a:xfrm>
          <a:prstGeom prst="roundRect">
            <a:avLst>
              <a:gd name="adj" fmla="val 7273"/>
            </a:avLst>
          </a:prstGeom>
          <a:solidFill>
            <a:srgbClr val="DFF4FF"/>
          </a:solidFill>
          <a:ln w="17780">
            <a:solidFill>
              <a:srgbClr val="1C8DD8"/>
            </a:solidFill>
            <a:prstDash val="solid"/>
          </a:ln>
        </p:spPr>
      </p:sp>
      <p:sp>
        <p:nvSpPr>
          <p:cNvPr id="26" name="Text 24"/>
          <p:cNvSpPr/>
          <p:nvPr/>
        </p:nvSpPr>
        <p:spPr>
          <a:xfrm>
            <a:off x="9217152" y="3447288"/>
            <a:ext cx="502920" cy="411480"/>
          </a:xfrm>
          <a:prstGeom prst="rect">
            <a:avLst/>
          </a:prstGeom>
          <a:noFill/>
          <a:ln/>
        </p:spPr>
        <p:txBody>
          <a:bodyPr wrap="square" lIns="0" tIns="0" rIns="0" bIns="0" rtlCol="0" anchor="ctr">
            <a:normAutofit/>
          </a:bodyPr>
          <a:lstStyle/>
          <a:p>
            <a:pP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7" name="Text 25"/>
          <p:cNvSpPr/>
          <p:nvPr/>
        </p:nvSpPr>
        <p:spPr>
          <a:xfrm>
            <a:off x="9765792" y="3483864"/>
            <a:ext cx="1554480" cy="310896"/>
          </a:xfrm>
          <a:prstGeom prst="rect">
            <a:avLst/>
          </a:prstGeom>
          <a:noFill/>
          <a:ln/>
        </p:spPr>
        <p:txBody>
          <a:bodyPr wrap="square" lIns="0" tIns="0" rIns="0" bIns="0" rtlCol="0" anchor="ctr">
            <a:normAutofit/>
          </a:bodyPr>
          <a:lstStyle/>
          <a:p>
            <a:pPr indent="0" marL="0">
              <a:buNone/>
            </a:pPr>
            <a:r>
              <a:rPr lang="en-US" sz="1380" b="1" dirty="0">
                <a:solidFill>
                  <a:srgbClr val="173B57"/>
                </a:solidFill>
                <a:latin typeface="Aptos Display" pitchFamily="34" charset="0"/>
                <a:ea typeface="Aptos Display" pitchFamily="34" charset="-122"/>
                <a:cs typeface="Aptos Display" pitchFamily="34" charset="-120"/>
              </a:rPr>
              <a:t>What do you want to do together?</a:t>
            </a:r>
            <a:endParaRPr lang="en-US" sz="1380" dirty="0"/>
          </a:p>
        </p:txBody>
      </p:sp>
      <p:sp>
        <p:nvSpPr>
          <p:cNvPr id="28" name="Text 26"/>
          <p:cNvSpPr/>
          <p:nvPr/>
        </p:nvSpPr>
        <p:spPr>
          <a:xfrm>
            <a:off x="914400" y="5715000"/>
            <a:ext cx="10332720" cy="320040"/>
          </a:xfrm>
          <a:prstGeom prst="rect">
            <a:avLst/>
          </a:prstGeom>
          <a:noFill/>
          <a:ln/>
        </p:spPr>
        <p:txBody>
          <a:bodyPr wrap="square" lIns="0" tIns="0" rIns="0" bIns="0" rtlCol="0" anchor="ctr">
            <a:normAutofit/>
          </a:bodyPr>
          <a:lstStyle/>
          <a:p>
            <a:pPr algn="ctr" indent="0" marL="0">
              <a:buNone/>
            </a:pPr>
            <a:r>
              <a:rPr lang="en-US" sz="1450" b="1" dirty="0">
                <a:solidFill>
                  <a:srgbClr val="5E6B73"/>
                </a:solidFill>
                <a:latin typeface="Aptos" pitchFamily="34" charset="0"/>
                <a:ea typeface="Aptos" pitchFamily="34" charset="-122"/>
                <a:cs typeface="Aptos" pitchFamily="34" charset="-120"/>
              </a:rPr>
              <a:t>Extension: Students create one new question card.</a:t>
            </a:r>
            <a:endParaRPr lang="en-US" sz="1450" dirty="0"/>
          </a:p>
        </p:txBody>
      </p:sp>
      <p:sp>
        <p:nvSpPr>
          <p:cNvPr id="29" name="Shape 27"/>
          <p:cNvSpPr/>
          <p:nvPr/>
        </p:nvSpPr>
        <p:spPr>
          <a:xfrm>
            <a:off x="0" y="6565392"/>
            <a:ext cx="12188952" cy="292608"/>
          </a:xfrm>
          <a:prstGeom prst="rect">
            <a:avLst/>
          </a:prstGeom>
          <a:solidFill>
            <a:srgbClr val="FFFFFF"/>
          </a:solidFill>
          <a:ln w="12700">
            <a:solidFill>
              <a:srgbClr val="C9E6F5"/>
            </a:solidFill>
            <a:prstDash val="solid"/>
          </a:ln>
        </p:spPr>
      </p:sp>
      <p:sp>
        <p:nvSpPr>
          <p:cNvPr id="30" name="Text 28"/>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31" name="Text 29"/>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56032"/>
            <a:ext cx="11201400" cy="502920"/>
          </a:xfrm>
          <a:prstGeom prst="rect">
            <a:avLst/>
          </a:prstGeom>
          <a:noFill/>
          <a:ln/>
        </p:spPr>
        <p:txBody>
          <a:bodyPr wrap="square" lIns="0" tIns="0" rIns="0" bIns="0" rtlCol="0" anchor="ctr">
            <a:normAutofit/>
          </a:bodyPr>
          <a:lstStyle/>
          <a:p>
            <a:pPr indent="0" marL="0">
              <a:buNone/>
            </a:pPr>
            <a:r>
              <a:rPr lang="en-US" sz="2700" b="1" dirty="0">
                <a:solidFill>
                  <a:srgbClr val="173B57"/>
                </a:solidFill>
                <a:latin typeface="Aptos Display" pitchFamily="34" charset="0"/>
                <a:ea typeface="Aptos Display" pitchFamily="34" charset="-122"/>
                <a:cs typeface="Aptos Display" pitchFamily="34" charset="-120"/>
              </a:rPr>
              <a:t>Home Practice</a:t>
            </a:r>
            <a:endParaRPr lang="en-US" sz="2700" dirty="0"/>
          </a:p>
        </p:txBody>
      </p:sp>
      <p:sp>
        <p:nvSpPr>
          <p:cNvPr id="3" name="Text 1"/>
          <p:cNvSpPr/>
          <p:nvPr/>
        </p:nvSpPr>
        <p:spPr>
          <a:xfrm>
            <a:off x="530352" y="804672"/>
            <a:ext cx="10881360" cy="320040"/>
          </a:xfrm>
          <a:prstGeom prst="rect">
            <a:avLst/>
          </a:prstGeom>
          <a:noFill/>
          <a:ln/>
        </p:spPr>
        <p:txBody>
          <a:bodyPr wrap="square" lIns="0" tIns="0" rIns="0" bIns="0" rtlCol="0" anchor="ctr">
            <a:normAutofit/>
          </a:bodyPr>
          <a:lstStyle/>
          <a:p>
            <a:pPr indent="0" marL="0">
              <a:buNone/>
            </a:pPr>
            <a:r>
              <a:rPr lang="en-US" sz="1450" dirty="0">
                <a:solidFill>
                  <a:srgbClr val="5E6B73"/>
                </a:solidFill>
                <a:latin typeface="Aptos" pitchFamily="34" charset="0"/>
                <a:ea typeface="Aptos" pitchFamily="34" charset="-122"/>
                <a:cs typeface="Aptos" pitchFamily="34" charset="-120"/>
              </a:rPr>
              <a:t>Keep homework oral and easy.</a:t>
            </a:r>
            <a:endParaRPr lang="en-US" sz="1450" dirty="0"/>
          </a:p>
        </p:txBody>
      </p:sp>
      <p:sp>
        <p:nvSpPr>
          <p:cNvPr id="4" name="Shape 2"/>
          <p:cNvSpPr/>
          <p:nvPr/>
        </p:nvSpPr>
        <p:spPr>
          <a:xfrm>
            <a:off x="1051560" y="1234440"/>
            <a:ext cx="10058400" cy="3108960"/>
          </a:xfrm>
          <a:prstGeom prst="roundRect">
            <a:avLst>
              <a:gd name="adj" fmla="val 3529"/>
            </a:avLst>
          </a:prstGeom>
          <a:solidFill>
            <a:srgbClr val="DFF4FF"/>
          </a:solidFill>
          <a:ln w="17780">
            <a:solidFill>
              <a:srgbClr val="1C8DD8"/>
            </a:solidFill>
            <a:prstDash val="solid"/>
          </a:ln>
        </p:spPr>
      </p:sp>
      <p:sp>
        <p:nvSpPr>
          <p:cNvPr id="5" name="Text 3"/>
          <p:cNvSpPr/>
          <p:nvPr/>
        </p:nvSpPr>
        <p:spPr>
          <a:xfrm>
            <a:off x="1417320" y="1600200"/>
            <a:ext cx="9326880" cy="2240280"/>
          </a:xfrm>
          <a:prstGeom prst="rect">
            <a:avLst/>
          </a:prstGeom>
          <a:noFill/>
          <a:ln/>
        </p:spPr>
        <p:txBody>
          <a:bodyPr wrap="square" lIns="0" tIns="0" rIns="0" bIns="0"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Ask someone at home or a friend 3 questions:</a:t>
            </a:r>
            <a:endParaRPr lang="en-US" sz="2400" dirty="0"/>
          </a:p>
          <a:p>
            <a:pPr algn="ctr" indent="0" marL="0">
              <a:buNone/>
            </a:pPr>
            <a:endParaRPr lang="en-US" sz="2400" dirty="0"/>
          </a:p>
          <a:p>
            <a:pPr algn="ctr" indent="0" marL="0">
              <a:buNone/>
            </a:pPr>
            <a:r>
              <a:rPr lang="en-US" sz="2400" b="1" dirty="0">
                <a:solidFill>
                  <a:srgbClr val="1F2933"/>
                </a:solidFill>
                <a:latin typeface="Aptos" pitchFamily="34" charset="0"/>
                <a:ea typeface="Aptos" pitchFamily="34" charset="-122"/>
                <a:cs typeface="Aptos" pitchFamily="34" charset="-120"/>
              </a:rPr>
              <a:t>Who is your friend?</a:t>
            </a:r>
            <a:endParaRPr lang="en-US" sz="2400" dirty="0"/>
          </a:p>
          <a:p>
            <a:pPr algn="ctr" indent="0" marL="0">
              <a:buNone/>
            </a:pPr>
            <a:r>
              <a:rPr lang="en-US" sz="2400" b="1" dirty="0">
                <a:solidFill>
                  <a:srgbClr val="1F2933"/>
                </a:solidFill>
                <a:latin typeface="Aptos" pitchFamily="34" charset="0"/>
                <a:ea typeface="Aptos" pitchFamily="34" charset="-122"/>
                <a:cs typeface="Aptos" pitchFamily="34" charset="-120"/>
              </a:rPr>
              <a:t>What is he/she like?</a:t>
            </a:r>
            <a:endParaRPr lang="en-US" sz="2400" dirty="0"/>
          </a:p>
          <a:p>
            <a:pPr algn="ctr" indent="0" marL="0">
              <a:buNone/>
            </a:pPr>
            <a:r>
              <a:rPr lang="en-US" sz="2400" b="1" dirty="0">
                <a:solidFill>
                  <a:srgbClr val="1F2933"/>
                </a:solidFill>
                <a:latin typeface="Aptos" pitchFamily="34" charset="0"/>
                <a:ea typeface="Aptos" pitchFamily="34" charset="-122"/>
                <a:cs typeface="Aptos" pitchFamily="34" charset="-120"/>
              </a:rPr>
              <a:t>What does he/she like?</a:t>
            </a:r>
            <a:endParaRPr lang="en-US" sz="2400" dirty="0"/>
          </a:p>
        </p:txBody>
      </p:sp>
      <p:sp>
        <p:nvSpPr>
          <p:cNvPr id="6" name="Text 4"/>
          <p:cNvSpPr/>
          <p:nvPr/>
        </p:nvSpPr>
        <p:spPr>
          <a:xfrm>
            <a:off x="1097280" y="4846320"/>
            <a:ext cx="9966960" cy="411480"/>
          </a:xfrm>
          <a:prstGeom prst="rect">
            <a:avLst/>
          </a:prstGeom>
          <a:noFill/>
          <a:ln/>
        </p:spPr>
        <p:txBody>
          <a:bodyPr wrap="square" lIns="0" tIns="0" rIns="0" bIns="0" rtlCol="0" anchor="ctr">
            <a:normAutofit/>
          </a:bodyPr>
          <a:lstStyle/>
          <a:p>
            <a:pPr algn="ctr" indent="0" marL="0">
              <a:buNone/>
            </a:pPr>
            <a:r>
              <a:rPr lang="en-US" sz="2000" b="1" dirty="0">
                <a:solidFill>
                  <a:srgbClr val="EF476F"/>
                </a:solidFill>
                <a:latin typeface="Aptos" pitchFamily="34" charset="0"/>
                <a:ea typeface="Aptos" pitchFamily="34" charset="-122"/>
                <a:cs typeface="Aptos" pitchFamily="34" charset="-120"/>
              </a:rPr>
              <a:t>Bring one answer to next class.</a:t>
            </a:r>
            <a:endParaRPr lang="en-US" sz="2000" dirty="0"/>
          </a:p>
        </p:txBody>
      </p:sp>
      <p:sp>
        <p:nvSpPr>
          <p:cNvPr id="7" name="Shape 5"/>
          <p:cNvSpPr/>
          <p:nvPr/>
        </p:nvSpPr>
        <p:spPr>
          <a:xfrm>
            <a:off x="0" y="6565392"/>
            <a:ext cx="12188952" cy="292608"/>
          </a:xfrm>
          <a:prstGeom prst="rect">
            <a:avLst/>
          </a:prstGeom>
          <a:solidFill>
            <a:srgbClr val="FFFFFF"/>
          </a:solidFill>
          <a:ln w="12700">
            <a:solidFill>
              <a:srgbClr val="C9E6F5"/>
            </a:solidFill>
            <a:prstDash val="solid"/>
          </a:ln>
        </p:spPr>
      </p:sp>
      <p:sp>
        <p:nvSpPr>
          <p:cNvPr id="8" name="Text 6"/>
          <p:cNvSpPr/>
          <p:nvPr/>
        </p:nvSpPr>
        <p:spPr>
          <a:xfrm>
            <a:off x="502920" y="6629400"/>
            <a:ext cx="6126480" cy="128016"/>
          </a:xfrm>
          <a:prstGeom prst="rect">
            <a:avLst/>
          </a:prstGeom>
          <a:noFill/>
          <a:ln/>
        </p:spPr>
        <p:txBody>
          <a:bodyPr wrap="square" lIns="0" tIns="0" rIns="0" bIns="0" rtlCol="0" anchor="ctr">
            <a:normAutofit/>
          </a:bodyPr>
          <a:lstStyle/>
          <a:p>
            <a:pPr indent="0" marL="0">
              <a:buNone/>
            </a:pPr>
            <a:r>
              <a:rPr lang="en-US" sz="850" dirty="0">
                <a:solidFill>
                  <a:srgbClr val="5E6B73"/>
                </a:solidFill>
                <a:latin typeface="Aptos" pitchFamily="34" charset="0"/>
                <a:ea typeface="Aptos" pitchFamily="34" charset="-122"/>
                <a:cs typeface="Aptos" pitchFamily="34" charset="-120"/>
              </a:rPr>
              <a:t>Family &amp; Friends · Day 3 · Speaking &amp; Listening</a:t>
            </a:r>
            <a:endParaRPr lang="en-US" sz="850" dirty="0"/>
          </a:p>
        </p:txBody>
      </p:sp>
      <p:sp>
        <p:nvSpPr>
          <p:cNvPr id="9" name="Text 7"/>
          <p:cNvSpPr/>
          <p:nvPr/>
        </p:nvSpPr>
        <p:spPr>
          <a:xfrm>
            <a:off x="11228832" y="6620256"/>
            <a:ext cx="411480" cy="164592"/>
          </a:xfrm>
          <a:prstGeom prst="rect">
            <a:avLst/>
          </a:prstGeom>
          <a:noFill/>
          <a:ln/>
        </p:spPr>
        <p:txBody>
          <a:bodyPr wrap="square" lIns="0" tIns="0" rIns="0" bIns="0" rtlCol="0" anchor="ctr">
            <a:normAutofit/>
          </a:bodyPr>
          <a:lstStyle/>
          <a:p>
            <a:pPr algn="ctr" indent="0" marL="0">
              <a:buNone/>
            </a:pPr>
            <a:r>
              <a:rPr lang="en-US" sz="850" dirty="0">
                <a:solidFill>
                  <a:srgbClr val="5E6B73"/>
                </a:solidFill>
                <a:latin typeface="Aptos" pitchFamily="34" charset="0"/>
                <a:ea typeface="Aptos" pitchFamily="34" charset="-122"/>
                <a:cs typeface="Aptos" pitchFamily="34" charset="-120"/>
              </a:rPr>
              <a:t>29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Family &amp; Friends · Day 3 · Ages 8–12</dc:title>
  <dc:subject>Family &amp; Friends Day 3 speaking and listening lesson</dc:subject>
  <dc:creator>OpenAI</dc:creator>
  <cp:lastModifiedBy>OpenAI</cp:lastModifiedBy>
  <cp:revision>1</cp:revision>
  <dcterms:created xsi:type="dcterms:W3CDTF">2026-07-03T06:34:11Z</dcterms:created>
  <dcterms:modified xsi:type="dcterms:W3CDTF">2026-07-03T06:34:11Z</dcterms:modified>
</cp:coreProperties>
</file>