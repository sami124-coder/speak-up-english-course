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Say: Today we will talk about daily routines. We will use simple action words, time words, and order words like first, then, after that, and finally.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repeat the mission. Use gestures: clock for time, walking fingers for routine, and two hands moving forward for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quick. Say: We will listen, practice routine words, ask many friends, and finish with a small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picture. Model with one student. Students stand and ask two friends. Accept one action first, then push for a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2 or 3 students as a model, then students ask partners. Collect the class routines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point to a feeling first. Then they say one sentence. Encourage honest but positive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each routine word with an action. Wake up = stretch, brush teeth = brushing gesture, eat breakfast = spoon gesture, go to school = walk fingers.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reads sentences in random order. Students do the action. Round 2 is faster. Round 3: a student leads.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call and response. Teach stress: I WAKE UP at SEVEN. THEN I eat BREAKFAST.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point to an action and a time to build the sentence. Stronger students add: First, then, after that, finally.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1. Read twice. First time: students only listen. Second time: students raise their hand when they hear the key phrases.
Mia: Alex, what do you do in the morning?
Alex: I wake up at seven.
Mia: What do you do next?
Alex: I brush my teeth. Then I eat breakfast at seven thirty.
Mia: What time do you go to school?
Alex: I go to school at eight.
Mia: Great. You have a busy morning!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answer with fingers. Then say full answers: Alex wakes up at seven. He eats breakfast at seven thirty. He goes to school at 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each pair routine cards. Student A says an action. Student B asks what time. Student A gives a time. Then switch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with one confident student. Then students repeat line by line. Finally pairs act it with different feelings: sleepy, happy, busy, surprised.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each pair one role-play. Give 3 minutes to prepare and 5-7 minutes for quick performances. Praise order words and clear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four picture cards in the classroom corners. Students move to a corner and tell one friend one routine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ask four friends and record short answers. For low-level students, allow drawing in the table. Strong students write full routine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Listening script 2. Read twice. First listen: students only listen. Second listen: students fill the table.
Ben: Hi, Lily. What time do you wake up?
Lily: I wake up at six thirty. Then I eat breakfast at seven.
Ben: I wake up at seven. After school, I play football at four.
Sara: I do homework at five. Then I read at eight.
Answers: Lily - wake up/six thirty, breakfast/seven. Ben - wake up/seven, play football/four. Sara - homework/five, read/eight.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picture as a speaking prompt. Students choose one child and make a sentence. Encourage them to point and use at with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2-4 teams. Keep it light and positive. Do not overcorrect. Award bonus points for students who help shy classmates speak.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final speaking task. Let students present in pairs or small groups if whole-class speaking is stressful.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repeat the class chant. Ask students to show thumbs up if they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self-assess. Ask students to choose one sentence they can say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must say one routine before leaving. Keep it positive and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teacher-only slide. Identify who can answer with a time, who can order routine sentences, and who needs more listening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Use for pair role-plays, memory games, and classroom routines.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Students match a routine card with a time card to make a full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and cut. Give each pair four cards. Students ask and answer, then swap cards with another 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optional homework. Students ask a family member or friend three questions and bring one answer. Keep homework oral, not writing-heavy.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67512"/>
            <a:ext cx="6126480" cy="5212080"/>
          </a:xfrm>
          <a:prstGeom prst="roundRect">
            <a:avLst>
              <a:gd name="adj" fmla="val 1404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87552"/>
            <a:ext cx="2057400" cy="393192"/>
          </a:xfrm>
          <a:prstGeom prst="roundRect">
            <a:avLst>
              <a:gd name="adj" fmla="val 18605"/>
            </a:avLst>
          </a:prstGeom>
          <a:solidFill>
            <a:srgbClr val="FF8A00"/>
          </a:solidFill>
          <a:ln>
            <a:solidFill>
              <a:srgbClr val="FF8A00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90 MINUTES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394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841248" y="2560320"/>
            <a:ext cx="5212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about your day in order and tell the time.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2907792"/>
            <a:ext cx="4800600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4160520"/>
            <a:ext cx="2359152" cy="822960"/>
          </a:xfrm>
          <a:prstGeom prst="roundRect">
            <a:avLst>
              <a:gd name="adj" fmla="val 8889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3434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4361688"/>
            <a:ext cx="149047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say…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4873752"/>
            <a:ext cx="1993392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wake up at seven.”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01568" y="4160520"/>
            <a:ext cx="2395728" cy="822960"/>
          </a:xfrm>
          <a:prstGeom prst="roundRect">
            <a:avLst>
              <a:gd name="adj" fmla="val 8889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43434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0" y="4361688"/>
            <a:ext cx="152704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order…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84448" y="4873752"/>
            <a:ext cx="2029968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“First, then, finally.”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Mission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learn to describe a normal day in order.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49808" y="1481328"/>
            <a:ext cx="96926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class, I can talk about my daily routine and tell the time.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41248" y="2743200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9260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54480" y="2944368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24128" y="3456432"/>
            <a:ext cx="2606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hear routine words and times in a short conversation.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80560" y="2743200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5152" y="29260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93792" y="2944368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3456432"/>
            <a:ext cx="2606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say: I wake up at seven. Then I eat breakfast.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19872" y="2743200"/>
            <a:ext cx="2971800" cy="1645920"/>
          </a:xfrm>
          <a:prstGeom prst="roundRect">
            <a:avLst>
              <a:gd name="adj" fmla="val 444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29260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833104" y="2944368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02752" y="3456432"/>
            <a:ext cx="260604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can ask a friend: What do you do every day?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828800" y="5330952"/>
            <a:ext cx="85953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promise: Use English first. Listen carefully. Help friends remember the order.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90-Minute Class 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slide to tell students what will happen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02920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DFF3FF"/>
          </a:solidFill>
          <a:ln w="1270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21792" y="2404872"/>
            <a:ext cx="11795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Routine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200400"/>
            <a:ext cx="594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94360" y="4023360"/>
            <a:ext cx="1234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actions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249424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FFF4C5"/>
          </a:solidFill>
          <a:ln w="12700">
            <a:solidFill>
              <a:srgbClr val="F6B2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40864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368296" y="2404872"/>
            <a:ext cx="11795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&amp; Point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660904" y="3200400"/>
            <a:ext cx="594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340864" y="4023360"/>
            <a:ext cx="1234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routines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95928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DFF3FF"/>
          </a:solidFill>
          <a:ln w="12700">
            <a:solidFill>
              <a:srgbClr val="00A6E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87368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25–40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114800" y="2404872"/>
            <a:ext cx="11795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Words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407408" y="3200400"/>
            <a:ext cx="594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4087368" y="4023360"/>
            <a:ext cx="1234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seven / at night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742432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FFF4C5"/>
          </a:solidFill>
          <a:ln w="12700">
            <a:solidFill>
              <a:srgbClr val="F6B2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33872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40–55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861304" y="2404872"/>
            <a:ext cx="11795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Story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53912" y="3200400"/>
            <a:ext cx="594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5833872" y="4023360"/>
            <a:ext cx="1234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order + times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488936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DFF3FF"/>
          </a:solidFill>
          <a:ln w="12700">
            <a:solidFill>
              <a:srgbClr val="00A6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580376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55–75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07808" y="2404872"/>
            <a:ext cx="11795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&amp; Survey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900416" y="3200400"/>
            <a:ext cx="594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000" dirty="0"/>
          </a:p>
        </p:txBody>
      </p:sp>
      <p:sp>
        <p:nvSpPr>
          <p:cNvPr id="32" name="Text 29"/>
          <p:cNvSpPr/>
          <p:nvPr/>
        </p:nvSpPr>
        <p:spPr>
          <a:xfrm>
            <a:off x="7580376" y="4023360"/>
            <a:ext cx="1234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friends + tally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9235440" y="1783080"/>
            <a:ext cx="1417320" cy="2697480"/>
          </a:xfrm>
          <a:prstGeom prst="roundRect">
            <a:avLst>
              <a:gd name="adj" fmla="val 5161"/>
            </a:avLst>
          </a:prstGeom>
          <a:solidFill>
            <a:srgbClr val="FFF4C5"/>
          </a:solidFill>
          <a:ln w="12700">
            <a:solidFill>
              <a:srgbClr val="F6B2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326880" y="201168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75–90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9354312" y="2404872"/>
            <a:ext cx="117957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&amp; Reflect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646920" y="3200400"/>
            <a:ext cx="5943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3000" dirty="0"/>
          </a:p>
        </p:txBody>
      </p:sp>
      <p:sp>
        <p:nvSpPr>
          <p:cNvPr id="37" name="Text 34"/>
          <p:cNvSpPr/>
          <p:nvPr/>
        </p:nvSpPr>
        <p:spPr>
          <a:xfrm>
            <a:off x="9326880" y="4023360"/>
            <a:ext cx="123444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talk + exit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920240" y="5285232"/>
            <a:ext cx="8503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tip: Students should say “at” with a time many times today.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Routine Warm-up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speaking in the first 5 minutes.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00" dirty="0"/>
          </a:p>
        </p:txBody>
      </p:sp>
      <p:pic>
        <p:nvPicPr>
          <p:cNvPr id="8" name="Image 0" descr="/mnt/data/a_bright_warm_cartoon_illustration_style_indoor_batch_2.png">    </p:cNvPr>
          <p:cNvPicPr>
            <a:picLocks noChangeAspect="1"/>
          </p:cNvPicPr>
          <p:nvPr/>
        </p:nvPicPr>
        <p:blipFill>
          <a:blip r:embed="rId1"/>
          <a:srcRect l="1199" r="1199" t="0" b="0"/>
          <a:stretch/>
        </p:blipFill>
        <p:spPr>
          <a:xfrm>
            <a:off x="612648" y="1481328"/>
            <a:ext cx="4343400" cy="3337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" y="1481328"/>
            <a:ext cx="4343400" cy="3337560"/>
          </a:xfrm>
          <a:prstGeom prst="roundRect">
            <a:avLst>
              <a:gd name="adj" fmla="val 1918"/>
            </a:avLst>
          </a:prstGeom>
          <a:solidFill>
            <a:srgbClr val="FFFFFF">
              <a:alpha val="0"/>
            </a:srgbClr>
          </a:solidFill>
          <a:ln w="15240">
            <a:solidFill>
              <a:srgbClr val="B9E9F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2648" y="4892040"/>
            <a:ext cx="4343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picture prompt: morning routine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32120" y="1572768"/>
            <a:ext cx="58521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I wake up at seven. What do you do in the morning?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568696" y="2240280"/>
            <a:ext cx="47548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I _____.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568696" y="2862072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Teacher: What time?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568696" y="3474720"/>
            <a:ext cx="42976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At _____.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532120" y="4187952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96712" y="4370832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245352" y="4389120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715000" y="4901184"/>
            <a:ext cx="2011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up · brush teeth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183880" y="4187952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48472" y="4370832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897112" y="4389120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366760" y="4901184"/>
            <a:ext cx="201168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school · study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532120" y="5596128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ask 2 classmates and remember one answer.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Wants to Know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slowly. Students can answer with one word or a full sentence.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86384" y="15087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6916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99616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 you wake up?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9264" y="2221992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wake up at _____.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15384" y="15087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79976" y="16916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28616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you brush your teeth?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98264" y="2221992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brush my teeth in the morning.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44384" y="150876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08976" y="16916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357616" y="170992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eat for breakfast?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27264" y="2221992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eat _____ for breakfast.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6384" y="329184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99616" y="349300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go to school?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9264" y="4005072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school by _____.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15384" y="329184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9976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928616" y="349300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you do homework?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98264" y="4005072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 homework after school.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644384" y="3291840"/>
            <a:ext cx="288036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08976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357616" y="3493008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 you go to bed?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827264" y="4005072"/>
            <a:ext cx="25146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bed at _____.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834640" y="5504688"/>
            <a:ext cx="6583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note: Write one “class routine” sentence on the board.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Your Routine?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choose a feeling before saying a routine.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112" y="19202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444752" y="1938528"/>
            <a:ext cx="868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2450592"/>
            <a:ext cx="13716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wake up early.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999232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63824" y="19202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😴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712464" y="1938528"/>
            <a:ext cx="868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182112" y="2450592"/>
            <a:ext cx="13716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sleepy in the morning.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66944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31536" y="19202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3400" dirty="0"/>
          </a:p>
        </p:txBody>
      </p:sp>
      <p:sp>
        <p:nvSpPr>
          <p:cNvPr id="18" name="Text 15"/>
          <p:cNvSpPr/>
          <p:nvPr/>
        </p:nvSpPr>
        <p:spPr>
          <a:xfrm>
            <a:off x="5980176" y="1938528"/>
            <a:ext cx="868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449824" y="2450592"/>
            <a:ext cx="13716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many things to do.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534656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99248" y="19202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😎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8247888" y="1938528"/>
            <a:ext cx="868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717536" y="2450592"/>
            <a:ext cx="13716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school is cool.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802368" y="1737360"/>
            <a:ext cx="1737360" cy="2148840"/>
          </a:xfrm>
          <a:prstGeom prst="roundRect">
            <a:avLst>
              <a:gd name="adj" fmla="val 421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966960" y="19202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😌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10515600" y="1938528"/>
            <a:ext cx="868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relaxing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985248" y="2450592"/>
            <a:ext cx="137160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at night is relaxing.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828800" y="4892040"/>
            <a:ext cx="8321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with your partner: “I _____ at _____. It is _____.”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Useful Routine Words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gestures and quick repetition.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8580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399032" y="168249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up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219456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your eyes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2608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90672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3639312" y="168249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dressed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08960" y="219456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on clothes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16636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30952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5879592" y="168249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brush teeth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349240" y="219456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your teeth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40664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571232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8119872" y="168249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breakfast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589520" y="219456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food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9646920" y="148132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11512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10360152" y="168249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school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9829800" y="219456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home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68580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0392" y="353872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🍱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399032" y="355701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lunch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68680" y="406908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midday food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292608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090672" y="353872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639312" y="355701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homework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3108960" y="406908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at home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16636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30952" y="353872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</a:t>
            </a:r>
            <a:endParaRPr lang="en-US" sz="2100" dirty="0"/>
          </a:p>
        </p:txBody>
      </p:sp>
      <p:sp>
        <p:nvSpPr>
          <p:cNvPr id="38" name="Text 35"/>
          <p:cNvSpPr/>
          <p:nvPr/>
        </p:nvSpPr>
        <p:spPr>
          <a:xfrm>
            <a:off x="5879592" y="355701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outside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349240" y="406908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and have fun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40664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71232" y="353872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🚿</a:t>
            </a:r>
            <a:endParaRPr lang="en-US" sz="2100" dirty="0"/>
          </a:p>
        </p:txBody>
      </p:sp>
      <p:sp>
        <p:nvSpPr>
          <p:cNvPr id="42" name="Text 39"/>
          <p:cNvSpPr/>
          <p:nvPr/>
        </p:nvSpPr>
        <p:spPr>
          <a:xfrm>
            <a:off x="8119872" y="355701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a shower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589520" y="406908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your body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9646920" y="335584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811512" y="353872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10360152" y="3557016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bed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9829800" y="4069080"/>
            <a:ext cx="1508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time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2468880" y="5532120"/>
            <a:ext cx="7315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Mini-drill: Teacher says the word → students do the gesture.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&amp; Move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hear the sentence, do the action.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86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99616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wake up.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9264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15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79976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28616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brush my teeth.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98264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brush gesture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44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08976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357616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eat breakfast.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27264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spoon gesture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6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" y="344728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99616" y="346557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school.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9264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fingers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15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9976" y="344728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928616" y="346557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 homework.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98264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gesture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644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08976" y="344728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357616" y="346557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bed.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827264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pose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417320" y="5358384"/>
            <a:ext cx="95097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Can your team do all six actions without speaking your first language?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 Phrases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phrases help students speak longer.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86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99616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morning,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9264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your day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15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79976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28616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wake up at _____.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398264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time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44384" y="148132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08976" y="16642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357616" y="168249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 _____.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827264" y="219456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6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0976" y="344728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1499616" y="346557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school.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69264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school action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215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379976" y="344728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🌆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928616" y="346557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school, I _____.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98264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action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644384" y="3264408"/>
            <a:ext cx="2880360" cy="1280160"/>
          </a:xfrm>
          <a:prstGeom prst="roundRect">
            <a:avLst>
              <a:gd name="adj" fmla="val 571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08976" y="344728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357616" y="3465576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Finally, I go to bed.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827264" y="3977640"/>
            <a:ext cx="2514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action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371600" y="5358384"/>
            <a:ext cx="95097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with rhythm: FIRST I wake up. THEN I eat. FINALLY I sleep.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Sentence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practice one useful pattern.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286000" y="1353312"/>
            <a:ext cx="7772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+ routine verb + at + time.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58368" y="205740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402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371600" y="2258568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41248" y="2770632"/>
            <a:ext cx="2788920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up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407408" y="205740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22402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20640" y="2258568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90288" y="2770632"/>
            <a:ext cx="2788920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breakfast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156448" y="205740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2402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869680" y="2258568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339328" y="2770632"/>
            <a:ext cx="2788920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school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58368" y="315468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333756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371600" y="3355848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1248" y="3867912"/>
            <a:ext cx="2788920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lunch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407408" y="315468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333756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5120640" y="3355848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590288" y="3867912"/>
            <a:ext cx="2788920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homework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156448" y="3154680"/>
            <a:ext cx="3154680" cy="749808"/>
          </a:xfrm>
          <a:prstGeom prst="roundRect">
            <a:avLst>
              <a:gd name="adj" fmla="val 9756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321040" y="333756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🧩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8869680" y="3355848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339328" y="3867912"/>
            <a:ext cx="2788920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bed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58368" y="409651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2960" y="4279392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35" name="Text 32"/>
          <p:cNvSpPr/>
          <p:nvPr/>
        </p:nvSpPr>
        <p:spPr>
          <a:xfrm>
            <a:off x="1371600" y="429768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41248" y="4809744"/>
            <a:ext cx="2788920" cy="-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thirty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407408" y="409651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0" y="4279392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5120640" y="429768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590288" y="4809744"/>
            <a:ext cx="2788920" cy="-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o’clock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8156448" y="4096512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21040" y="4279392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8869680" y="429768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339328" y="4809744"/>
            <a:ext cx="2788920" cy="-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fifteen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658368" y="499262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22960" y="5175504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1371600" y="519379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41248" y="5705856"/>
            <a:ext cx="2788920" cy="-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o’clock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4407408" y="499262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572000" y="5175504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51" name="Text 48"/>
          <p:cNvSpPr/>
          <p:nvPr/>
        </p:nvSpPr>
        <p:spPr>
          <a:xfrm>
            <a:off x="5120640" y="519379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590288" y="5705856"/>
            <a:ext cx="2788920" cy="-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thirty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8156448" y="4992624"/>
            <a:ext cx="3154680" cy="658368"/>
          </a:xfrm>
          <a:prstGeom prst="roundRect">
            <a:avLst>
              <a:gd name="adj" fmla="val 111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321040" y="5175504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55" name="Text 52"/>
          <p:cNvSpPr/>
          <p:nvPr/>
        </p:nvSpPr>
        <p:spPr>
          <a:xfrm>
            <a:off x="8869680" y="519379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339328" y="5705856"/>
            <a:ext cx="2788920" cy="-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o’clock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2743200" y="5852160"/>
            <a:ext cx="6858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practice: Choose 3 actions and 3 times.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1: Alex’s Morning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reads. Students listen for actions and times.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pic>
        <p:nvPicPr>
          <p:cNvPr id="8" name="Image 0" descr="/mnt/data/a_bright_classroom_scene_overall_a_teacher_and_a_batch_1.png">    </p:cNvPr>
          <p:cNvPicPr>
            <a:picLocks noChangeAspect="1"/>
          </p:cNvPicPr>
          <p:nvPr/>
        </p:nvPicPr>
        <p:blipFill>
          <a:blip r:embed="rId1"/>
          <a:srcRect l="13380" r="13380" t="0" b="0"/>
          <a:stretch/>
        </p:blipFill>
        <p:spPr>
          <a:xfrm>
            <a:off x="612648" y="1481328"/>
            <a:ext cx="4343400" cy="3337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" y="1481328"/>
            <a:ext cx="4343400" cy="3337560"/>
          </a:xfrm>
          <a:prstGeom prst="roundRect">
            <a:avLst>
              <a:gd name="adj" fmla="val 1918"/>
            </a:avLst>
          </a:prstGeom>
          <a:solidFill>
            <a:srgbClr val="FFFFFF">
              <a:alpha val="0"/>
            </a:srgbClr>
          </a:solidFill>
          <a:ln w="15240">
            <a:solidFill>
              <a:srgbClr val="B9E9F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2648" y="4892040"/>
            <a:ext cx="4343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picture prompt: routine cards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532120" y="1463040"/>
            <a:ext cx="5303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Listen. Put your hand up when you hear: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532120" y="192024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96712" y="21031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245352" y="2121408"/>
            <a:ext cx="3886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wake up at seven.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532120" y="274320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96712" y="29260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245352" y="2944368"/>
            <a:ext cx="3886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brush my teeth.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532120" y="356616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696712" y="37490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245352" y="3767328"/>
            <a:ext cx="3886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eat breakfast at seven thirty.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532120" y="4389120"/>
            <a:ext cx="4754880" cy="566928"/>
          </a:xfrm>
          <a:prstGeom prst="roundRect">
            <a:avLst>
              <a:gd name="adj" fmla="val 1290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696712" y="45720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6245352" y="4590288"/>
            <a:ext cx="3886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school at eight.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532120" y="5367528"/>
            <a:ext cx="47548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is in speaker notes for the teacher.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Check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answer with fingers: 1, 2, or 3.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22960" y="16002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7830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36192" y="1801368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does Alex wake up?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313432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seven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nine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twelve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0" y="16002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91072" y="17830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39712" y="1801368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Alex do next?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09360" y="2313432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play games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brush teeth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go to bed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34290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36118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36192" y="3630168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does Alex eat breakfast?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05840" y="4142232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seven thirty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three o’clock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ten fifteen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26480" y="34290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1072" y="36118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839712" y="3630168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does Alex go to school?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09360" y="4142232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eight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six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one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743200" y="5550408"/>
            <a:ext cx="6766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correction: Say the full answer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Game: Routine Chain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build a longer answer together.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914400" y="18288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DFF3FF"/>
          </a:solidFill>
          <a:ln w="1270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81912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5156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card.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0704" y="3456432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up / homework / bed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0" y="18288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4C5"/>
          </a:solidFill>
          <a:ln w="1270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79476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routine.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803904" y="3456432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wake up.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0" y="18288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DFF3FF"/>
          </a:solidFill>
          <a:ln w="1270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68312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53796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asks time.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547104" y="3456432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time?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144000" y="18288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FF4C5"/>
          </a:solidFill>
          <a:ln w="1270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11512" y="2029968"/>
            <a:ext cx="5486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28116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time.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290304" y="3456432"/>
            <a:ext cx="16459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seven o’clock.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286000" y="5285232"/>
            <a:ext cx="75895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English only. Use gestures if you forget a word!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Dialogue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practice a short, safe conversation.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417320" y="1600200"/>
            <a:ext cx="941832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5240">
            <a:solidFill>
              <a:srgbClr val="B9E9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74520" y="1874520"/>
            <a:ext cx="8503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What do you do in the morning?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74520" y="2286000"/>
            <a:ext cx="8503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I wake up at seven.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874520" y="2697480"/>
            <a:ext cx="8503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What do you do next?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874520" y="3108960"/>
            <a:ext cx="8503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Then I eat breakfast.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874520" y="3520440"/>
            <a:ext cx="8503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A: What time do you go to school?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874520" y="3931920"/>
            <a:ext cx="8503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B: I go to school at eight.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920240" y="5230368"/>
            <a:ext cx="8412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3 times: slow voice → normal voice → acting voice.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Role-play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make routines useful in real conversations.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22960" y="16002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7830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36192" y="1801368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 · Morning at home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05840" y="2313432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family what you do first.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6002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91072" y="17830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39712" y="1801368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 · Going to school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09360" y="2313432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time you leave home.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34290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36118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36192" y="3630168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3 · After school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05840" y="4142232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about homework, play, and dinner.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6480" y="3429000"/>
            <a:ext cx="4480560" cy="1417320"/>
          </a:xfrm>
          <a:prstGeom prst="roundRect">
            <a:avLst>
              <a:gd name="adj" fmla="val 516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1072" y="36118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839712" y="3630168"/>
            <a:ext cx="3611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4 · Bedtime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09360" y="4142232"/>
            <a:ext cx="41148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your evening routine in order.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874520" y="5550408"/>
            <a:ext cx="8503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rule: everyone speaks at least one line with a time.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Corners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move, choose, and explain.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68680" y="1691640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18745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81912" y="1892808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404872"/>
            <a:ext cx="4023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wake up at seven.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26480" y="1691640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91072" y="18745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39712" y="1892808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09360" y="2404872"/>
            <a:ext cx="4023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school at eight.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68680" y="3447288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3272" y="363016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🌆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81912" y="3648456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school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51560" y="4160520"/>
            <a:ext cx="4023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 homework at four.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26480" y="3447288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1072" y="363016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839712" y="3648456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09360" y="4160520"/>
            <a:ext cx="4023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bed at nine.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71600" y="5349240"/>
            <a:ext cx="9509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Move to a corner → tell one friend your sentence → change corner.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Mingle Survey: Ask 4 Friends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ask, answer, and remember times.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22960" y="1600200"/>
            <a:ext cx="192024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0" y="1600200"/>
            <a:ext cx="228600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88920" y="1691640"/>
            <a:ext cx="2194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routine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029200" y="1600200"/>
            <a:ext cx="192024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7492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949440" y="1600200"/>
            <a:ext cx="192024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After-school routine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869680" y="1600200"/>
            <a:ext cx="192024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1540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22960" y="21031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0" y="210312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29200" y="21031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49440" y="21031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0" y="21031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260604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0" y="260604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29200" y="260604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949440" y="260604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69680" y="260604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2960" y="310896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3200" y="310896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029200" y="310896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49440" y="310896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310896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2960" y="361188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743200" y="361188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029200" y="361188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949440" y="361188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869680" y="361188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2960" y="411480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743200" y="411480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29200" y="411480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949440" y="411480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411480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22960" y="46177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743200" y="4617720"/>
            <a:ext cx="2286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029200" y="46177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949440" y="46177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869680" y="4617720"/>
            <a:ext cx="192024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97280" y="5349240"/>
            <a:ext cx="9875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“What do you do in the morning?” → “What time?” → Write one time.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Listening 2: The Busy Day Club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listen for names, routines, and times.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005840" y="1600200"/>
            <a:ext cx="1920240" cy="59436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691640"/>
            <a:ext cx="18288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926080" y="1600200"/>
            <a:ext cx="2468880" cy="59436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1691640"/>
            <a:ext cx="2377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1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394960" y="1600200"/>
            <a:ext cx="1920240" cy="59436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0680" y="1691640"/>
            <a:ext cx="18288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7315200" y="1600200"/>
            <a:ext cx="2468880" cy="59436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60920" y="1691640"/>
            <a:ext cx="23774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05840" y="219456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2286000"/>
            <a:ext cx="18288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Lily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926080" y="219456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94960" y="219456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15200" y="219456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05840" y="278892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51560" y="2880360"/>
            <a:ext cx="18288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926080" y="278892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394960" y="278892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15200" y="278892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05840" y="338328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51560" y="3474720"/>
            <a:ext cx="18288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926080" y="338328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94960" y="338328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315200" y="338328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05840" y="397764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926080" y="397764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94960" y="3977640"/>
            <a:ext cx="192024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315200" y="3977640"/>
            <a:ext cx="2468880" cy="59436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77440" y="5349240"/>
            <a:ext cx="7315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answers with your partner before teacher feedback.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They Do?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the picture. Choose a time and make a sentence.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00" dirty="0"/>
          </a:p>
        </p:txBody>
      </p:sp>
      <p:pic>
        <p:nvPicPr>
          <p:cNvPr id="8" name="Image 0" descr="/mnt/data/a_bright_colorful_classroom_scene_illustrated_in_batch_4.png">    </p:cNvPr>
          <p:cNvPicPr>
            <a:picLocks noChangeAspect="1"/>
          </p:cNvPicPr>
          <p:nvPr/>
        </p:nvPicPr>
        <p:blipFill>
          <a:blip r:embed="rId1"/>
          <a:srcRect l="1199" r="1199" t="0" b="0"/>
          <a:stretch/>
        </p:blipFill>
        <p:spPr>
          <a:xfrm>
            <a:off x="612648" y="1444752"/>
            <a:ext cx="4343400" cy="3337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" y="1444752"/>
            <a:ext cx="4343400" cy="3337560"/>
          </a:xfrm>
          <a:prstGeom prst="roundRect">
            <a:avLst>
              <a:gd name="adj" fmla="val 1918"/>
            </a:avLst>
          </a:prstGeom>
          <a:solidFill>
            <a:srgbClr val="FFFFFF">
              <a:alpha val="0"/>
            </a:srgbClr>
          </a:solidFill>
          <a:ln w="15240">
            <a:solidFill>
              <a:srgbClr val="B9E9F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2648" y="4855464"/>
            <a:ext cx="4343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picture prompt: students ask about routines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532120" y="1572768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96712" y="17556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245352" y="1773936"/>
            <a:ext cx="3886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wakes up at seven.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532120" y="2487168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96712" y="26700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245352" y="2688336"/>
            <a:ext cx="3886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eats breakfast at seven thirty.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532120" y="3401568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96712" y="35844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245352" y="3602736"/>
            <a:ext cx="3886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goes to school at eight.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532120" y="4315968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96712" y="44988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245352" y="4517136"/>
            <a:ext cx="3886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does homework at five.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532120" y="5394960"/>
            <a:ext cx="4754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talk: “I think he / she… at…”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Challenge: Routine Race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 review game before the final speaking task.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914400" y="182880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20116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627632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97280" y="2542032"/>
            <a:ext cx="24231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shows a card. Team says: I ____ at _____.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182880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20116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285232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754880" y="2542032"/>
            <a:ext cx="24231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says a time. Team guesses the routine.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0" y="1828800"/>
            <a:ext cx="2788920" cy="1920240"/>
          </a:xfrm>
          <a:prstGeom prst="roundRect">
            <a:avLst>
              <a:gd name="adj" fmla="val 3810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94192" y="20116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942832" y="2029968"/>
            <a:ext cx="19202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12480" y="2542032"/>
            <a:ext cx="242316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student asks: What time? Another answers.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371600" y="4983480"/>
            <a:ext cx="95097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Scoring: 1 point for clear English · 1 point for time · 1 point for teamwork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Presentation: My Daily Routine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speak for 20–30 seconds.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68680" y="1417320"/>
            <a:ext cx="54864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240">
            <a:solidFill>
              <a:srgbClr val="B9E9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3444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Hello. My name is ____.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234440" y="2167128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morning, I ____ at ____.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2642616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 ____ at ____.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34440" y="3118104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school, I ____ at ____.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3593592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Finally, I go to bed at ____.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34440" y="4069080"/>
            <a:ext cx="4754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20840" y="1417320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8543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👀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434072" y="1618488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up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20840" y="2130552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85432" y="2313432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🗣️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434072" y="2331720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clearly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720840" y="2843784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85432" y="3026664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434072" y="3044952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times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720840" y="3557016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85432" y="3739896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7434072" y="3758184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order words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20840" y="4270248"/>
            <a:ext cx="3108960" cy="530352"/>
          </a:xfrm>
          <a:prstGeom prst="roundRect">
            <a:avLst>
              <a:gd name="adj" fmla="val 1379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85432" y="445312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7434072" y="4471416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Speaking Class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safe classroom when sharing routines.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868680" y="1691640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272" y="18745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81912" y="1892808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English first.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2404872"/>
            <a:ext cx="4023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one word + time is okay.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691640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91072" y="18745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39712" y="1892808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your partner.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309360" y="2404872"/>
            <a:ext cx="4023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Point, gesture, or whisper a word.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" y="3447288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3272" y="363016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581912" y="3648456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for time.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051560" y="4160520"/>
            <a:ext cx="4023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 “at seven” and “after school.”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6480" y="3447288"/>
            <a:ext cx="4389120" cy="1298448"/>
          </a:xfrm>
          <a:prstGeom prst="roundRect">
            <a:avLst>
              <a:gd name="adj" fmla="val 5634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91072" y="363016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839712" y="3648456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Mistakes help us learn.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309360" y="4160520"/>
            <a:ext cx="402336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again with a smile.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743200" y="5349240"/>
            <a:ext cx="6858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chant: “First. Then. Time. Smile.”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Speaking Passport: Day 5 Stamp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 at the end.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2296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I can…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1828800"/>
            <a:ext cx="4389120" cy="1024128"/>
          </a:xfrm>
          <a:prstGeom prst="roundRect">
            <a:avLst>
              <a:gd name="adj" fmla="val 714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20116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581912" y="2029968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a routine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51560" y="2542032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wake up at seven.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26480" y="1828800"/>
            <a:ext cx="4389120" cy="1024128"/>
          </a:xfrm>
          <a:prstGeom prst="roundRect">
            <a:avLst>
              <a:gd name="adj" fmla="val 714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91072" y="201168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39712" y="2029968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friend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2542032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 you wake up?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" y="3291840"/>
            <a:ext cx="4389120" cy="1024128"/>
          </a:xfrm>
          <a:prstGeom prst="roundRect">
            <a:avLst>
              <a:gd name="adj" fmla="val 7143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3327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581912" y="3493008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my day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51560" y="4005072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First, then, finally.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26480" y="3291840"/>
            <a:ext cx="4389120" cy="1024128"/>
          </a:xfrm>
          <a:prstGeom prst="roundRect">
            <a:avLst>
              <a:gd name="adj" fmla="val 7143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9107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839712" y="3493008"/>
            <a:ext cx="3520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the time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309360" y="4005072"/>
            <a:ext cx="402336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seven thirty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2103120" y="5440680"/>
            <a:ext cx="8046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one:  🙂 I can do it   😐 I need practice   🙁 I need help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closing routine.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14300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07592" y="21488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856232" y="2167128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one routine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5880" y="2679192"/>
            <a:ext cx="23774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wake up.”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66344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28032" y="21488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376672" y="2167128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time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846320" y="2679192"/>
            <a:ext cx="23774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“at seven.”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183880" y="1965960"/>
            <a:ext cx="2743200" cy="1965960"/>
          </a:xfrm>
          <a:prstGeom prst="roundRect">
            <a:avLst>
              <a:gd name="adj" fmla="val 3721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48472" y="214884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897112" y="2167128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one order word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66760" y="2679192"/>
            <a:ext cx="237744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“Then I eat breakfast.”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194560" y="5120640"/>
            <a:ext cx="7772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says goodbye using each student’s name when possible.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Quick 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to understand your students after class 5.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700" dirty="0"/>
          </a:p>
        </p:txBody>
      </p:sp>
      <p:pic>
        <p:nvPicPr>
          <p:cNvPr id="8" name="Image 0" descr="/mnt/data/a_bright_warm_cartoon_illustration_style_collage.png">    </p:cNvPr>
          <p:cNvPicPr>
            <a:picLocks noChangeAspect="1"/>
          </p:cNvPicPr>
          <p:nvPr/>
        </p:nvPicPr>
        <p:blipFill>
          <a:blip r:embed="rId1"/>
          <a:srcRect l="1199" r="1199" t="0" b="0"/>
          <a:stretch/>
        </p:blipFill>
        <p:spPr>
          <a:xfrm>
            <a:off x="612648" y="1444752"/>
            <a:ext cx="4343400" cy="33375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2648" y="1444752"/>
            <a:ext cx="4343400" cy="3337560"/>
          </a:xfrm>
          <a:prstGeom prst="roundRect">
            <a:avLst>
              <a:gd name="adj" fmla="val 1918"/>
            </a:avLst>
          </a:prstGeom>
          <a:solidFill>
            <a:srgbClr val="FFFFFF">
              <a:alpha val="0"/>
            </a:srgbClr>
          </a:solidFill>
          <a:ln w="15240">
            <a:solidFill>
              <a:srgbClr val="B9E9F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12648" y="4855464"/>
            <a:ext cx="4343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image: daily routine speaking activity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230368" y="1508760"/>
            <a:ext cx="132588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76088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556248" y="1508760"/>
            <a:ext cx="114300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01968" y="1600200"/>
            <a:ext cx="1051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say routine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699248" y="1508760"/>
            <a:ext cx="132588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44968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tell time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025128" y="1508760"/>
            <a:ext cx="132588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070848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order day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10351008" y="1508760"/>
            <a:ext cx="1143000" cy="502920"/>
          </a:xfrm>
          <a:prstGeom prst="rect">
            <a:avLst/>
          </a:prstGeom>
          <a:solidFill>
            <a:srgbClr val="DFF3FF"/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396728" y="1600200"/>
            <a:ext cx="1051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needed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230368" y="201168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556248" y="201168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699248" y="201168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025128" y="201168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351008" y="201168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230368" y="251460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6248" y="251460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699248" y="251460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025128" y="251460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10351008" y="251460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230368" y="301752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556248" y="301752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7699248" y="301752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025128" y="301752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0351008" y="301752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230368" y="352044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556248" y="352044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7699248" y="352044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9025128" y="352044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0351008" y="352044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230368" y="402336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556248" y="402336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699248" y="402336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025128" y="4023360"/>
            <a:ext cx="132588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10351008" y="4023360"/>
            <a:ext cx="1143000" cy="502920"/>
          </a:xfrm>
          <a:prstGeom prst="rect">
            <a:avLst/>
          </a:prstGeom>
          <a:solidFill>
            <a:srgbClr val="FFFFFF">
              <a:alpha val="85000"/>
            </a:srgbClr>
          </a:solidFill>
          <a:ln w="8890">
            <a:solidFill>
              <a:srgbClr val="B9E9F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303520" y="5166360"/>
            <a:ext cx="6217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class, group students by confidence, time words, and sequence control.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Printable Cards: Morning Routines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this slide and cut into cards.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8580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9903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wake up.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time?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52044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8503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🛏️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3367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get up.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time?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5508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06831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get dressed.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796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time?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18972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5431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🪥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90295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brush my teeth.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7260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time?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580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39903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eat breakfast.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6868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time?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52044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8503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🎒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23367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pack my bag.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0332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time?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35508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1967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06831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school.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53796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time?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18972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5431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👋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990295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say goodbye.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37260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What time?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828800" y="5623560"/>
            <a:ext cx="85953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idea: Give one card to each student. They must add “at ____.”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Printable Cards: After-School &amp; Evening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pick a card and finish the sentence.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8580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🍱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9903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lunch.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____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52044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8503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3367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play outside.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____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5508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06831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do homework.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796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____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18972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5431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90295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dinner.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7260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____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580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🚿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39903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take a shower.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6868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____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52044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8503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23367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read a book.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0332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____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35508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1967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🧸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06831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relax.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53796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____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18972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5431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990295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go to bed.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37260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____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2834640" y="5623560"/>
            <a:ext cx="6583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Students create one new routine card.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Printable Cards: Questions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interviews, mingle, or small-group speaking.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68580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039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9903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 you wake up?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at ____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52044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8503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🍳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23367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eat for breakfast?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0332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I eat ____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5508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967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06831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 you go to school?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3796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at ____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189720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54312" y="160020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902952" y="161848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 you do homework?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72600" y="213055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after ____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580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⚽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139903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do after school?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6868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I ____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52044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8503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423367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 you have dinner?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70332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at ____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35508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1967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706831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 you go to bed?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53796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at ____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9189720" y="329184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54312" y="347472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9902952" y="3493008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do next?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9372600" y="4005072"/>
            <a:ext cx="1965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with Then I ____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2834640" y="5623560"/>
            <a:ext cx="65836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Extension: Students create one new question card.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Practice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9496" y="102412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someone at home 3 questions.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B9E9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620256"/>
            <a:ext cx="5212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Routines · Day 5 · Speaking &amp; Listening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768328" y="662025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E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703320" y="1371600"/>
            <a:ext cx="4937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English with family or a friend.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143000" y="201168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07592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856232" y="2212848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25880" y="2724912"/>
            <a:ext cx="23774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 you wake up?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201168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4C5"/>
          </a:solidFill>
          <a:ln w="15240">
            <a:solidFill>
              <a:srgbClr val="F6B2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🌆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376672" y="2212848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46320" y="2724912"/>
            <a:ext cx="23774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do after school or work?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183880" y="2011680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DFF3FF"/>
          </a:solidFill>
          <a:ln w="15240">
            <a:solidFill>
              <a:srgbClr val="00A6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8472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🌙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897112" y="2212848"/>
            <a:ext cx="1874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66760" y="2724912"/>
            <a:ext cx="23774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time do you go to bed?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657600" y="5166360"/>
            <a:ext cx="49377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one answer to next class.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Speak Up English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Routines - Day 5</dc:title>
  <dc:subject>Day 5 Daily Routines, speaking and listening lesson for ages 8-12</dc:subject>
  <dc:creator>OpenAI</dc:creator>
  <cp:lastModifiedBy>OpenAI</cp:lastModifiedBy>
  <cp:revision>1</cp:revision>
  <dcterms:created xsi:type="dcterms:W3CDTF">2026-07-04T07:03:50Z</dcterms:created>
  <dcterms:modified xsi:type="dcterms:W3CDTF">2026-07-04T07:03:50Z</dcterms:modified>
</cp:coreProperties>
</file>