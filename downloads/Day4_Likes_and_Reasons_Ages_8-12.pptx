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4.xml.rels" ContentType="application/vnd.openxmlformats-package.relationships+xml"/>
  <Override PartName="/ppt/slides/_rels/slide26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8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29.xml.rels" ContentType="application/vnd.openxmlformats-package.relationships+xml"/>
  <Override PartName="/ppt/slides/_rels/slide4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1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24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25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notesSlides/_rels/notesSlide15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381580F-463C-47FE-827E-852AD1D3817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Welcome students. Say: Today we will talk about things we like and give reasons. The goal is not long answers. The goal is clear English with because.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FD9497-4FEB-43A1-8187-162DF117410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Ask students to repeat the mission. Use gestures: heart for like, finger to head for reason, and handshake for ask a friend.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17BF1C-12D1-40C3-B02B-1089FD0E2FC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Keep this slide quick. Say: We will listen, practice reasons, ask many friends, and finish with a small presentation.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3E5AB9-8987-4009-9C79-8D59CAF7CA8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Use the picture. Model with one student. Students stand and ask two friends. Accept one-word answers first, then push for because.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18DD6F-E8C9-4CE6-A16E-2922BBE5F26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Ask 2 or 3 students as a model, then students ask partners. Collect the class favorite foods, games, and activities.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839718-5FFE-475E-B768-B374373765E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Students point to a feeling first. Then they say one sentence. Remind them that polite English is okay even when we do not like something.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4C8922-C84A-4063-BCA0-FCD7C8418A2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Teach each reason word with an action. Fun = big smile, delicious = rub tummy, interesting = point to head, healthy = muscles.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A32230-5E47-49C4-B4D9-15D0DD8523D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Teacher reads sentences in random order. Students do the action. Round 2 is faster. Round 3: a student leads.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38DC36-0F84-4E58-BCD5-188B3FFD382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Use call and response. Teach stress: LIKE, BECAUSE, and the reason word.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F4D1DA-BF61-4000-B2CE-427D45B37BF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Students point to a noun and reason to build the sentence. Stronger students can add: I like it because it is fun and easy.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7AB3D7-3125-44A0-A384-E2F0F33F029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Listening script 1. Read twice. First time: students only listen. Second time: students raise their hand when they hear the key phrases.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Mia: What do you like, Omar?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Omar: I like drawing.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Mia: Why?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Omar: Because it is creative. What do you like?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Mia: I like music because it is fun.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Omar: Me too! I like music.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797B4D-9EE3-4AA0-93E1-F71BF320C8B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Students answer with fingers. Then say full answers: Omar likes drawing because it is creative. Mia likes music because it is fun.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A03A2D-5004-4028-BCF5-CD106319CE1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Give each pair object cards. Student A says a like. Student B asks why. Student A gives a reason. Then switch roles.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1AED55-3ACC-4AB4-8CAA-BFE853A4718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Model with one confident student. Then students repeat line by line. Finally pairs act it with different feelings: excited, shy, sleepy, surprised.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D9F159-D24F-44FC-B098-6AE4C4D955E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Assign each pair one role-play. Give 3 minutes to prepare and 5-7 minutes for quick performances. Praise reasons, not only grammar.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391303-A802-4E82-8FF4-71306720F59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Put four picture cards in the classroom corners. Students move to a favorite corner and explain their reason to one friend.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9E2CCE-74D6-4EBB-9CE6-8E5B94CE7B3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Students ask four friends and record short answers. For low-level students, allow drawing in the table. Strong students write full reason words.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9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BC9E28-C8E3-4EAC-9E57-F0E0C1EC18F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Listening script 2. Read twice. First listen: students only listen. Second listen: students fill the table.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Ben: Hi, Lily. What do you like?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Lily: I like animals because they are cute. What about you?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Ben: I like football because it is exciting.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Lily: That is different. Sara likes football too.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Sara: Yes, I like football because it is fast.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buNone/>
            </a:pP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Answers: Lily - animals - cute - different from Ben. Ben - football - exciting. Sara - football - fast/same as Ben.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2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BB7BDD-7A62-45CE-95C4-38478A01FC9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Use the picture as a speaking prompt. Students choose one child and make a sentence. Encourage them to point and use because.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5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AD8AAC-5BB1-4B57-B348-AA35ED8D076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Make 2-4 teams. Keep it light and positive. Do not overcorrect. Award bonus points for students who help shy classmates speak.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8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0467DF-9197-4B12-A1B3-AE2B58AE6A3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This is the final speaking task. Let students present in pairs or small groups if whole-class speaking is stressful.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1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05F868-2E71-48CA-A580-70CAA2E11C0E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Have students repeat the class chant. Ask students to show thumbs up if they agree.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4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545C28-B0CD-46CE-B895-9419660D7D3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Students self-assess. Ask students to choose one sentence they can say today.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7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7EB527F-27DA-40D6-B22F-6E5EA24B4FA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Students must say one thing before leaving. Keep it positive and fast.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0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951F27-C9DB-416B-86D3-BBEC25E9F12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Use this as a teacher-only slide. Identify who can answer with a reason, who only says one word, and who needs more listening support.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3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FC08C1-3853-41CD-B8F6-57BB73694302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Print and cut. Use for pair role-plays, memory games, and classroom routines.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6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2938E8-F49F-4191-BCFE-E0B56564FAF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Print and cut. Students match a like card with a reason card to make a full sentence.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9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00F8F4-6C60-4A93-BFD4-A69FC11E042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Print and cut. Give each pair four cards. Students ask and answer, then swap cards with another pair.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D6B0A2-7C55-4727-A7C3-EFB451041C48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8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This is optional homework. Students ask a family member or friend three questions and bring one answer. Keep homework oral, not writing-heavy.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5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572D89-851E-4FF2-A454-587FFBC9810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/mnt/data/day4_title_bg_dark.png"/>
          <p:cNvPicPr/>
          <p:nvPr/>
        </p:nvPicPr>
        <p:blipFill>
          <a:blip r:embed="rId1"/>
          <a:srcRect l="0" t="24" r="0" b="24"/>
          <a:stretch/>
        </p:blipFill>
        <p:spPr>
          <a:xfrm>
            <a:off x="0" y="0"/>
            <a:ext cx="121914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Shape 0"/>
          <p:cNvSpPr/>
          <p:nvPr/>
        </p:nvSpPr>
        <p:spPr>
          <a:xfrm>
            <a:off x="511920" y="640080"/>
            <a:ext cx="6126120" cy="4800240"/>
          </a:xfrm>
          <a:prstGeom prst="roundRect">
            <a:avLst>
              <a:gd name="adj" fmla="val 2857"/>
            </a:avLst>
          </a:prstGeom>
          <a:solidFill>
            <a:srgbClr val="ffffff">
              <a:alpha val="94000"/>
            </a:srgbClr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1"/>
          <p:cNvSpPr/>
          <p:nvPr/>
        </p:nvSpPr>
        <p:spPr>
          <a:xfrm>
            <a:off x="822960" y="960120"/>
            <a:ext cx="2057040" cy="383760"/>
          </a:xfrm>
          <a:prstGeom prst="roundRect">
            <a:avLst>
              <a:gd name="adj" fmla="val 28571"/>
            </a:avLst>
          </a:prstGeom>
          <a:solidFill>
            <a:srgbClr val="ff8500"/>
          </a:solidFill>
          <a:ln w="12600">
            <a:solidFill>
              <a:srgbClr val="ff8500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>
            <a:off x="822960" y="1037880"/>
            <a:ext cx="20570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DAY 4 · 90 MINUTES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822960" y="1600200"/>
            <a:ext cx="5120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3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Likes and Reasons</a:t>
            </a:r>
            <a:endParaRPr b="0" lang="en-US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841320" y="2340720"/>
            <a:ext cx="516600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ef476f"/>
                </a:solidFill>
                <a:effectLst/>
                <a:uFillTx/>
                <a:latin typeface="Aptos Display"/>
                <a:ea typeface="Aptos Display"/>
              </a:rPr>
              <a:t>Share what you like and explain it with “because.”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5"/>
          <p:cNvSpPr/>
          <p:nvPr/>
        </p:nvSpPr>
        <p:spPr>
          <a:xfrm>
            <a:off x="840960" y="2761200"/>
            <a:ext cx="4800600" cy="360"/>
          </a:xfrm>
          <a:prstGeom prst="line">
            <a:avLst/>
          </a:prstGeom>
          <a:ln w="15120">
            <a:solidFill>
              <a:srgbClr val="bde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6"/>
          <p:cNvSpPr/>
          <p:nvPr/>
        </p:nvSpPr>
        <p:spPr>
          <a:xfrm>
            <a:off x="841320" y="4069080"/>
            <a:ext cx="2358720" cy="804240"/>
          </a:xfrm>
          <a:prstGeom prst="roundRect">
            <a:avLst>
              <a:gd name="adj" fmla="val 15909"/>
            </a:avLst>
          </a:prstGeom>
          <a:solidFill>
            <a:srgbClr val="ddf3ff"/>
          </a:solidFill>
          <a:ln w="1512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7"/>
          <p:cNvSpPr/>
          <p:nvPr/>
        </p:nvSpPr>
        <p:spPr>
          <a:xfrm>
            <a:off x="1069920" y="427032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❤️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8"/>
          <p:cNvSpPr/>
          <p:nvPr/>
        </p:nvSpPr>
        <p:spPr>
          <a:xfrm>
            <a:off x="1591200" y="4325040"/>
            <a:ext cx="13986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I can say…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9"/>
          <p:cNvSpPr/>
          <p:nvPr/>
        </p:nvSpPr>
        <p:spPr>
          <a:xfrm>
            <a:off x="1097280" y="4699800"/>
            <a:ext cx="184680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“I like drawing.”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0"/>
          <p:cNvSpPr/>
          <p:nvPr/>
        </p:nvSpPr>
        <p:spPr>
          <a:xfrm>
            <a:off x="3401640" y="4069080"/>
            <a:ext cx="2395440" cy="804240"/>
          </a:xfrm>
          <a:prstGeom prst="roundRect">
            <a:avLst>
              <a:gd name="adj" fmla="val 15909"/>
            </a:avLst>
          </a:prstGeom>
          <a:solidFill>
            <a:srgbClr val="fff3c4"/>
          </a:solidFill>
          <a:ln w="15120">
            <a:solidFill>
              <a:srgbClr val="ffb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1"/>
          <p:cNvSpPr/>
          <p:nvPr/>
        </p:nvSpPr>
        <p:spPr>
          <a:xfrm>
            <a:off x="3630240" y="427032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💡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2"/>
          <p:cNvSpPr/>
          <p:nvPr/>
        </p:nvSpPr>
        <p:spPr>
          <a:xfrm>
            <a:off x="4151520" y="4325040"/>
            <a:ext cx="1435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5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I can explain…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3"/>
          <p:cNvSpPr/>
          <p:nvPr/>
        </p:nvSpPr>
        <p:spPr>
          <a:xfrm>
            <a:off x="3657600" y="4699800"/>
            <a:ext cx="1883160" cy="15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“because it is fun.”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4"/>
          <p:cNvSpPr/>
          <p:nvPr/>
        </p:nvSpPr>
        <p:spPr>
          <a:xfrm>
            <a:off x="0" y="6565320"/>
            <a:ext cx="12191400" cy="292320"/>
          </a:xfrm>
          <a:prstGeom prst="rect">
            <a:avLst/>
          </a:prstGeom>
          <a:solidFill>
            <a:srgbClr val="ffffff">
              <a:alpha val="75000"/>
            </a:srgbClr>
          </a:solidFill>
          <a:ln w="12600">
            <a:solidFill>
              <a:srgbClr val="ffff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5"/>
          <p:cNvSpPr/>
          <p:nvPr/>
        </p:nvSpPr>
        <p:spPr>
          <a:xfrm>
            <a:off x="502920" y="6583680"/>
            <a:ext cx="5668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Likes and Reasons · Day 4 · Speaking &amp; Listening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6"/>
          <p:cNvSpPr/>
          <p:nvPr/>
        </p:nvSpPr>
        <p:spPr>
          <a:xfrm>
            <a:off x="11585520" y="6583680"/>
            <a:ext cx="273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01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/>
          <p:cNvSpPr/>
          <p:nvPr/>
        </p:nvSpPr>
        <p:spPr>
          <a:xfrm>
            <a:off x="0" y="6546960"/>
            <a:ext cx="12191400" cy="360"/>
          </a:xfrm>
          <a:prstGeom prst="line">
            <a:avLst/>
          </a:prstGeom>
          <a:ln w="12600">
            <a:solidFill>
              <a:srgbClr val="bde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"/>
          <p:cNvSpPr/>
          <p:nvPr/>
        </p:nvSpPr>
        <p:spPr>
          <a:xfrm>
            <a:off x="502920" y="329040"/>
            <a:ext cx="6217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Today’s Mission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"/>
          <p:cNvSpPr/>
          <p:nvPr/>
        </p:nvSpPr>
        <p:spPr>
          <a:xfrm>
            <a:off x="539640" y="914400"/>
            <a:ext cx="7497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Students learn to give simple opinions with reasons.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3"/>
          <p:cNvSpPr/>
          <p:nvPr/>
        </p:nvSpPr>
        <p:spPr>
          <a:xfrm>
            <a:off x="658440" y="1234440"/>
            <a:ext cx="10881000" cy="1096920"/>
          </a:xfrm>
          <a:prstGeom prst="roundRect">
            <a:avLst>
              <a:gd name="adj" fmla="val 11667"/>
            </a:avLst>
          </a:prstGeom>
          <a:solidFill>
            <a:srgbClr val="173a52"/>
          </a:solidFill>
          <a:ln w="12600">
            <a:solidFill>
              <a:srgbClr val="173a5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4"/>
          <p:cNvSpPr/>
          <p:nvPr/>
        </p:nvSpPr>
        <p:spPr>
          <a:xfrm>
            <a:off x="822960" y="1554480"/>
            <a:ext cx="10560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trike="noStrike" u="non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By the end of class, I can say what I like and why.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5"/>
          <p:cNvSpPr/>
          <p:nvPr/>
        </p:nvSpPr>
        <p:spPr>
          <a:xfrm>
            <a:off x="713160" y="2743200"/>
            <a:ext cx="3382920" cy="2057040"/>
          </a:xfrm>
          <a:prstGeom prst="roundRect">
            <a:avLst>
              <a:gd name="adj" fmla="val 6222"/>
            </a:avLst>
          </a:prstGeom>
          <a:solidFill>
            <a:srgbClr val="ddf3ff"/>
          </a:solidFill>
          <a:ln w="1512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6"/>
          <p:cNvSpPr/>
          <p:nvPr/>
        </p:nvSpPr>
        <p:spPr>
          <a:xfrm>
            <a:off x="941760" y="294444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👂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7"/>
          <p:cNvSpPr/>
          <p:nvPr/>
        </p:nvSpPr>
        <p:spPr>
          <a:xfrm>
            <a:off x="1463040" y="2999160"/>
            <a:ext cx="2422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Listen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8"/>
          <p:cNvSpPr/>
          <p:nvPr/>
        </p:nvSpPr>
        <p:spPr>
          <a:xfrm>
            <a:off x="969120" y="3529440"/>
            <a:ext cx="28710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I can hear likes and reasons in a short conversation.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9"/>
          <p:cNvSpPr/>
          <p:nvPr/>
        </p:nvSpPr>
        <p:spPr>
          <a:xfrm>
            <a:off x="4443840" y="2743200"/>
            <a:ext cx="3382920" cy="2057040"/>
          </a:xfrm>
          <a:prstGeom prst="roundRect">
            <a:avLst>
              <a:gd name="adj" fmla="val 6222"/>
            </a:avLst>
          </a:prstGeom>
          <a:solidFill>
            <a:srgbClr val="dff7ef"/>
          </a:solidFill>
          <a:ln w="1512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0"/>
          <p:cNvSpPr/>
          <p:nvPr/>
        </p:nvSpPr>
        <p:spPr>
          <a:xfrm>
            <a:off x="4672440" y="294444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🗣️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1"/>
          <p:cNvSpPr/>
          <p:nvPr/>
        </p:nvSpPr>
        <p:spPr>
          <a:xfrm>
            <a:off x="5193720" y="2999160"/>
            <a:ext cx="2422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Speak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2"/>
          <p:cNvSpPr/>
          <p:nvPr/>
        </p:nvSpPr>
        <p:spPr>
          <a:xfrm>
            <a:off x="4700160" y="3529440"/>
            <a:ext cx="28710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I can say: I like ____ because it is ____.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3"/>
          <p:cNvSpPr/>
          <p:nvPr/>
        </p:nvSpPr>
        <p:spPr>
          <a:xfrm>
            <a:off x="8174880" y="2743200"/>
            <a:ext cx="3382920" cy="2057040"/>
          </a:xfrm>
          <a:prstGeom prst="roundRect">
            <a:avLst>
              <a:gd name="adj" fmla="val 6222"/>
            </a:avLst>
          </a:prstGeom>
          <a:solidFill>
            <a:srgbClr val="fff3c4"/>
          </a:solidFill>
          <a:ln w="15120">
            <a:solidFill>
              <a:srgbClr val="ffb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4"/>
          <p:cNvSpPr/>
          <p:nvPr/>
        </p:nvSpPr>
        <p:spPr>
          <a:xfrm>
            <a:off x="8403480" y="294444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🤝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5"/>
          <p:cNvSpPr/>
          <p:nvPr/>
        </p:nvSpPr>
        <p:spPr>
          <a:xfrm>
            <a:off x="8924400" y="2999160"/>
            <a:ext cx="2422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Connect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6"/>
          <p:cNvSpPr/>
          <p:nvPr/>
        </p:nvSpPr>
        <p:spPr>
          <a:xfrm>
            <a:off x="8430840" y="3529440"/>
            <a:ext cx="28710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I can ask a friend: What do you like? Why?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7"/>
          <p:cNvSpPr/>
          <p:nvPr/>
        </p:nvSpPr>
        <p:spPr>
          <a:xfrm>
            <a:off x="2011680" y="5486400"/>
            <a:ext cx="8229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ef476f"/>
                </a:solidFill>
                <a:effectLst/>
                <a:uFillTx/>
                <a:latin typeface="Aptos Display"/>
                <a:ea typeface="Aptos Display"/>
              </a:rPr>
              <a:t>Class promise: Give a reason. Listen kindly. Ask “Why?”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8"/>
          <p:cNvSpPr/>
          <p:nvPr/>
        </p:nvSpPr>
        <p:spPr>
          <a:xfrm>
            <a:off x="502920" y="6583680"/>
            <a:ext cx="5668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Likes and Reasons · Day 4 · Speaking &amp; Listening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9"/>
          <p:cNvSpPr/>
          <p:nvPr/>
        </p:nvSpPr>
        <p:spPr>
          <a:xfrm>
            <a:off x="11585520" y="6583680"/>
            <a:ext cx="273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02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0"/>
          <p:cNvSpPr/>
          <p:nvPr/>
        </p:nvSpPr>
        <p:spPr>
          <a:xfrm>
            <a:off x="0" y="6546960"/>
            <a:ext cx="12191400" cy="360"/>
          </a:xfrm>
          <a:prstGeom prst="line">
            <a:avLst/>
          </a:prstGeom>
          <a:ln w="12600">
            <a:solidFill>
              <a:srgbClr val="bde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"/>
          <p:cNvSpPr/>
          <p:nvPr/>
        </p:nvSpPr>
        <p:spPr>
          <a:xfrm>
            <a:off x="502920" y="329040"/>
            <a:ext cx="6217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90-Minute Class Map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"/>
          <p:cNvSpPr/>
          <p:nvPr/>
        </p:nvSpPr>
        <p:spPr>
          <a:xfrm>
            <a:off x="539640" y="914400"/>
            <a:ext cx="7497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Use this slide to tell students what will happen today.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3"/>
          <p:cNvSpPr/>
          <p:nvPr/>
        </p:nvSpPr>
        <p:spPr>
          <a:xfrm>
            <a:off x="502920" y="1874520"/>
            <a:ext cx="1599840" cy="2605680"/>
          </a:xfrm>
          <a:prstGeom prst="roundRect">
            <a:avLst>
              <a:gd name="adj" fmla="val 5714"/>
            </a:avLst>
          </a:prstGeom>
          <a:solidFill>
            <a:srgbClr val="ddf3ff"/>
          </a:solidFill>
          <a:ln w="126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4"/>
          <p:cNvSpPr/>
          <p:nvPr/>
        </p:nvSpPr>
        <p:spPr>
          <a:xfrm>
            <a:off x="502920" y="1984320"/>
            <a:ext cx="1599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73a52"/>
                </a:solidFill>
                <a:effectLst/>
                <a:uFillTx/>
                <a:latin typeface="Aptos"/>
                <a:ea typeface="Aptos"/>
              </a:rPr>
              <a:t>0–10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5"/>
          <p:cNvSpPr/>
          <p:nvPr/>
        </p:nvSpPr>
        <p:spPr>
          <a:xfrm>
            <a:off x="612720" y="2240280"/>
            <a:ext cx="13802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Quick Likes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6"/>
          <p:cNvSpPr/>
          <p:nvPr/>
        </p:nvSpPr>
        <p:spPr>
          <a:xfrm>
            <a:off x="640080" y="4151520"/>
            <a:ext cx="1325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warm-up + feelings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7"/>
          <p:cNvSpPr/>
          <p:nvPr/>
        </p:nvSpPr>
        <p:spPr>
          <a:xfrm>
            <a:off x="2423160" y="1874520"/>
            <a:ext cx="1599840" cy="2605680"/>
          </a:xfrm>
          <a:prstGeom prst="roundRect">
            <a:avLst>
              <a:gd name="adj" fmla="val 5714"/>
            </a:avLst>
          </a:prstGeom>
          <a:solidFill>
            <a:srgbClr val="dff7ef"/>
          </a:solidFill>
          <a:ln w="126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8"/>
          <p:cNvSpPr/>
          <p:nvPr/>
        </p:nvSpPr>
        <p:spPr>
          <a:xfrm>
            <a:off x="2423160" y="1984320"/>
            <a:ext cx="1599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73a52"/>
                </a:solidFill>
                <a:effectLst/>
                <a:uFillTx/>
                <a:latin typeface="Aptos"/>
                <a:ea typeface="Aptos"/>
              </a:rPr>
              <a:t>10–25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9"/>
          <p:cNvSpPr/>
          <p:nvPr/>
        </p:nvSpPr>
        <p:spPr>
          <a:xfrm>
            <a:off x="2532960" y="2240280"/>
            <a:ext cx="13802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Listen &amp; Point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0"/>
          <p:cNvSpPr/>
          <p:nvPr/>
        </p:nvSpPr>
        <p:spPr>
          <a:xfrm>
            <a:off x="2560320" y="4151520"/>
            <a:ext cx="1325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hear likes / dislikes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1"/>
          <p:cNvSpPr/>
          <p:nvPr/>
        </p:nvSpPr>
        <p:spPr>
          <a:xfrm>
            <a:off x="4343400" y="1874520"/>
            <a:ext cx="1599840" cy="2605680"/>
          </a:xfrm>
          <a:prstGeom prst="roundRect">
            <a:avLst>
              <a:gd name="adj" fmla="val 5714"/>
            </a:avLst>
          </a:prstGeom>
          <a:solidFill>
            <a:srgbClr val="fff3c4"/>
          </a:solidFill>
          <a:ln w="12600">
            <a:solidFill>
              <a:srgbClr val="ffb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2"/>
          <p:cNvSpPr/>
          <p:nvPr/>
        </p:nvSpPr>
        <p:spPr>
          <a:xfrm>
            <a:off x="4343400" y="1984320"/>
            <a:ext cx="1599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73a52"/>
                </a:solidFill>
                <a:effectLst/>
                <a:uFillTx/>
                <a:latin typeface="Aptos"/>
                <a:ea typeface="Aptos"/>
              </a:rPr>
              <a:t>25–40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3"/>
          <p:cNvSpPr/>
          <p:nvPr/>
        </p:nvSpPr>
        <p:spPr>
          <a:xfrm>
            <a:off x="4453200" y="2240280"/>
            <a:ext cx="13802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Reason Words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4"/>
          <p:cNvSpPr/>
          <p:nvPr/>
        </p:nvSpPr>
        <p:spPr>
          <a:xfrm>
            <a:off x="4480560" y="4151520"/>
            <a:ext cx="1325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fun, easy, delicious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5"/>
          <p:cNvSpPr/>
          <p:nvPr/>
        </p:nvSpPr>
        <p:spPr>
          <a:xfrm>
            <a:off x="6263640" y="1874520"/>
            <a:ext cx="1599840" cy="2605680"/>
          </a:xfrm>
          <a:prstGeom prst="roundRect">
            <a:avLst>
              <a:gd name="adj" fmla="val 5714"/>
            </a:avLst>
          </a:prstGeom>
          <a:solidFill>
            <a:srgbClr val="ddf3ff"/>
          </a:solidFill>
          <a:ln w="126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6"/>
          <p:cNvSpPr/>
          <p:nvPr/>
        </p:nvSpPr>
        <p:spPr>
          <a:xfrm>
            <a:off x="6263640" y="1984320"/>
            <a:ext cx="1599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73a52"/>
                </a:solidFill>
                <a:effectLst/>
                <a:uFillTx/>
                <a:latin typeface="Aptos"/>
                <a:ea typeface="Aptos"/>
              </a:rPr>
              <a:t>40–55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7"/>
          <p:cNvSpPr/>
          <p:nvPr/>
        </p:nvSpPr>
        <p:spPr>
          <a:xfrm>
            <a:off x="6373440" y="2240280"/>
            <a:ext cx="13802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Listening Story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8"/>
          <p:cNvSpPr/>
          <p:nvPr/>
        </p:nvSpPr>
        <p:spPr>
          <a:xfrm>
            <a:off x="6400800" y="4151520"/>
            <a:ext cx="1325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find likes + reasons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9"/>
          <p:cNvSpPr/>
          <p:nvPr/>
        </p:nvSpPr>
        <p:spPr>
          <a:xfrm>
            <a:off x="8183880" y="1874520"/>
            <a:ext cx="1599840" cy="2605680"/>
          </a:xfrm>
          <a:prstGeom prst="roundRect">
            <a:avLst>
              <a:gd name="adj" fmla="val 5714"/>
            </a:avLst>
          </a:prstGeom>
          <a:solidFill>
            <a:srgbClr val="dff7ef"/>
          </a:solidFill>
          <a:ln w="126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0"/>
          <p:cNvSpPr/>
          <p:nvPr/>
        </p:nvSpPr>
        <p:spPr>
          <a:xfrm>
            <a:off x="8183880" y="1984320"/>
            <a:ext cx="1599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73a52"/>
                </a:solidFill>
                <a:effectLst/>
                <a:uFillTx/>
                <a:latin typeface="Aptos"/>
                <a:ea typeface="Aptos"/>
              </a:rPr>
              <a:t>55–75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1"/>
          <p:cNvSpPr/>
          <p:nvPr/>
        </p:nvSpPr>
        <p:spPr>
          <a:xfrm>
            <a:off x="8293680" y="2240280"/>
            <a:ext cx="13802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Speak &amp; Survey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2"/>
          <p:cNvSpPr/>
          <p:nvPr/>
        </p:nvSpPr>
        <p:spPr>
          <a:xfrm>
            <a:off x="8321040" y="4151520"/>
            <a:ext cx="1325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ask friends + tally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23"/>
          <p:cNvSpPr/>
          <p:nvPr/>
        </p:nvSpPr>
        <p:spPr>
          <a:xfrm>
            <a:off x="10104120" y="1874520"/>
            <a:ext cx="1599840" cy="2605680"/>
          </a:xfrm>
          <a:prstGeom prst="roundRect">
            <a:avLst>
              <a:gd name="adj" fmla="val 5714"/>
            </a:avLst>
          </a:prstGeom>
          <a:solidFill>
            <a:srgbClr val="fff3c4"/>
          </a:solidFill>
          <a:ln w="12600">
            <a:solidFill>
              <a:srgbClr val="ffb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4"/>
          <p:cNvSpPr/>
          <p:nvPr/>
        </p:nvSpPr>
        <p:spPr>
          <a:xfrm>
            <a:off x="10104120" y="1984320"/>
            <a:ext cx="1599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73a52"/>
                </a:solidFill>
                <a:effectLst/>
                <a:uFillTx/>
                <a:latin typeface="Aptos"/>
                <a:ea typeface="Aptos"/>
              </a:rPr>
              <a:t>75–90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5"/>
          <p:cNvSpPr/>
          <p:nvPr/>
        </p:nvSpPr>
        <p:spPr>
          <a:xfrm>
            <a:off x="10213920" y="2240280"/>
            <a:ext cx="13802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Show &amp; Reflect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6"/>
          <p:cNvSpPr/>
          <p:nvPr/>
        </p:nvSpPr>
        <p:spPr>
          <a:xfrm>
            <a:off x="10241280" y="4151520"/>
            <a:ext cx="13255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mini talk + exit ticket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7"/>
          <p:cNvSpPr/>
          <p:nvPr/>
        </p:nvSpPr>
        <p:spPr>
          <a:xfrm>
            <a:off x="2286000" y="5623560"/>
            <a:ext cx="7497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Teacher tip: Students should answer with “because” many times today.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8"/>
          <p:cNvSpPr/>
          <p:nvPr/>
        </p:nvSpPr>
        <p:spPr>
          <a:xfrm>
            <a:off x="502920" y="6583680"/>
            <a:ext cx="5668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Likes and Reasons · Day 4 · Speaking &amp; Listening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9"/>
          <p:cNvSpPr/>
          <p:nvPr/>
        </p:nvSpPr>
        <p:spPr>
          <a:xfrm>
            <a:off x="11585520" y="6583680"/>
            <a:ext cx="273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03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0"/>
          <p:cNvSpPr/>
          <p:nvPr/>
        </p:nvSpPr>
        <p:spPr>
          <a:xfrm>
            <a:off x="0" y="6546960"/>
            <a:ext cx="12191400" cy="360"/>
          </a:xfrm>
          <a:prstGeom prst="line">
            <a:avLst/>
          </a:prstGeom>
          <a:ln w="12600">
            <a:solidFill>
              <a:srgbClr val="bde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"/>
          <p:cNvSpPr/>
          <p:nvPr/>
        </p:nvSpPr>
        <p:spPr>
          <a:xfrm>
            <a:off x="502920" y="329040"/>
            <a:ext cx="6217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Quick Likes Warm-up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"/>
          <p:cNvSpPr/>
          <p:nvPr/>
        </p:nvSpPr>
        <p:spPr>
          <a:xfrm>
            <a:off x="539640" y="914400"/>
            <a:ext cx="7497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Start speaking in the first 5 minutes.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3"/>
          <p:cNvSpPr/>
          <p:nvPr/>
        </p:nvSpPr>
        <p:spPr>
          <a:xfrm>
            <a:off x="594360" y="1371600"/>
            <a:ext cx="4388760" cy="3428640"/>
          </a:xfrm>
          <a:prstGeom prst="roundRect">
            <a:avLst>
              <a:gd name="adj" fmla="val 4533"/>
            </a:avLst>
          </a:prstGeom>
          <a:solidFill>
            <a:srgbClr val="ffffff"/>
          </a:solidFill>
          <a:ln w="12600">
            <a:solidFill>
              <a:srgbClr val="cbe9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" name="Image 0" descr="/mnt/data/a_bright_colorful_cartoon_illustration_of_a_class_batch_2.png"/>
          <p:cNvPicPr/>
          <p:nvPr/>
        </p:nvPicPr>
        <p:blipFill>
          <a:blip r:embed="rId1"/>
          <a:srcRect l="1712" t="0" r="1712" b="0"/>
          <a:stretch/>
        </p:blipFill>
        <p:spPr>
          <a:xfrm>
            <a:off x="640080" y="1417320"/>
            <a:ext cx="4297320" cy="333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Text 4"/>
          <p:cNvSpPr/>
          <p:nvPr/>
        </p:nvSpPr>
        <p:spPr>
          <a:xfrm>
            <a:off x="640080" y="4827960"/>
            <a:ext cx="4297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New picture prompt: food choices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5"/>
          <p:cNvSpPr/>
          <p:nvPr/>
        </p:nvSpPr>
        <p:spPr>
          <a:xfrm>
            <a:off x="5532120" y="1417320"/>
            <a:ext cx="5028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Teacher: I like pizza. What do you like?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6"/>
          <p:cNvSpPr/>
          <p:nvPr/>
        </p:nvSpPr>
        <p:spPr>
          <a:xfrm>
            <a:off x="5577840" y="2057400"/>
            <a:ext cx="5303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Student: I like _____.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7"/>
          <p:cNvSpPr/>
          <p:nvPr/>
        </p:nvSpPr>
        <p:spPr>
          <a:xfrm>
            <a:off x="5577840" y="2651760"/>
            <a:ext cx="5303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ef476f"/>
                </a:solidFill>
                <a:effectLst/>
                <a:uFillTx/>
                <a:latin typeface="Aptos"/>
                <a:ea typeface="Aptos"/>
              </a:rPr>
              <a:t>Teacher: Why?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8"/>
          <p:cNvSpPr/>
          <p:nvPr/>
        </p:nvSpPr>
        <p:spPr>
          <a:xfrm>
            <a:off x="5577840" y="3246120"/>
            <a:ext cx="5303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Student: Because it is _____.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9"/>
          <p:cNvSpPr/>
          <p:nvPr/>
        </p:nvSpPr>
        <p:spPr>
          <a:xfrm>
            <a:off x="5532120" y="4069080"/>
            <a:ext cx="2331360" cy="959760"/>
          </a:xfrm>
          <a:prstGeom prst="roundRect">
            <a:avLst>
              <a:gd name="adj" fmla="val 13333"/>
            </a:avLst>
          </a:prstGeom>
          <a:solidFill>
            <a:srgbClr val="ddf3ff"/>
          </a:solidFill>
          <a:ln w="1512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0"/>
          <p:cNvSpPr/>
          <p:nvPr/>
        </p:nvSpPr>
        <p:spPr>
          <a:xfrm>
            <a:off x="5760720" y="427032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🍕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1"/>
          <p:cNvSpPr/>
          <p:nvPr/>
        </p:nvSpPr>
        <p:spPr>
          <a:xfrm>
            <a:off x="6282000" y="432504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Food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2"/>
          <p:cNvSpPr/>
          <p:nvPr/>
        </p:nvSpPr>
        <p:spPr>
          <a:xfrm>
            <a:off x="5788080" y="4855320"/>
            <a:ext cx="18194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250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pizza · fruit · ice cream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3"/>
          <p:cNvSpPr/>
          <p:nvPr/>
        </p:nvSpPr>
        <p:spPr>
          <a:xfrm>
            <a:off x="8138160" y="4069080"/>
            <a:ext cx="2331360" cy="959760"/>
          </a:xfrm>
          <a:prstGeom prst="roundRect">
            <a:avLst>
              <a:gd name="adj" fmla="val 13333"/>
            </a:avLst>
          </a:prstGeom>
          <a:solidFill>
            <a:srgbClr val="fff3c4"/>
          </a:solidFill>
          <a:ln w="15120">
            <a:solidFill>
              <a:srgbClr val="ffb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4"/>
          <p:cNvSpPr/>
          <p:nvPr/>
        </p:nvSpPr>
        <p:spPr>
          <a:xfrm>
            <a:off x="8366760" y="427032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🎮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5"/>
          <p:cNvSpPr/>
          <p:nvPr/>
        </p:nvSpPr>
        <p:spPr>
          <a:xfrm>
            <a:off x="8888040" y="432504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Fun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6"/>
          <p:cNvSpPr/>
          <p:nvPr/>
        </p:nvSpPr>
        <p:spPr>
          <a:xfrm>
            <a:off x="8394120" y="4855320"/>
            <a:ext cx="181944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250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games · music · art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7"/>
          <p:cNvSpPr/>
          <p:nvPr/>
        </p:nvSpPr>
        <p:spPr>
          <a:xfrm>
            <a:off x="5532120" y="5349240"/>
            <a:ext cx="5211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ef476f"/>
                </a:solidFill>
                <a:effectLst/>
                <a:uFillTx/>
                <a:latin typeface="Aptos Display"/>
                <a:ea typeface="Aptos Display"/>
              </a:rPr>
              <a:t>Action: ask 2 classmates and remember one answer.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8"/>
          <p:cNvSpPr/>
          <p:nvPr/>
        </p:nvSpPr>
        <p:spPr>
          <a:xfrm>
            <a:off x="502920" y="6583680"/>
            <a:ext cx="5668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Likes and Reasons · Day 4 · Speaking &amp; Listening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9"/>
          <p:cNvSpPr/>
          <p:nvPr/>
        </p:nvSpPr>
        <p:spPr>
          <a:xfrm>
            <a:off x="11585520" y="6583680"/>
            <a:ext cx="273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04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0"/>
          <p:cNvSpPr/>
          <p:nvPr/>
        </p:nvSpPr>
        <p:spPr>
          <a:xfrm>
            <a:off x="0" y="6546960"/>
            <a:ext cx="12191400" cy="360"/>
          </a:xfrm>
          <a:prstGeom prst="line">
            <a:avLst/>
          </a:prstGeom>
          <a:ln w="12600">
            <a:solidFill>
              <a:srgbClr val="bde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"/>
          <p:cNvSpPr/>
          <p:nvPr/>
        </p:nvSpPr>
        <p:spPr>
          <a:xfrm>
            <a:off x="502920" y="329040"/>
            <a:ext cx="6217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Teacher Wants to Know You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"/>
          <p:cNvSpPr/>
          <p:nvPr/>
        </p:nvSpPr>
        <p:spPr>
          <a:xfrm>
            <a:off x="539640" y="914400"/>
            <a:ext cx="7497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Ask slowly. Students can answer with one word or a full sentence.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3"/>
          <p:cNvSpPr/>
          <p:nvPr/>
        </p:nvSpPr>
        <p:spPr>
          <a:xfrm>
            <a:off x="658440" y="1508760"/>
            <a:ext cx="3291480" cy="1462680"/>
          </a:xfrm>
          <a:prstGeom prst="roundRect">
            <a:avLst>
              <a:gd name="adj" fmla="val 8750"/>
            </a:avLst>
          </a:prstGeom>
          <a:solidFill>
            <a:srgbClr val="ddf3ff"/>
          </a:solidFill>
          <a:ln w="1512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4"/>
          <p:cNvSpPr/>
          <p:nvPr/>
        </p:nvSpPr>
        <p:spPr>
          <a:xfrm>
            <a:off x="887040" y="171000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🍕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5"/>
          <p:cNvSpPr/>
          <p:nvPr/>
        </p:nvSpPr>
        <p:spPr>
          <a:xfrm>
            <a:off x="1408320" y="1764720"/>
            <a:ext cx="2331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What food do you like?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6"/>
          <p:cNvSpPr/>
          <p:nvPr/>
        </p:nvSpPr>
        <p:spPr>
          <a:xfrm>
            <a:off x="914400" y="2295000"/>
            <a:ext cx="2779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I like ____ because it is yummy.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7"/>
          <p:cNvSpPr/>
          <p:nvPr/>
        </p:nvSpPr>
        <p:spPr>
          <a:xfrm>
            <a:off x="4407480" y="1508760"/>
            <a:ext cx="3291480" cy="1462680"/>
          </a:xfrm>
          <a:prstGeom prst="roundRect">
            <a:avLst>
              <a:gd name="adj" fmla="val 8750"/>
            </a:avLst>
          </a:prstGeom>
          <a:solidFill>
            <a:srgbClr val="dff7ef"/>
          </a:solidFill>
          <a:ln w="1512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8"/>
          <p:cNvSpPr/>
          <p:nvPr/>
        </p:nvSpPr>
        <p:spPr>
          <a:xfrm>
            <a:off x="4636080" y="171000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🎮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9"/>
          <p:cNvSpPr/>
          <p:nvPr/>
        </p:nvSpPr>
        <p:spPr>
          <a:xfrm>
            <a:off x="5157360" y="1764720"/>
            <a:ext cx="2331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What game do you like?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0"/>
          <p:cNvSpPr/>
          <p:nvPr/>
        </p:nvSpPr>
        <p:spPr>
          <a:xfrm>
            <a:off x="4663440" y="2295000"/>
            <a:ext cx="2779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I like ____ because it is exciting.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1"/>
          <p:cNvSpPr/>
          <p:nvPr/>
        </p:nvSpPr>
        <p:spPr>
          <a:xfrm>
            <a:off x="8156520" y="1508760"/>
            <a:ext cx="3291480" cy="1462680"/>
          </a:xfrm>
          <a:prstGeom prst="roundRect">
            <a:avLst>
              <a:gd name="adj" fmla="val 8750"/>
            </a:avLst>
          </a:prstGeom>
          <a:solidFill>
            <a:srgbClr val="fff3c4"/>
          </a:solidFill>
          <a:ln w="15120">
            <a:solidFill>
              <a:srgbClr val="ffb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2"/>
          <p:cNvSpPr/>
          <p:nvPr/>
        </p:nvSpPr>
        <p:spPr>
          <a:xfrm>
            <a:off x="8385120" y="171000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🎨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3"/>
          <p:cNvSpPr/>
          <p:nvPr/>
        </p:nvSpPr>
        <p:spPr>
          <a:xfrm>
            <a:off x="8906400" y="1764720"/>
            <a:ext cx="2331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What activity do you like?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4"/>
          <p:cNvSpPr/>
          <p:nvPr/>
        </p:nvSpPr>
        <p:spPr>
          <a:xfrm>
            <a:off x="8412480" y="2295000"/>
            <a:ext cx="2779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I like ____ because it is fun.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5"/>
          <p:cNvSpPr/>
          <p:nvPr/>
        </p:nvSpPr>
        <p:spPr>
          <a:xfrm>
            <a:off x="658440" y="3474720"/>
            <a:ext cx="3291480" cy="1462680"/>
          </a:xfrm>
          <a:prstGeom prst="roundRect">
            <a:avLst>
              <a:gd name="adj" fmla="val 8750"/>
            </a:avLst>
          </a:prstGeom>
          <a:solidFill>
            <a:srgbClr val="ffe6ee"/>
          </a:solidFill>
          <a:ln w="15120">
            <a:solidFill>
              <a:srgbClr val="ef47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6"/>
          <p:cNvSpPr/>
          <p:nvPr/>
        </p:nvSpPr>
        <p:spPr>
          <a:xfrm>
            <a:off x="887040" y="367596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📚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7"/>
          <p:cNvSpPr/>
          <p:nvPr/>
        </p:nvSpPr>
        <p:spPr>
          <a:xfrm>
            <a:off x="1408320" y="3730680"/>
            <a:ext cx="2331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What subject do you like?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8"/>
          <p:cNvSpPr/>
          <p:nvPr/>
        </p:nvSpPr>
        <p:spPr>
          <a:xfrm>
            <a:off x="914400" y="4260960"/>
            <a:ext cx="2779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I like ____ because it is interesting.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9"/>
          <p:cNvSpPr/>
          <p:nvPr/>
        </p:nvSpPr>
        <p:spPr>
          <a:xfrm>
            <a:off x="4407480" y="3474720"/>
            <a:ext cx="3291480" cy="1462680"/>
          </a:xfrm>
          <a:prstGeom prst="roundRect">
            <a:avLst>
              <a:gd name="adj" fmla="val 8750"/>
            </a:avLst>
          </a:prstGeom>
          <a:solidFill>
            <a:srgbClr val="efe7ff"/>
          </a:solidFill>
          <a:ln w="1512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0"/>
          <p:cNvSpPr/>
          <p:nvPr/>
        </p:nvSpPr>
        <p:spPr>
          <a:xfrm>
            <a:off x="4636080" y="367596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🎵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1"/>
          <p:cNvSpPr/>
          <p:nvPr/>
        </p:nvSpPr>
        <p:spPr>
          <a:xfrm>
            <a:off x="5157360" y="3730680"/>
            <a:ext cx="2331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What music do you like?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2"/>
          <p:cNvSpPr/>
          <p:nvPr/>
        </p:nvSpPr>
        <p:spPr>
          <a:xfrm>
            <a:off x="4663440" y="4260960"/>
            <a:ext cx="2779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I like ____ because it is cool.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23"/>
          <p:cNvSpPr/>
          <p:nvPr/>
        </p:nvSpPr>
        <p:spPr>
          <a:xfrm>
            <a:off x="8156520" y="3474720"/>
            <a:ext cx="3291480" cy="1462680"/>
          </a:xfrm>
          <a:prstGeom prst="roundRect">
            <a:avLst>
              <a:gd name="adj" fmla="val 8750"/>
            </a:avLst>
          </a:prstGeom>
          <a:solidFill>
            <a:srgbClr val="e7f7d9"/>
          </a:solidFill>
          <a:ln w="15120">
            <a:solidFill>
              <a:srgbClr val="75b8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4"/>
          <p:cNvSpPr/>
          <p:nvPr/>
        </p:nvSpPr>
        <p:spPr>
          <a:xfrm>
            <a:off x="8385120" y="367596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🐶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5"/>
          <p:cNvSpPr/>
          <p:nvPr/>
        </p:nvSpPr>
        <p:spPr>
          <a:xfrm>
            <a:off x="8906400" y="3730680"/>
            <a:ext cx="2331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What animal do you like?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6"/>
          <p:cNvSpPr/>
          <p:nvPr/>
        </p:nvSpPr>
        <p:spPr>
          <a:xfrm>
            <a:off x="8412480" y="4260960"/>
            <a:ext cx="2779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I like ____ because it is cute.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7"/>
          <p:cNvSpPr/>
          <p:nvPr/>
        </p:nvSpPr>
        <p:spPr>
          <a:xfrm>
            <a:off x="3291840" y="5715000"/>
            <a:ext cx="5668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Teacher note: Write class favorites on the board.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8"/>
          <p:cNvSpPr/>
          <p:nvPr/>
        </p:nvSpPr>
        <p:spPr>
          <a:xfrm>
            <a:off x="502920" y="6583680"/>
            <a:ext cx="5668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Likes and Reasons · Day 4 · Speaking &amp; Listening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9"/>
          <p:cNvSpPr/>
          <p:nvPr/>
        </p:nvSpPr>
        <p:spPr>
          <a:xfrm>
            <a:off x="11585520" y="6583680"/>
            <a:ext cx="273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05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0"/>
          <p:cNvSpPr/>
          <p:nvPr/>
        </p:nvSpPr>
        <p:spPr>
          <a:xfrm>
            <a:off x="0" y="6546960"/>
            <a:ext cx="12191400" cy="360"/>
          </a:xfrm>
          <a:prstGeom prst="line">
            <a:avLst/>
          </a:prstGeom>
          <a:ln w="12600">
            <a:solidFill>
              <a:srgbClr val="bde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"/>
          <p:cNvSpPr/>
          <p:nvPr/>
        </p:nvSpPr>
        <p:spPr>
          <a:xfrm>
            <a:off x="502920" y="329040"/>
            <a:ext cx="6217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How Much Do You Like It?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"/>
          <p:cNvSpPr/>
          <p:nvPr/>
        </p:nvSpPr>
        <p:spPr>
          <a:xfrm>
            <a:off x="539640" y="914400"/>
            <a:ext cx="7497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Students choose a feeling before giving a reason.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3"/>
          <p:cNvSpPr/>
          <p:nvPr/>
        </p:nvSpPr>
        <p:spPr>
          <a:xfrm>
            <a:off x="822960" y="1691640"/>
            <a:ext cx="1874160" cy="2651400"/>
          </a:xfrm>
          <a:prstGeom prst="roundRect">
            <a:avLst>
              <a:gd name="adj" fmla="val 6829"/>
            </a:avLst>
          </a:prstGeom>
          <a:solidFill>
            <a:srgbClr val="ddf3ff"/>
          </a:solidFill>
          <a:ln w="1512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4"/>
          <p:cNvSpPr/>
          <p:nvPr/>
        </p:nvSpPr>
        <p:spPr>
          <a:xfrm>
            <a:off x="1051560" y="189288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😍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5"/>
          <p:cNvSpPr/>
          <p:nvPr/>
        </p:nvSpPr>
        <p:spPr>
          <a:xfrm>
            <a:off x="1572840" y="1947600"/>
            <a:ext cx="914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I love it.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6"/>
          <p:cNvSpPr/>
          <p:nvPr/>
        </p:nvSpPr>
        <p:spPr>
          <a:xfrm>
            <a:off x="1078920" y="2477880"/>
            <a:ext cx="136224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I love soccer.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7"/>
          <p:cNvSpPr/>
          <p:nvPr/>
        </p:nvSpPr>
        <p:spPr>
          <a:xfrm>
            <a:off x="3063240" y="1691640"/>
            <a:ext cx="1874160" cy="2651400"/>
          </a:xfrm>
          <a:prstGeom prst="roundRect">
            <a:avLst>
              <a:gd name="adj" fmla="val 6829"/>
            </a:avLst>
          </a:prstGeom>
          <a:solidFill>
            <a:srgbClr val="dff7ef"/>
          </a:solidFill>
          <a:ln w="1512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8"/>
          <p:cNvSpPr/>
          <p:nvPr/>
        </p:nvSpPr>
        <p:spPr>
          <a:xfrm>
            <a:off x="3291840" y="189288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🙂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9"/>
          <p:cNvSpPr/>
          <p:nvPr/>
        </p:nvSpPr>
        <p:spPr>
          <a:xfrm>
            <a:off x="3813120" y="1947600"/>
            <a:ext cx="914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I like it.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0"/>
          <p:cNvSpPr/>
          <p:nvPr/>
        </p:nvSpPr>
        <p:spPr>
          <a:xfrm>
            <a:off x="3319200" y="2477880"/>
            <a:ext cx="136224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I like drawing.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1"/>
          <p:cNvSpPr/>
          <p:nvPr/>
        </p:nvSpPr>
        <p:spPr>
          <a:xfrm>
            <a:off x="5303520" y="1691640"/>
            <a:ext cx="1874160" cy="2651400"/>
          </a:xfrm>
          <a:prstGeom prst="roundRect">
            <a:avLst>
              <a:gd name="adj" fmla="val 6829"/>
            </a:avLst>
          </a:prstGeom>
          <a:solidFill>
            <a:srgbClr val="fff3c4"/>
          </a:solidFill>
          <a:ln w="15120">
            <a:solidFill>
              <a:srgbClr val="ffb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2"/>
          <p:cNvSpPr/>
          <p:nvPr/>
        </p:nvSpPr>
        <p:spPr>
          <a:xfrm>
            <a:off x="5532120" y="189288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😐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3"/>
          <p:cNvSpPr/>
          <p:nvPr/>
        </p:nvSpPr>
        <p:spPr>
          <a:xfrm>
            <a:off x="6053400" y="1947600"/>
            <a:ext cx="914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It is okay.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4"/>
          <p:cNvSpPr/>
          <p:nvPr/>
        </p:nvSpPr>
        <p:spPr>
          <a:xfrm>
            <a:off x="5559480" y="2477880"/>
            <a:ext cx="136224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Math is okay.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5"/>
          <p:cNvSpPr/>
          <p:nvPr/>
        </p:nvSpPr>
        <p:spPr>
          <a:xfrm>
            <a:off x="7543800" y="1691640"/>
            <a:ext cx="1874160" cy="2651400"/>
          </a:xfrm>
          <a:prstGeom prst="roundRect">
            <a:avLst>
              <a:gd name="adj" fmla="val 6829"/>
            </a:avLst>
          </a:prstGeom>
          <a:solidFill>
            <a:srgbClr val="ffe6ee"/>
          </a:solidFill>
          <a:ln w="15120">
            <a:solidFill>
              <a:srgbClr val="ef47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6"/>
          <p:cNvSpPr/>
          <p:nvPr/>
        </p:nvSpPr>
        <p:spPr>
          <a:xfrm>
            <a:off x="7772400" y="189288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🙁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7"/>
          <p:cNvSpPr/>
          <p:nvPr/>
        </p:nvSpPr>
        <p:spPr>
          <a:xfrm>
            <a:off x="8293680" y="1947600"/>
            <a:ext cx="914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I don’t like it.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8"/>
          <p:cNvSpPr/>
          <p:nvPr/>
        </p:nvSpPr>
        <p:spPr>
          <a:xfrm>
            <a:off x="7799760" y="2477880"/>
            <a:ext cx="136224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I don’t like spiders.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9"/>
          <p:cNvSpPr/>
          <p:nvPr/>
        </p:nvSpPr>
        <p:spPr>
          <a:xfrm>
            <a:off x="9784080" y="1691640"/>
            <a:ext cx="1874160" cy="2651400"/>
          </a:xfrm>
          <a:prstGeom prst="roundRect">
            <a:avLst>
              <a:gd name="adj" fmla="val 6829"/>
            </a:avLst>
          </a:prstGeom>
          <a:solidFill>
            <a:srgbClr val="ffe8e4"/>
          </a:solidFill>
          <a:ln w="15120">
            <a:solidFill>
              <a:srgbClr val="f973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0"/>
          <p:cNvSpPr/>
          <p:nvPr/>
        </p:nvSpPr>
        <p:spPr>
          <a:xfrm>
            <a:off x="10012680" y="189288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😵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1"/>
          <p:cNvSpPr/>
          <p:nvPr/>
        </p:nvSpPr>
        <p:spPr>
          <a:xfrm>
            <a:off x="10533960" y="1947600"/>
            <a:ext cx="914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I hate it.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2"/>
          <p:cNvSpPr/>
          <p:nvPr/>
        </p:nvSpPr>
        <p:spPr>
          <a:xfrm>
            <a:off x="10040040" y="2477880"/>
            <a:ext cx="136224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I hate loud noise.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3"/>
          <p:cNvSpPr/>
          <p:nvPr/>
        </p:nvSpPr>
        <p:spPr>
          <a:xfrm>
            <a:off x="1371600" y="5257800"/>
            <a:ext cx="9600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ef476f"/>
                </a:solidFill>
                <a:effectLst/>
                <a:uFillTx/>
                <a:latin typeface="Aptos Display"/>
                <a:ea typeface="Aptos Display"/>
              </a:rPr>
              <a:t>Speak with your partner: “I like / don’t like ____ because ____.”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4"/>
          <p:cNvSpPr/>
          <p:nvPr/>
        </p:nvSpPr>
        <p:spPr>
          <a:xfrm>
            <a:off x="502920" y="6583680"/>
            <a:ext cx="5668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Likes and Reasons · Day 4 · Speaking &amp; Listening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5"/>
          <p:cNvSpPr/>
          <p:nvPr/>
        </p:nvSpPr>
        <p:spPr>
          <a:xfrm>
            <a:off x="11585520" y="6583680"/>
            <a:ext cx="273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06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0"/>
          <p:cNvSpPr/>
          <p:nvPr/>
        </p:nvSpPr>
        <p:spPr>
          <a:xfrm>
            <a:off x="0" y="6546960"/>
            <a:ext cx="12191400" cy="360"/>
          </a:xfrm>
          <a:prstGeom prst="line">
            <a:avLst/>
          </a:prstGeom>
          <a:ln w="12600">
            <a:solidFill>
              <a:srgbClr val="bde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"/>
          <p:cNvSpPr/>
          <p:nvPr/>
        </p:nvSpPr>
        <p:spPr>
          <a:xfrm>
            <a:off x="502920" y="329040"/>
            <a:ext cx="6217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8 Useful Reason Words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2"/>
          <p:cNvSpPr/>
          <p:nvPr/>
        </p:nvSpPr>
        <p:spPr>
          <a:xfrm>
            <a:off x="539640" y="914400"/>
            <a:ext cx="7497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Use gestures and quick repetition.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3"/>
          <p:cNvSpPr/>
          <p:nvPr/>
        </p:nvSpPr>
        <p:spPr>
          <a:xfrm>
            <a:off x="685800" y="1417320"/>
            <a:ext cx="2331360" cy="1416960"/>
          </a:xfrm>
          <a:prstGeom prst="roundRect">
            <a:avLst>
              <a:gd name="adj" fmla="val 9032"/>
            </a:avLst>
          </a:prstGeom>
          <a:solidFill>
            <a:srgbClr val="ddf3ff"/>
          </a:solidFill>
          <a:ln w="1512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4"/>
          <p:cNvSpPr/>
          <p:nvPr/>
        </p:nvSpPr>
        <p:spPr>
          <a:xfrm>
            <a:off x="914400" y="161856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🎉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5"/>
          <p:cNvSpPr/>
          <p:nvPr/>
        </p:nvSpPr>
        <p:spPr>
          <a:xfrm>
            <a:off x="1435680" y="167328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fun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6"/>
          <p:cNvSpPr/>
          <p:nvPr/>
        </p:nvSpPr>
        <p:spPr>
          <a:xfrm>
            <a:off x="941760" y="2203560"/>
            <a:ext cx="1819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makes me happy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7"/>
          <p:cNvSpPr/>
          <p:nvPr/>
        </p:nvSpPr>
        <p:spPr>
          <a:xfrm>
            <a:off x="3474720" y="1417320"/>
            <a:ext cx="2331360" cy="1416960"/>
          </a:xfrm>
          <a:prstGeom prst="roundRect">
            <a:avLst>
              <a:gd name="adj" fmla="val 9032"/>
            </a:avLst>
          </a:prstGeom>
          <a:solidFill>
            <a:srgbClr val="dff7ef"/>
          </a:solidFill>
          <a:ln w="1512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8"/>
          <p:cNvSpPr/>
          <p:nvPr/>
        </p:nvSpPr>
        <p:spPr>
          <a:xfrm>
            <a:off x="3703320" y="161856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😋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9"/>
          <p:cNvSpPr/>
          <p:nvPr/>
        </p:nvSpPr>
        <p:spPr>
          <a:xfrm>
            <a:off x="4224600" y="167328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delicious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0"/>
          <p:cNvSpPr/>
          <p:nvPr/>
        </p:nvSpPr>
        <p:spPr>
          <a:xfrm>
            <a:off x="3730680" y="2203560"/>
            <a:ext cx="1819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tastes good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1"/>
          <p:cNvSpPr/>
          <p:nvPr/>
        </p:nvSpPr>
        <p:spPr>
          <a:xfrm>
            <a:off x="6263640" y="1417320"/>
            <a:ext cx="2331360" cy="1416960"/>
          </a:xfrm>
          <a:prstGeom prst="roundRect">
            <a:avLst>
              <a:gd name="adj" fmla="val 9032"/>
            </a:avLst>
          </a:prstGeom>
          <a:solidFill>
            <a:srgbClr val="fff3c4"/>
          </a:solidFill>
          <a:ln w="15120">
            <a:solidFill>
              <a:srgbClr val="ffb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2"/>
          <p:cNvSpPr/>
          <p:nvPr/>
        </p:nvSpPr>
        <p:spPr>
          <a:xfrm>
            <a:off x="6492240" y="161856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✨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3"/>
          <p:cNvSpPr/>
          <p:nvPr/>
        </p:nvSpPr>
        <p:spPr>
          <a:xfrm>
            <a:off x="7013520" y="167328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interesting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4"/>
          <p:cNvSpPr/>
          <p:nvPr/>
        </p:nvSpPr>
        <p:spPr>
          <a:xfrm>
            <a:off x="6519600" y="2203560"/>
            <a:ext cx="1819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not boring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15"/>
          <p:cNvSpPr/>
          <p:nvPr/>
        </p:nvSpPr>
        <p:spPr>
          <a:xfrm>
            <a:off x="9052560" y="1417320"/>
            <a:ext cx="2331360" cy="1416960"/>
          </a:xfrm>
          <a:prstGeom prst="roundRect">
            <a:avLst>
              <a:gd name="adj" fmla="val 9032"/>
            </a:avLst>
          </a:prstGeom>
          <a:solidFill>
            <a:srgbClr val="ffe6ee"/>
          </a:solidFill>
          <a:ln w="15120">
            <a:solidFill>
              <a:srgbClr val="ef47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6"/>
          <p:cNvSpPr/>
          <p:nvPr/>
        </p:nvSpPr>
        <p:spPr>
          <a:xfrm>
            <a:off x="9281160" y="161856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😎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7"/>
          <p:cNvSpPr/>
          <p:nvPr/>
        </p:nvSpPr>
        <p:spPr>
          <a:xfrm>
            <a:off x="9802440" y="167328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cool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8"/>
          <p:cNvSpPr/>
          <p:nvPr/>
        </p:nvSpPr>
        <p:spPr>
          <a:xfrm>
            <a:off x="9308520" y="2203560"/>
            <a:ext cx="1819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great style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19"/>
          <p:cNvSpPr/>
          <p:nvPr/>
        </p:nvSpPr>
        <p:spPr>
          <a:xfrm>
            <a:off x="685800" y="3383280"/>
            <a:ext cx="2331360" cy="1416960"/>
          </a:xfrm>
          <a:prstGeom prst="roundRect">
            <a:avLst>
              <a:gd name="adj" fmla="val 9032"/>
            </a:avLst>
          </a:prstGeom>
          <a:solidFill>
            <a:srgbClr val="ddf3ff"/>
          </a:solidFill>
          <a:ln w="1512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0"/>
          <p:cNvSpPr/>
          <p:nvPr/>
        </p:nvSpPr>
        <p:spPr>
          <a:xfrm>
            <a:off x="914400" y="358452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🧠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21"/>
          <p:cNvSpPr/>
          <p:nvPr/>
        </p:nvSpPr>
        <p:spPr>
          <a:xfrm>
            <a:off x="1435680" y="363924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easy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22"/>
          <p:cNvSpPr/>
          <p:nvPr/>
        </p:nvSpPr>
        <p:spPr>
          <a:xfrm>
            <a:off x="941760" y="4169520"/>
            <a:ext cx="1819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not difficult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23"/>
          <p:cNvSpPr/>
          <p:nvPr/>
        </p:nvSpPr>
        <p:spPr>
          <a:xfrm>
            <a:off x="3474720" y="3383280"/>
            <a:ext cx="2331360" cy="1416960"/>
          </a:xfrm>
          <a:prstGeom prst="roundRect">
            <a:avLst>
              <a:gd name="adj" fmla="val 9032"/>
            </a:avLst>
          </a:prstGeom>
          <a:solidFill>
            <a:srgbClr val="dff7ef"/>
          </a:solidFill>
          <a:ln w="1512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24"/>
          <p:cNvSpPr/>
          <p:nvPr/>
        </p:nvSpPr>
        <p:spPr>
          <a:xfrm>
            <a:off x="3703320" y="358452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💪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5"/>
          <p:cNvSpPr/>
          <p:nvPr/>
        </p:nvSpPr>
        <p:spPr>
          <a:xfrm>
            <a:off x="4224600" y="363924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healthy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26"/>
          <p:cNvSpPr/>
          <p:nvPr/>
        </p:nvSpPr>
        <p:spPr>
          <a:xfrm>
            <a:off x="3730680" y="4169520"/>
            <a:ext cx="1819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good for my body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27"/>
          <p:cNvSpPr/>
          <p:nvPr/>
        </p:nvSpPr>
        <p:spPr>
          <a:xfrm>
            <a:off x="6263640" y="3383280"/>
            <a:ext cx="2331360" cy="1416960"/>
          </a:xfrm>
          <a:prstGeom prst="roundRect">
            <a:avLst>
              <a:gd name="adj" fmla="val 9032"/>
            </a:avLst>
          </a:prstGeom>
          <a:solidFill>
            <a:srgbClr val="fff3c4"/>
          </a:solidFill>
          <a:ln w="15120">
            <a:solidFill>
              <a:srgbClr val="ffb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28"/>
          <p:cNvSpPr/>
          <p:nvPr/>
        </p:nvSpPr>
        <p:spPr>
          <a:xfrm>
            <a:off x="6492240" y="358452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🎨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9"/>
          <p:cNvSpPr/>
          <p:nvPr/>
        </p:nvSpPr>
        <p:spPr>
          <a:xfrm>
            <a:off x="7013520" y="363924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creative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30"/>
          <p:cNvSpPr/>
          <p:nvPr/>
        </p:nvSpPr>
        <p:spPr>
          <a:xfrm>
            <a:off x="6519600" y="4169520"/>
            <a:ext cx="1819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new ideas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31"/>
          <p:cNvSpPr/>
          <p:nvPr/>
        </p:nvSpPr>
        <p:spPr>
          <a:xfrm>
            <a:off x="9052560" y="3383280"/>
            <a:ext cx="2331360" cy="1416960"/>
          </a:xfrm>
          <a:prstGeom prst="roundRect">
            <a:avLst>
              <a:gd name="adj" fmla="val 9032"/>
            </a:avLst>
          </a:prstGeom>
          <a:solidFill>
            <a:srgbClr val="efe7ff"/>
          </a:solidFill>
          <a:ln w="1512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32"/>
          <p:cNvSpPr/>
          <p:nvPr/>
        </p:nvSpPr>
        <p:spPr>
          <a:xfrm>
            <a:off x="9281160" y="358452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🐱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33"/>
          <p:cNvSpPr/>
          <p:nvPr/>
        </p:nvSpPr>
        <p:spPr>
          <a:xfrm>
            <a:off x="9802440" y="363924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cute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34"/>
          <p:cNvSpPr/>
          <p:nvPr/>
        </p:nvSpPr>
        <p:spPr>
          <a:xfrm>
            <a:off x="9308520" y="4169520"/>
            <a:ext cx="1819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small and sweet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35"/>
          <p:cNvSpPr/>
          <p:nvPr/>
        </p:nvSpPr>
        <p:spPr>
          <a:xfrm>
            <a:off x="2514600" y="571500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Mini-drill: Teacher says the word → students do the gesture.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36"/>
          <p:cNvSpPr/>
          <p:nvPr/>
        </p:nvSpPr>
        <p:spPr>
          <a:xfrm>
            <a:off x="502920" y="6583680"/>
            <a:ext cx="5668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Likes and Reasons · Day 4 · Speaking &amp; Listening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37"/>
          <p:cNvSpPr/>
          <p:nvPr/>
        </p:nvSpPr>
        <p:spPr>
          <a:xfrm>
            <a:off x="11585520" y="6583680"/>
            <a:ext cx="273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07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0"/>
          <p:cNvSpPr/>
          <p:nvPr/>
        </p:nvSpPr>
        <p:spPr>
          <a:xfrm>
            <a:off x="0" y="6546960"/>
            <a:ext cx="12191400" cy="360"/>
          </a:xfrm>
          <a:prstGeom prst="line">
            <a:avLst/>
          </a:prstGeom>
          <a:ln w="12600">
            <a:solidFill>
              <a:srgbClr val="bde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"/>
          <p:cNvSpPr/>
          <p:nvPr/>
        </p:nvSpPr>
        <p:spPr>
          <a:xfrm>
            <a:off x="502920" y="329040"/>
            <a:ext cx="6217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Listen &amp; Move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2"/>
          <p:cNvSpPr/>
          <p:nvPr/>
        </p:nvSpPr>
        <p:spPr>
          <a:xfrm>
            <a:off x="539640" y="914400"/>
            <a:ext cx="7497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When you hear the sentence, do the action.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3"/>
          <p:cNvSpPr/>
          <p:nvPr/>
        </p:nvSpPr>
        <p:spPr>
          <a:xfrm>
            <a:off x="685800" y="1508760"/>
            <a:ext cx="3291480" cy="1508400"/>
          </a:xfrm>
          <a:prstGeom prst="roundRect">
            <a:avLst>
              <a:gd name="adj" fmla="val 8485"/>
            </a:avLst>
          </a:prstGeom>
          <a:solidFill>
            <a:srgbClr val="ddf3ff"/>
          </a:solidFill>
          <a:ln w="1512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4"/>
          <p:cNvSpPr/>
          <p:nvPr/>
        </p:nvSpPr>
        <p:spPr>
          <a:xfrm>
            <a:off x="914400" y="171000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👍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5"/>
          <p:cNvSpPr/>
          <p:nvPr/>
        </p:nvSpPr>
        <p:spPr>
          <a:xfrm>
            <a:off x="1435680" y="1764720"/>
            <a:ext cx="2331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I like it.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6"/>
          <p:cNvSpPr/>
          <p:nvPr/>
        </p:nvSpPr>
        <p:spPr>
          <a:xfrm>
            <a:off x="941760" y="2295000"/>
            <a:ext cx="2779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thumbs up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7"/>
          <p:cNvSpPr/>
          <p:nvPr/>
        </p:nvSpPr>
        <p:spPr>
          <a:xfrm>
            <a:off x="4480560" y="1508760"/>
            <a:ext cx="3291480" cy="1508400"/>
          </a:xfrm>
          <a:prstGeom prst="roundRect">
            <a:avLst>
              <a:gd name="adj" fmla="val 8485"/>
            </a:avLst>
          </a:prstGeom>
          <a:solidFill>
            <a:srgbClr val="dff7ef"/>
          </a:solidFill>
          <a:ln w="1512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8"/>
          <p:cNvSpPr/>
          <p:nvPr/>
        </p:nvSpPr>
        <p:spPr>
          <a:xfrm>
            <a:off x="4709160" y="171000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👎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9"/>
          <p:cNvSpPr/>
          <p:nvPr/>
        </p:nvSpPr>
        <p:spPr>
          <a:xfrm>
            <a:off x="5230440" y="1764720"/>
            <a:ext cx="2331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I don’t like it.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0"/>
          <p:cNvSpPr/>
          <p:nvPr/>
        </p:nvSpPr>
        <p:spPr>
          <a:xfrm>
            <a:off x="4736520" y="2295000"/>
            <a:ext cx="2779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thumbs down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11"/>
          <p:cNvSpPr/>
          <p:nvPr/>
        </p:nvSpPr>
        <p:spPr>
          <a:xfrm>
            <a:off x="8275320" y="1508760"/>
            <a:ext cx="3291480" cy="1508400"/>
          </a:xfrm>
          <a:prstGeom prst="roundRect">
            <a:avLst>
              <a:gd name="adj" fmla="val 8485"/>
            </a:avLst>
          </a:prstGeom>
          <a:solidFill>
            <a:srgbClr val="fff3c4"/>
          </a:solidFill>
          <a:ln w="15120">
            <a:solidFill>
              <a:srgbClr val="ffb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2"/>
          <p:cNvSpPr/>
          <p:nvPr/>
        </p:nvSpPr>
        <p:spPr>
          <a:xfrm>
            <a:off x="8503920" y="171000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❤️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3"/>
          <p:cNvSpPr/>
          <p:nvPr/>
        </p:nvSpPr>
        <p:spPr>
          <a:xfrm>
            <a:off x="9025200" y="1764720"/>
            <a:ext cx="2331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I love it.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4"/>
          <p:cNvSpPr/>
          <p:nvPr/>
        </p:nvSpPr>
        <p:spPr>
          <a:xfrm>
            <a:off x="8531280" y="2295000"/>
            <a:ext cx="2779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heart hands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15"/>
          <p:cNvSpPr/>
          <p:nvPr/>
        </p:nvSpPr>
        <p:spPr>
          <a:xfrm>
            <a:off x="685800" y="3566160"/>
            <a:ext cx="3291480" cy="1508400"/>
          </a:xfrm>
          <a:prstGeom prst="roundRect">
            <a:avLst>
              <a:gd name="adj" fmla="val 8485"/>
            </a:avLst>
          </a:prstGeom>
          <a:solidFill>
            <a:srgbClr val="ffe6ee"/>
          </a:solidFill>
          <a:ln w="15120">
            <a:solidFill>
              <a:srgbClr val="ef47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6"/>
          <p:cNvSpPr/>
          <p:nvPr/>
        </p:nvSpPr>
        <p:spPr>
          <a:xfrm>
            <a:off x="914400" y="376740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🤔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7"/>
          <p:cNvSpPr/>
          <p:nvPr/>
        </p:nvSpPr>
        <p:spPr>
          <a:xfrm>
            <a:off x="1435680" y="3822120"/>
            <a:ext cx="2331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Why?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8"/>
          <p:cNvSpPr/>
          <p:nvPr/>
        </p:nvSpPr>
        <p:spPr>
          <a:xfrm>
            <a:off x="941760" y="4352400"/>
            <a:ext cx="2779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point to head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19"/>
          <p:cNvSpPr/>
          <p:nvPr/>
        </p:nvSpPr>
        <p:spPr>
          <a:xfrm>
            <a:off x="4480560" y="3566160"/>
            <a:ext cx="3291480" cy="1508400"/>
          </a:xfrm>
          <a:prstGeom prst="roundRect">
            <a:avLst>
              <a:gd name="adj" fmla="val 8485"/>
            </a:avLst>
          </a:prstGeom>
          <a:solidFill>
            <a:srgbClr val="efe7ff"/>
          </a:solidFill>
          <a:ln w="1512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20"/>
          <p:cNvSpPr/>
          <p:nvPr/>
        </p:nvSpPr>
        <p:spPr>
          <a:xfrm>
            <a:off x="4709160" y="376740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💡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1"/>
          <p:cNvSpPr/>
          <p:nvPr/>
        </p:nvSpPr>
        <p:spPr>
          <a:xfrm>
            <a:off x="5230440" y="3822120"/>
            <a:ext cx="2331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because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2"/>
          <p:cNvSpPr/>
          <p:nvPr/>
        </p:nvSpPr>
        <p:spPr>
          <a:xfrm>
            <a:off x="4736520" y="4352400"/>
            <a:ext cx="2779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raise lightbulb finger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23"/>
          <p:cNvSpPr/>
          <p:nvPr/>
        </p:nvSpPr>
        <p:spPr>
          <a:xfrm>
            <a:off x="8275320" y="3566160"/>
            <a:ext cx="3291480" cy="1508400"/>
          </a:xfrm>
          <a:prstGeom prst="roundRect">
            <a:avLst>
              <a:gd name="adj" fmla="val 8485"/>
            </a:avLst>
          </a:prstGeom>
          <a:solidFill>
            <a:srgbClr val="e7f7d9"/>
          </a:solidFill>
          <a:ln w="15120">
            <a:solidFill>
              <a:srgbClr val="75b8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24"/>
          <p:cNvSpPr/>
          <p:nvPr/>
        </p:nvSpPr>
        <p:spPr>
          <a:xfrm>
            <a:off x="8503920" y="376740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🔁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25"/>
          <p:cNvSpPr/>
          <p:nvPr/>
        </p:nvSpPr>
        <p:spPr>
          <a:xfrm>
            <a:off x="9025200" y="3822120"/>
            <a:ext cx="2331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Say it again.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26"/>
          <p:cNvSpPr/>
          <p:nvPr/>
        </p:nvSpPr>
        <p:spPr>
          <a:xfrm>
            <a:off x="8531280" y="4352400"/>
            <a:ext cx="27795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circle finger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27"/>
          <p:cNvSpPr/>
          <p:nvPr/>
        </p:nvSpPr>
        <p:spPr>
          <a:xfrm>
            <a:off x="1188720" y="5715000"/>
            <a:ext cx="9875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ef476f"/>
                </a:solidFill>
                <a:effectLst/>
                <a:uFillTx/>
                <a:latin typeface="Aptos Display"/>
                <a:ea typeface="Aptos Display"/>
              </a:rPr>
              <a:t>Challenge: Can your team do all six actions without speaking your first language?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28"/>
          <p:cNvSpPr/>
          <p:nvPr/>
        </p:nvSpPr>
        <p:spPr>
          <a:xfrm>
            <a:off x="502920" y="6583680"/>
            <a:ext cx="5668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Likes and Reasons · Day 4 · Speaking &amp; Listening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29"/>
          <p:cNvSpPr/>
          <p:nvPr/>
        </p:nvSpPr>
        <p:spPr>
          <a:xfrm>
            <a:off x="11585520" y="6583680"/>
            <a:ext cx="273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08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Shape 0"/>
          <p:cNvSpPr/>
          <p:nvPr/>
        </p:nvSpPr>
        <p:spPr>
          <a:xfrm>
            <a:off x="0" y="6546960"/>
            <a:ext cx="12191400" cy="360"/>
          </a:xfrm>
          <a:prstGeom prst="line">
            <a:avLst/>
          </a:prstGeom>
          <a:ln w="12600">
            <a:solidFill>
              <a:srgbClr val="bde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"/>
          <p:cNvSpPr/>
          <p:nvPr/>
        </p:nvSpPr>
        <p:spPr>
          <a:xfrm>
            <a:off x="502920" y="329040"/>
            <a:ext cx="6217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Likes + Reasons Phrases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2"/>
          <p:cNvSpPr/>
          <p:nvPr/>
        </p:nvSpPr>
        <p:spPr>
          <a:xfrm>
            <a:off x="539640" y="914400"/>
            <a:ext cx="7497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These phrases help students speak longer.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3"/>
          <p:cNvSpPr/>
          <p:nvPr/>
        </p:nvSpPr>
        <p:spPr>
          <a:xfrm>
            <a:off x="658440" y="1417320"/>
            <a:ext cx="3291480" cy="1416960"/>
          </a:xfrm>
          <a:prstGeom prst="roundRect">
            <a:avLst>
              <a:gd name="adj" fmla="val 9032"/>
            </a:avLst>
          </a:prstGeom>
          <a:solidFill>
            <a:srgbClr val="ddf3ff"/>
          </a:solidFill>
          <a:ln w="1512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4"/>
          <p:cNvSpPr/>
          <p:nvPr/>
        </p:nvSpPr>
        <p:spPr>
          <a:xfrm>
            <a:off x="887040" y="161856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❤️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5"/>
          <p:cNvSpPr/>
          <p:nvPr/>
        </p:nvSpPr>
        <p:spPr>
          <a:xfrm>
            <a:off x="1408320" y="1673280"/>
            <a:ext cx="2331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I like _____.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6"/>
          <p:cNvSpPr/>
          <p:nvPr/>
        </p:nvSpPr>
        <p:spPr>
          <a:xfrm>
            <a:off x="914400" y="2203560"/>
            <a:ext cx="277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When I enjoy something.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7"/>
          <p:cNvSpPr/>
          <p:nvPr/>
        </p:nvSpPr>
        <p:spPr>
          <a:xfrm>
            <a:off x="4407480" y="1417320"/>
            <a:ext cx="3291480" cy="1416960"/>
          </a:xfrm>
          <a:prstGeom prst="roundRect">
            <a:avLst>
              <a:gd name="adj" fmla="val 9032"/>
            </a:avLst>
          </a:prstGeom>
          <a:solidFill>
            <a:srgbClr val="dff7ef"/>
          </a:solidFill>
          <a:ln w="1512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8"/>
          <p:cNvSpPr/>
          <p:nvPr/>
        </p:nvSpPr>
        <p:spPr>
          <a:xfrm>
            <a:off x="4636080" y="161856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💔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9"/>
          <p:cNvSpPr/>
          <p:nvPr/>
        </p:nvSpPr>
        <p:spPr>
          <a:xfrm>
            <a:off x="5157360" y="1673280"/>
            <a:ext cx="2331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I don’t like _____.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0"/>
          <p:cNvSpPr/>
          <p:nvPr/>
        </p:nvSpPr>
        <p:spPr>
          <a:xfrm>
            <a:off x="4663440" y="2203560"/>
            <a:ext cx="277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When I do not enjoy it.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11"/>
          <p:cNvSpPr/>
          <p:nvPr/>
        </p:nvSpPr>
        <p:spPr>
          <a:xfrm>
            <a:off x="8156520" y="1417320"/>
            <a:ext cx="3291480" cy="1416960"/>
          </a:xfrm>
          <a:prstGeom prst="roundRect">
            <a:avLst>
              <a:gd name="adj" fmla="val 9032"/>
            </a:avLst>
          </a:prstGeom>
          <a:solidFill>
            <a:srgbClr val="fff3c4"/>
          </a:solidFill>
          <a:ln w="15120">
            <a:solidFill>
              <a:srgbClr val="ffb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2"/>
          <p:cNvSpPr/>
          <p:nvPr/>
        </p:nvSpPr>
        <p:spPr>
          <a:xfrm>
            <a:off x="8385120" y="161856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❓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3"/>
          <p:cNvSpPr/>
          <p:nvPr/>
        </p:nvSpPr>
        <p:spPr>
          <a:xfrm>
            <a:off x="8906400" y="1673280"/>
            <a:ext cx="2331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Why?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4"/>
          <p:cNvSpPr/>
          <p:nvPr/>
        </p:nvSpPr>
        <p:spPr>
          <a:xfrm>
            <a:off x="8412480" y="2203560"/>
            <a:ext cx="277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Ask for a reason.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15"/>
          <p:cNvSpPr/>
          <p:nvPr/>
        </p:nvSpPr>
        <p:spPr>
          <a:xfrm>
            <a:off x="658440" y="3383280"/>
            <a:ext cx="3291480" cy="1416960"/>
          </a:xfrm>
          <a:prstGeom prst="roundRect">
            <a:avLst>
              <a:gd name="adj" fmla="val 9032"/>
            </a:avLst>
          </a:prstGeom>
          <a:solidFill>
            <a:srgbClr val="ffe6ee"/>
          </a:solidFill>
          <a:ln w="15120">
            <a:solidFill>
              <a:srgbClr val="ef47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6"/>
          <p:cNvSpPr/>
          <p:nvPr/>
        </p:nvSpPr>
        <p:spPr>
          <a:xfrm>
            <a:off x="887040" y="358452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💡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7"/>
          <p:cNvSpPr/>
          <p:nvPr/>
        </p:nvSpPr>
        <p:spPr>
          <a:xfrm>
            <a:off x="1408320" y="3639240"/>
            <a:ext cx="2331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because it is _____.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8"/>
          <p:cNvSpPr/>
          <p:nvPr/>
        </p:nvSpPr>
        <p:spPr>
          <a:xfrm>
            <a:off x="914400" y="4169520"/>
            <a:ext cx="277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Give a simple reason.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19"/>
          <p:cNvSpPr/>
          <p:nvPr/>
        </p:nvSpPr>
        <p:spPr>
          <a:xfrm>
            <a:off x="4407480" y="3383280"/>
            <a:ext cx="3291480" cy="1416960"/>
          </a:xfrm>
          <a:prstGeom prst="roundRect">
            <a:avLst>
              <a:gd name="adj" fmla="val 9032"/>
            </a:avLst>
          </a:prstGeom>
          <a:solidFill>
            <a:srgbClr val="efe7ff"/>
          </a:solidFill>
          <a:ln w="1512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20"/>
          <p:cNvSpPr/>
          <p:nvPr/>
        </p:nvSpPr>
        <p:spPr>
          <a:xfrm>
            <a:off x="4636080" y="358452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🙋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21"/>
          <p:cNvSpPr/>
          <p:nvPr/>
        </p:nvSpPr>
        <p:spPr>
          <a:xfrm>
            <a:off x="5157360" y="3639240"/>
            <a:ext cx="2331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Me too!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22"/>
          <p:cNvSpPr/>
          <p:nvPr/>
        </p:nvSpPr>
        <p:spPr>
          <a:xfrm>
            <a:off x="4663440" y="4169520"/>
            <a:ext cx="277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I have the same idea.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23"/>
          <p:cNvSpPr/>
          <p:nvPr/>
        </p:nvSpPr>
        <p:spPr>
          <a:xfrm>
            <a:off x="8156520" y="3383280"/>
            <a:ext cx="3291480" cy="1416960"/>
          </a:xfrm>
          <a:prstGeom prst="roundRect">
            <a:avLst>
              <a:gd name="adj" fmla="val 9032"/>
            </a:avLst>
          </a:prstGeom>
          <a:solidFill>
            <a:srgbClr val="e7f7d9"/>
          </a:solidFill>
          <a:ln w="15120">
            <a:solidFill>
              <a:srgbClr val="75b8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24"/>
          <p:cNvSpPr/>
          <p:nvPr/>
        </p:nvSpPr>
        <p:spPr>
          <a:xfrm>
            <a:off x="8385120" y="358452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🤝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25"/>
          <p:cNvSpPr/>
          <p:nvPr/>
        </p:nvSpPr>
        <p:spPr>
          <a:xfrm>
            <a:off x="8906400" y="3639240"/>
            <a:ext cx="2331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Really? I like _____.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26"/>
          <p:cNvSpPr/>
          <p:nvPr/>
        </p:nvSpPr>
        <p:spPr>
          <a:xfrm>
            <a:off x="8412480" y="4169520"/>
            <a:ext cx="277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3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Different idea politely.</a:t>
            </a:r>
            <a:endParaRPr b="0" lang="en-US" sz="113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7"/>
          <p:cNvSpPr/>
          <p:nvPr/>
        </p:nvSpPr>
        <p:spPr>
          <a:xfrm>
            <a:off x="1828800" y="5669280"/>
            <a:ext cx="8595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ef476f"/>
                </a:solidFill>
                <a:effectLst/>
                <a:uFillTx/>
                <a:latin typeface="Aptos Display"/>
                <a:ea typeface="Aptos Display"/>
              </a:rPr>
              <a:t>Repeat with rhythm: I LIKE pizza BECAUSE it is DE-li-cious.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28"/>
          <p:cNvSpPr/>
          <p:nvPr/>
        </p:nvSpPr>
        <p:spPr>
          <a:xfrm>
            <a:off x="502920" y="6583680"/>
            <a:ext cx="5668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Likes and Reasons · Day 4 · Speaking &amp; Listening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29"/>
          <p:cNvSpPr/>
          <p:nvPr/>
        </p:nvSpPr>
        <p:spPr>
          <a:xfrm>
            <a:off x="11585520" y="6583680"/>
            <a:ext cx="273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09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0"/>
          <p:cNvSpPr/>
          <p:nvPr/>
        </p:nvSpPr>
        <p:spPr>
          <a:xfrm>
            <a:off x="0" y="6546960"/>
            <a:ext cx="12191400" cy="360"/>
          </a:xfrm>
          <a:prstGeom prst="line">
            <a:avLst/>
          </a:prstGeom>
          <a:ln w="12600">
            <a:solidFill>
              <a:srgbClr val="bde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"/>
          <p:cNvSpPr/>
          <p:nvPr/>
        </p:nvSpPr>
        <p:spPr>
          <a:xfrm>
            <a:off x="502920" y="329040"/>
            <a:ext cx="6217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Build the Sentence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2"/>
          <p:cNvSpPr/>
          <p:nvPr/>
        </p:nvSpPr>
        <p:spPr>
          <a:xfrm>
            <a:off x="539640" y="914400"/>
            <a:ext cx="7497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Students practice one useful pattern.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3"/>
          <p:cNvSpPr/>
          <p:nvPr/>
        </p:nvSpPr>
        <p:spPr>
          <a:xfrm>
            <a:off x="658440" y="1325880"/>
            <a:ext cx="10881000" cy="1096920"/>
          </a:xfrm>
          <a:prstGeom prst="roundRect">
            <a:avLst>
              <a:gd name="adj" fmla="val 11667"/>
            </a:avLst>
          </a:prstGeom>
          <a:solidFill>
            <a:srgbClr val="173a52"/>
          </a:solidFill>
          <a:ln w="12600">
            <a:solidFill>
              <a:srgbClr val="173a5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4"/>
          <p:cNvSpPr/>
          <p:nvPr/>
        </p:nvSpPr>
        <p:spPr>
          <a:xfrm>
            <a:off x="822960" y="1645920"/>
            <a:ext cx="10560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trike="noStrike" u="non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I like + noun + because + it is + adjective.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5"/>
          <p:cNvSpPr/>
          <p:nvPr/>
        </p:nvSpPr>
        <p:spPr>
          <a:xfrm>
            <a:off x="749880" y="2788920"/>
            <a:ext cx="1416960" cy="1096920"/>
          </a:xfrm>
          <a:prstGeom prst="roundRect">
            <a:avLst>
              <a:gd name="adj" fmla="val 8333"/>
            </a:avLst>
          </a:prstGeom>
          <a:solidFill>
            <a:srgbClr val="ddf3ff"/>
          </a:solidFill>
          <a:ln w="126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6"/>
          <p:cNvSpPr/>
          <p:nvPr/>
        </p:nvSpPr>
        <p:spPr>
          <a:xfrm>
            <a:off x="749880" y="2898720"/>
            <a:ext cx="1416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73a52"/>
                </a:solidFill>
                <a:effectLst/>
                <a:uFillTx/>
                <a:latin typeface="Aptos"/>
                <a:ea typeface="Aptos"/>
              </a:rPr>
              <a:t>Noun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7"/>
          <p:cNvSpPr/>
          <p:nvPr/>
        </p:nvSpPr>
        <p:spPr>
          <a:xfrm>
            <a:off x="859680" y="3154680"/>
            <a:ext cx="1197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pizza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8"/>
          <p:cNvSpPr/>
          <p:nvPr/>
        </p:nvSpPr>
        <p:spPr>
          <a:xfrm>
            <a:off x="887040" y="3557160"/>
            <a:ext cx="1142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What?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9"/>
          <p:cNvSpPr/>
          <p:nvPr/>
        </p:nvSpPr>
        <p:spPr>
          <a:xfrm>
            <a:off x="2624400" y="2788920"/>
            <a:ext cx="1416960" cy="1096920"/>
          </a:xfrm>
          <a:prstGeom prst="roundRect">
            <a:avLst>
              <a:gd name="adj" fmla="val 8333"/>
            </a:avLst>
          </a:prstGeom>
          <a:solidFill>
            <a:srgbClr val="ddf3ff"/>
          </a:solidFill>
          <a:ln w="126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0"/>
          <p:cNvSpPr/>
          <p:nvPr/>
        </p:nvSpPr>
        <p:spPr>
          <a:xfrm>
            <a:off x="2624400" y="2898720"/>
            <a:ext cx="1416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73a52"/>
                </a:solidFill>
                <a:effectLst/>
                <a:uFillTx/>
                <a:latin typeface="Aptos"/>
                <a:ea typeface="Aptos"/>
              </a:rPr>
              <a:t>Noun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1"/>
          <p:cNvSpPr/>
          <p:nvPr/>
        </p:nvSpPr>
        <p:spPr>
          <a:xfrm>
            <a:off x="2734200" y="3154680"/>
            <a:ext cx="1197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soccer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2"/>
          <p:cNvSpPr/>
          <p:nvPr/>
        </p:nvSpPr>
        <p:spPr>
          <a:xfrm>
            <a:off x="2761560" y="3557160"/>
            <a:ext cx="1142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What?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13"/>
          <p:cNvSpPr/>
          <p:nvPr/>
        </p:nvSpPr>
        <p:spPr>
          <a:xfrm>
            <a:off x="4498920" y="2788920"/>
            <a:ext cx="1416960" cy="1096920"/>
          </a:xfrm>
          <a:prstGeom prst="roundRect">
            <a:avLst>
              <a:gd name="adj" fmla="val 8333"/>
            </a:avLst>
          </a:prstGeom>
          <a:solidFill>
            <a:srgbClr val="ddf3ff"/>
          </a:solidFill>
          <a:ln w="126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14"/>
          <p:cNvSpPr/>
          <p:nvPr/>
        </p:nvSpPr>
        <p:spPr>
          <a:xfrm>
            <a:off x="4498920" y="2898720"/>
            <a:ext cx="1416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73a52"/>
                </a:solidFill>
                <a:effectLst/>
                <a:uFillTx/>
                <a:latin typeface="Aptos"/>
                <a:ea typeface="Aptos"/>
              </a:rPr>
              <a:t>Noun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5"/>
          <p:cNvSpPr/>
          <p:nvPr/>
        </p:nvSpPr>
        <p:spPr>
          <a:xfrm>
            <a:off x="4608720" y="3154680"/>
            <a:ext cx="1197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drawing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6"/>
          <p:cNvSpPr/>
          <p:nvPr/>
        </p:nvSpPr>
        <p:spPr>
          <a:xfrm>
            <a:off x="4636080" y="3557160"/>
            <a:ext cx="1142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What?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17"/>
          <p:cNvSpPr/>
          <p:nvPr/>
        </p:nvSpPr>
        <p:spPr>
          <a:xfrm>
            <a:off x="6373440" y="2788920"/>
            <a:ext cx="1416960" cy="1096920"/>
          </a:xfrm>
          <a:prstGeom prst="roundRect">
            <a:avLst>
              <a:gd name="adj" fmla="val 8333"/>
            </a:avLst>
          </a:prstGeom>
          <a:solidFill>
            <a:srgbClr val="ddf3ff"/>
          </a:solidFill>
          <a:ln w="126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8"/>
          <p:cNvSpPr/>
          <p:nvPr/>
        </p:nvSpPr>
        <p:spPr>
          <a:xfrm>
            <a:off x="6373440" y="2898720"/>
            <a:ext cx="1416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73a52"/>
                </a:solidFill>
                <a:effectLst/>
                <a:uFillTx/>
                <a:latin typeface="Aptos"/>
                <a:ea typeface="Aptos"/>
              </a:rPr>
              <a:t>Noun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9"/>
          <p:cNvSpPr/>
          <p:nvPr/>
        </p:nvSpPr>
        <p:spPr>
          <a:xfrm>
            <a:off x="6483240" y="3154680"/>
            <a:ext cx="1197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music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20"/>
          <p:cNvSpPr/>
          <p:nvPr/>
        </p:nvSpPr>
        <p:spPr>
          <a:xfrm>
            <a:off x="6510600" y="3557160"/>
            <a:ext cx="1142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What?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21"/>
          <p:cNvSpPr/>
          <p:nvPr/>
        </p:nvSpPr>
        <p:spPr>
          <a:xfrm>
            <a:off x="8247960" y="2788920"/>
            <a:ext cx="1416960" cy="1096920"/>
          </a:xfrm>
          <a:prstGeom prst="roundRect">
            <a:avLst>
              <a:gd name="adj" fmla="val 8333"/>
            </a:avLst>
          </a:prstGeom>
          <a:solidFill>
            <a:srgbClr val="ddf3ff"/>
          </a:solidFill>
          <a:ln w="126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22"/>
          <p:cNvSpPr/>
          <p:nvPr/>
        </p:nvSpPr>
        <p:spPr>
          <a:xfrm>
            <a:off x="8247960" y="2898720"/>
            <a:ext cx="1416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73a52"/>
                </a:solidFill>
                <a:effectLst/>
                <a:uFillTx/>
                <a:latin typeface="Aptos"/>
                <a:ea typeface="Aptos"/>
              </a:rPr>
              <a:t>Noun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23"/>
          <p:cNvSpPr/>
          <p:nvPr/>
        </p:nvSpPr>
        <p:spPr>
          <a:xfrm>
            <a:off x="8357760" y="3154680"/>
            <a:ext cx="1197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dogs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24"/>
          <p:cNvSpPr/>
          <p:nvPr/>
        </p:nvSpPr>
        <p:spPr>
          <a:xfrm>
            <a:off x="8385120" y="3557160"/>
            <a:ext cx="1142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What?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25"/>
          <p:cNvSpPr/>
          <p:nvPr/>
        </p:nvSpPr>
        <p:spPr>
          <a:xfrm>
            <a:off x="10122480" y="2788920"/>
            <a:ext cx="1416960" cy="1096920"/>
          </a:xfrm>
          <a:prstGeom prst="roundRect">
            <a:avLst>
              <a:gd name="adj" fmla="val 8333"/>
            </a:avLst>
          </a:prstGeom>
          <a:solidFill>
            <a:srgbClr val="ddf3ff"/>
          </a:solidFill>
          <a:ln w="126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26"/>
          <p:cNvSpPr/>
          <p:nvPr/>
        </p:nvSpPr>
        <p:spPr>
          <a:xfrm>
            <a:off x="10122480" y="2898720"/>
            <a:ext cx="1416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73a52"/>
                </a:solidFill>
                <a:effectLst/>
                <a:uFillTx/>
                <a:latin typeface="Aptos"/>
                <a:ea typeface="Aptos"/>
              </a:rPr>
              <a:t>Noun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27"/>
          <p:cNvSpPr/>
          <p:nvPr/>
        </p:nvSpPr>
        <p:spPr>
          <a:xfrm>
            <a:off x="10232280" y="3154680"/>
            <a:ext cx="1197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English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28"/>
          <p:cNvSpPr/>
          <p:nvPr/>
        </p:nvSpPr>
        <p:spPr>
          <a:xfrm>
            <a:off x="10259640" y="3557160"/>
            <a:ext cx="1142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What?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29"/>
          <p:cNvSpPr/>
          <p:nvPr/>
        </p:nvSpPr>
        <p:spPr>
          <a:xfrm>
            <a:off x="749880" y="4251960"/>
            <a:ext cx="1416960" cy="1096920"/>
          </a:xfrm>
          <a:prstGeom prst="roundRect">
            <a:avLst>
              <a:gd name="adj" fmla="val 8333"/>
            </a:avLst>
          </a:prstGeom>
          <a:solidFill>
            <a:srgbClr val="fff3c4"/>
          </a:solidFill>
          <a:ln w="12600">
            <a:solidFill>
              <a:srgbClr val="ffb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30"/>
          <p:cNvSpPr/>
          <p:nvPr/>
        </p:nvSpPr>
        <p:spPr>
          <a:xfrm>
            <a:off x="749880" y="4361760"/>
            <a:ext cx="1416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73a52"/>
                </a:solidFill>
                <a:effectLst/>
                <a:uFillTx/>
                <a:latin typeface="Aptos"/>
                <a:ea typeface="Aptos"/>
              </a:rPr>
              <a:t>Reason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31"/>
          <p:cNvSpPr/>
          <p:nvPr/>
        </p:nvSpPr>
        <p:spPr>
          <a:xfrm>
            <a:off x="859680" y="4617720"/>
            <a:ext cx="1197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fun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32"/>
          <p:cNvSpPr/>
          <p:nvPr/>
        </p:nvSpPr>
        <p:spPr>
          <a:xfrm>
            <a:off x="887040" y="5020200"/>
            <a:ext cx="1142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Why?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33"/>
          <p:cNvSpPr/>
          <p:nvPr/>
        </p:nvSpPr>
        <p:spPr>
          <a:xfrm>
            <a:off x="2624400" y="4251960"/>
            <a:ext cx="1416960" cy="1096920"/>
          </a:xfrm>
          <a:prstGeom prst="roundRect">
            <a:avLst>
              <a:gd name="adj" fmla="val 8333"/>
            </a:avLst>
          </a:prstGeom>
          <a:solidFill>
            <a:srgbClr val="fff3c4"/>
          </a:solidFill>
          <a:ln w="12600">
            <a:solidFill>
              <a:srgbClr val="ffb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34"/>
          <p:cNvSpPr/>
          <p:nvPr/>
        </p:nvSpPr>
        <p:spPr>
          <a:xfrm>
            <a:off x="2624400" y="4361760"/>
            <a:ext cx="1416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73a52"/>
                </a:solidFill>
                <a:effectLst/>
                <a:uFillTx/>
                <a:latin typeface="Aptos"/>
                <a:ea typeface="Aptos"/>
              </a:rPr>
              <a:t>Reason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35"/>
          <p:cNvSpPr/>
          <p:nvPr/>
        </p:nvSpPr>
        <p:spPr>
          <a:xfrm>
            <a:off x="2734200" y="4617720"/>
            <a:ext cx="1197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delicious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36"/>
          <p:cNvSpPr/>
          <p:nvPr/>
        </p:nvSpPr>
        <p:spPr>
          <a:xfrm>
            <a:off x="2761560" y="5020200"/>
            <a:ext cx="1142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Why?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37"/>
          <p:cNvSpPr/>
          <p:nvPr/>
        </p:nvSpPr>
        <p:spPr>
          <a:xfrm>
            <a:off x="4498920" y="4251960"/>
            <a:ext cx="1416960" cy="1096920"/>
          </a:xfrm>
          <a:prstGeom prst="roundRect">
            <a:avLst>
              <a:gd name="adj" fmla="val 8333"/>
            </a:avLst>
          </a:prstGeom>
          <a:solidFill>
            <a:srgbClr val="fff3c4"/>
          </a:solidFill>
          <a:ln w="12600">
            <a:solidFill>
              <a:srgbClr val="ffb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38"/>
          <p:cNvSpPr/>
          <p:nvPr/>
        </p:nvSpPr>
        <p:spPr>
          <a:xfrm>
            <a:off x="4498920" y="4361760"/>
            <a:ext cx="1416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73a52"/>
                </a:solidFill>
                <a:effectLst/>
                <a:uFillTx/>
                <a:latin typeface="Aptos"/>
                <a:ea typeface="Aptos"/>
              </a:rPr>
              <a:t>Reason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39"/>
          <p:cNvSpPr/>
          <p:nvPr/>
        </p:nvSpPr>
        <p:spPr>
          <a:xfrm>
            <a:off x="4608720" y="4617720"/>
            <a:ext cx="1197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cool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40"/>
          <p:cNvSpPr/>
          <p:nvPr/>
        </p:nvSpPr>
        <p:spPr>
          <a:xfrm>
            <a:off x="4636080" y="5020200"/>
            <a:ext cx="1142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Why?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41"/>
          <p:cNvSpPr/>
          <p:nvPr/>
        </p:nvSpPr>
        <p:spPr>
          <a:xfrm>
            <a:off x="6373440" y="4251960"/>
            <a:ext cx="1416960" cy="1096920"/>
          </a:xfrm>
          <a:prstGeom prst="roundRect">
            <a:avLst>
              <a:gd name="adj" fmla="val 8333"/>
            </a:avLst>
          </a:prstGeom>
          <a:solidFill>
            <a:srgbClr val="fff3c4"/>
          </a:solidFill>
          <a:ln w="12600">
            <a:solidFill>
              <a:srgbClr val="ffb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42"/>
          <p:cNvSpPr/>
          <p:nvPr/>
        </p:nvSpPr>
        <p:spPr>
          <a:xfrm>
            <a:off x="6373440" y="4361760"/>
            <a:ext cx="1416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73a52"/>
                </a:solidFill>
                <a:effectLst/>
                <a:uFillTx/>
                <a:latin typeface="Aptos"/>
                <a:ea typeface="Aptos"/>
              </a:rPr>
              <a:t>Reason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43"/>
          <p:cNvSpPr/>
          <p:nvPr/>
        </p:nvSpPr>
        <p:spPr>
          <a:xfrm>
            <a:off x="6483240" y="4617720"/>
            <a:ext cx="1197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easy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44"/>
          <p:cNvSpPr/>
          <p:nvPr/>
        </p:nvSpPr>
        <p:spPr>
          <a:xfrm>
            <a:off x="6510600" y="5020200"/>
            <a:ext cx="1142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Why?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45"/>
          <p:cNvSpPr/>
          <p:nvPr/>
        </p:nvSpPr>
        <p:spPr>
          <a:xfrm>
            <a:off x="8247960" y="4251960"/>
            <a:ext cx="1416960" cy="1096920"/>
          </a:xfrm>
          <a:prstGeom prst="roundRect">
            <a:avLst>
              <a:gd name="adj" fmla="val 8333"/>
            </a:avLst>
          </a:prstGeom>
          <a:solidFill>
            <a:srgbClr val="fff3c4"/>
          </a:solidFill>
          <a:ln w="12600">
            <a:solidFill>
              <a:srgbClr val="ffb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46"/>
          <p:cNvSpPr/>
          <p:nvPr/>
        </p:nvSpPr>
        <p:spPr>
          <a:xfrm>
            <a:off x="8247960" y="4361760"/>
            <a:ext cx="1416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73a52"/>
                </a:solidFill>
                <a:effectLst/>
                <a:uFillTx/>
                <a:latin typeface="Aptos"/>
                <a:ea typeface="Aptos"/>
              </a:rPr>
              <a:t>Reason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47"/>
          <p:cNvSpPr/>
          <p:nvPr/>
        </p:nvSpPr>
        <p:spPr>
          <a:xfrm>
            <a:off x="8357760" y="4617720"/>
            <a:ext cx="1197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cute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48"/>
          <p:cNvSpPr/>
          <p:nvPr/>
        </p:nvSpPr>
        <p:spPr>
          <a:xfrm>
            <a:off x="8385120" y="5020200"/>
            <a:ext cx="1142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Why?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49"/>
          <p:cNvSpPr/>
          <p:nvPr/>
        </p:nvSpPr>
        <p:spPr>
          <a:xfrm>
            <a:off x="10122480" y="4251960"/>
            <a:ext cx="1416960" cy="1096920"/>
          </a:xfrm>
          <a:prstGeom prst="roundRect">
            <a:avLst>
              <a:gd name="adj" fmla="val 8333"/>
            </a:avLst>
          </a:prstGeom>
          <a:solidFill>
            <a:srgbClr val="fff3c4"/>
          </a:solidFill>
          <a:ln w="12600">
            <a:solidFill>
              <a:srgbClr val="ffb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50"/>
          <p:cNvSpPr/>
          <p:nvPr/>
        </p:nvSpPr>
        <p:spPr>
          <a:xfrm>
            <a:off x="10122480" y="4361760"/>
            <a:ext cx="1416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73a52"/>
                </a:solidFill>
                <a:effectLst/>
                <a:uFillTx/>
                <a:latin typeface="Aptos"/>
                <a:ea typeface="Aptos"/>
              </a:rPr>
              <a:t>Reason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51"/>
          <p:cNvSpPr/>
          <p:nvPr/>
        </p:nvSpPr>
        <p:spPr>
          <a:xfrm>
            <a:off x="10232280" y="4617720"/>
            <a:ext cx="1197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interesting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52"/>
          <p:cNvSpPr/>
          <p:nvPr/>
        </p:nvSpPr>
        <p:spPr>
          <a:xfrm>
            <a:off x="10259640" y="5020200"/>
            <a:ext cx="11426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Why?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53"/>
          <p:cNvSpPr/>
          <p:nvPr/>
        </p:nvSpPr>
        <p:spPr>
          <a:xfrm>
            <a:off x="2560320" y="5715000"/>
            <a:ext cx="7040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Partner practice: Choose 3 nouns and 3 reasons.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54"/>
          <p:cNvSpPr/>
          <p:nvPr/>
        </p:nvSpPr>
        <p:spPr>
          <a:xfrm>
            <a:off x="502920" y="6583680"/>
            <a:ext cx="5668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Likes and Reasons · Day 4 · Speaking &amp; Listening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55"/>
          <p:cNvSpPr/>
          <p:nvPr/>
        </p:nvSpPr>
        <p:spPr>
          <a:xfrm>
            <a:off x="11585520" y="6583680"/>
            <a:ext cx="273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10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Shape 0"/>
          <p:cNvSpPr/>
          <p:nvPr/>
        </p:nvSpPr>
        <p:spPr>
          <a:xfrm>
            <a:off x="0" y="6546960"/>
            <a:ext cx="12191400" cy="360"/>
          </a:xfrm>
          <a:prstGeom prst="line">
            <a:avLst/>
          </a:prstGeom>
          <a:ln w="12600">
            <a:solidFill>
              <a:srgbClr val="bde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1"/>
          <p:cNvSpPr/>
          <p:nvPr/>
        </p:nvSpPr>
        <p:spPr>
          <a:xfrm>
            <a:off x="502920" y="329040"/>
            <a:ext cx="6217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Listening 1: Favorite Things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2"/>
          <p:cNvSpPr/>
          <p:nvPr/>
        </p:nvSpPr>
        <p:spPr>
          <a:xfrm>
            <a:off x="539640" y="914400"/>
            <a:ext cx="7497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Teacher reads. Students listen for likes and reasons.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3"/>
          <p:cNvSpPr/>
          <p:nvPr/>
        </p:nvSpPr>
        <p:spPr>
          <a:xfrm>
            <a:off x="667440" y="1371600"/>
            <a:ext cx="4708800" cy="3565800"/>
          </a:xfrm>
          <a:prstGeom prst="roundRect">
            <a:avLst>
              <a:gd name="adj" fmla="val 4359"/>
            </a:avLst>
          </a:prstGeom>
          <a:solidFill>
            <a:srgbClr val="ffffff"/>
          </a:solidFill>
          <a:ln w="12600">
            <a:solidFill>
              <a:srgbClr val="cbe9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3" name="Image 0" descr="/mnt/data/a_bright_colorful_cartoon_illustration_of_a_class_batch_4.png"/>
          <p:cNvPicPr/>
          <p:nvPr/>
        </p:nvPicPr>
        <p:blipFill>
          <a:blip r:embed="rId1"/>
          <a:srcRect l="164" t="0" r="164" b="0"/>
          <a:stretch/>
        </p:blipFill>
        <p:spPr>
          <a:xfrm>
            <a:off x="713160" y="1417320"/>
            <a:ext cx="4617360" cy="347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4" name="Text 4"/>
          <p:cNvSpPr/>
          <p:nvPr/>
        </p:nvSpPr>
        <p:spPr>
          <a:xfrm>
            <a:off x="713160" y="4965120"/>
            <a:ext cx="46173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New picture prompt: friends sharing favorites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5"/>
          <p:cNvSpPr/>
          <p:nvPr/>
        </p:nvSpPr>
        <p:spPr>
          <a:xfrm>
            <a:off x="5687640" y="1463040"/>
            <a:ext cx="5211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Listen. Put your hand up when you hear: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6"/>
          <p:cNvSpPr/>
          <p:nvPr/>
        </p:nvSpPr>
        <p:spPr>
          <a:xfrm>
            <a:off x="5715000" y="2057400"/>
            <a:ext cx="4388760" cy="594000"/>
          </a:xfrm>
          <a:prstGeom prst="roundRect">
            <a:avLst>
              <a:gd name="adj" fmla="val 21538"/>
            </a:avLst>
          </a:prstGeom>
          <a:solidFill>
            <a:srgbClr val="ddf3ff"/>
          </a:solidFill>
          <a:ln w="1512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7"/>
          <p:cNvSpPr/>
          <p:nvPr/>
        </p:nvSpPr>
        <p:spPr>
          <a:xfrm>
            <a:off x="5943600" y="225864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🎨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8"/>
          <p:cNvSpPr/>
          <p:nvPr/>
        </p:nvSpPr>
        <p:spPr>
          <a:xfrm>
            <a:off x="6464880" y="2313360"/>
            <a:ext cx="3428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I like drawing.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9"/>
          <p:cNvSpPr/>
          <p:nvPr/>
        </p:nvSpPr>
        <p:spPr>
          <a:xfrm>
            <a:off x="5970960" y="2477880"/>
            <a:ext cx="3876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2500" lnSpcReduction="9999"/>
          </a:bodyPr>
          <a:p>
            <a:endParaRPr b="0" lang="en-US" sz="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20" name="Shape 10"/>
          <p:cNvSpPr/>
          <p:nvPr/>
        </p:nvSpPr>
        <p:spPr>
          <a:xfrm>
            <a:off x="5715000" y="2834640"/>
            <a:ext cx="4388760" cy="594000"/>
          </a:xfrm>
          <a:prstGeom prst="roundRect">
            <a:avLst>
              <a:gd name="adj" fmla="val 21538"/>
            </a:avLst>
          </a:prstGeom>
          <a:solidFill>
            <a:srgbClr val="dff7ef"/>
          </a:solidFill>
          <a:ln w="1512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11"/>
          <p:cNvSpPr/>
          <p:nvPr/>
        </p:nvSpPr>
        <p:spPr>
          <a:xfrm>
            <a:off x="5943600" y="303588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❓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12"/>
          <p:cNvSpPr/>
          <p:nvPr/>
        </p:nvSpPr>
        <p:spPr>
          <a:xfrm>
            <a:off x="6464880" y="3090600"/>
            <a:ext cx="3428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Why?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13"/>
          <p:cNvSpPr/>
          <p:nvPr/>
        </p:nvSpPr>
        <p:spPr>
          <a:xfrm>
            <a:off x="5970960" y="3255120"/>
            <a:ext cx="3876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2500" lnSpcReduction="9999"/>
          </a:bodyPr>
          <a:p>
            <a:endParaRPr b="0" lang="en-US" sz="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24" name="Shape 14"/>
          <p:cNvSpPr/>
          <p:nvPr/>
        </p:nvSpPr>
        <p:spPr>
          <a:xfrm>
            <a:off x="5715000" y="3611880"/>
            <a:ext cx="4388760" cy="594000"/>
          </a:xfrm>
          <a:prstGeom prst="roundRect">
            <a:avLst>
              <a:gd name="adj" fmla="val 21538"/>
            </a:avLst>
          </a:prstGeom>
          <a:solidFill>
            <a:srgbClr val="fff3c4"/>
          </a:solidFill>
          <a:ln w="15120">
            <a:solidFill>
              <a:srgbClr val="ffb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15"/>
          <p:cNvSpPr/>
          <p:nvPr/>
        </p:nvSpPr>
        <p:spPr>
          <a:xfrm>
            <a:off x="5943600" y="381312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💡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16"/>
          <p:cNvSpPr/>
          <p:nvPr/>
        </p:nvSpPr>
        <p:spPr>
          <a:xfrm>
            <a:off x="6464880" y="3867840"/>
            <a:ext cx="3428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because it is creative.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17"/>
          <p:cNvSpPr/>
          <p:nvPr/>
        </p:nvSpPr>
        <p:spPr>
          <a:xfrm>
            <a:off x="5970960" y="4032360"/>
            <a:ext cx="3876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2500" lnSpcReduction="9999"/>
          </a:bodyPr>
          <a:p>
            <a:endParaRPr b="0" lang="en-US" sz="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28" name="Shape 18"/>
          <p:cNvSpPr/>
          <p:nvPr/>
        </p:nvSpPr>
        <p:spPr>
          <a:xfrm>
            <a:off x="5715000" y="4389120"/>
            <a:ext cx="4388760" cy="594000"/>
          </a:xfrm>
          <a:prstGeom prst="roundRect">
            <a:avLst>
              <a:gd name="adj" fmla="val 21538"/>
            </a:avLst>
          </a:prstGeom>
          <a:solidFill>
            <a:srgbClr val="ffe6ee"/>
          </a:solidFill>
          <a:ln w="15120">
            <a:solidFill>
              <a:srgbClr val="ef47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19"/>
          <p:cNvSpPr/>
          <p:nvPr/>
        </p:nvSpPr>
        <p:spPr>
          <a:xfrm>
            <a:off x="5943600" y="459036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🤝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20"/>
          <p:cNvSpPr/>
          <p:nvPr/>
        </p:nvSpPr>
        <p:spPr>
          <a:xfrm>
            <a:off x="6464880" y="4645080"/>
            <a:ext cx="3428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Me too!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21"/>
          <p:cNvSpPr/>
          <p:nvPr/>
        </p:nvSpPr>
        <p:spPr>
          <a:xfrm>
            <a:off x="5970960" y="4809600"/>
            <a:ext cx="3876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92500" lnSpcReduction="9999"/>
          </a:bodyPr>
          <a:p>
            <a:endParaRPr b="0" lang="en-US" sz="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32" name="Text 22"/>
          <p:cNvSpPr/>
          <p:nvPr/>
        </p:nvSpPr>
        <p:spPr>
          <a:xfrm>
            <a:off x="5715000" y="5230440"/>
            <a:ext cx="4663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Script is in speaker notes for the teacher.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23"/>
          <p:cNvSpPr/>
          <p:nvPr/>
        </p:nvSpPr>
        <p:spPr>
          <a:xfrm>
            <a:off x="502920" y="6583680"/>
            <a:ext cx="5668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Likes and Reasons · Day 4 · Speaking &amp; Listening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24"/>
          <p:cNvSpPr/>
          <p:nvPr/>
        </p:nvSpPr>
        <p:spPr>
          <a:xfrm>
            <a:off x="11585520" y="6583680"/>
            <a:ext cx="273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11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Shape 0"/>
          <p:cNvSpPr/>
          <p:nvPr/>
        </p:nvSpPr>
        <p:spPr>
          <a:xfrm>
            <a:off x="0" y="6546960"/>
            <a:ext cx="12191400" cy="360"/>
          </a:xfrm>
          <a:prstGeom prst="line">
            <a:avLst/>
          </a:prstGeom>
          <a:ln w="12600">
            <a:solidFill>
              <a:srgbClr val="bde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1"/>
          <p:cNvSpPr/>
          <p:nvPr/>
        </p:nvSpPr>
        <p:spPr>
          <a:xfrm>
            <a:off x="502920" y="329040"/>
            <a:ext cx="6217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Listening Check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2"/>
          <p:cNvSpPr/>
          <p:nvPr/>
        </p:nvSpPr>
        <p:spPr>
          <a:xfrm>
            <a:off x="539640" y="914400"/>
            <a:ext cx="7497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Students answer with fingers: 1, 2, or 3.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3"/>
          <p:cNvSpPr/>
          <p:nvPr/>
        </p:nvSpPr>
        <p:spPr>
          <a:xfrm>
            <a:off x="822960" y="1417320"/>
            <a:ext cx="4800240" cy="1554120"/>
          </a:xfrm>
          <a:prstGeom prst="roundRect">
            <a:avLst>
              <a:gd name="adj" fmla="val 8235"/>
            </a:avLst>
          </a:prstGeom>
          <a:solidFill>
            <a:srgbClr val="ddf3ff"/>
          </a:solidFill>
          <a:ln w="1512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4"/>
          <p:cNvSpPr/>
          <p:nvPr/>
        </p:nvSpPr>
        <p:spPr>
          <a:xfrm>
            <a:off x="1051560" y="161856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👂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5"/>
          <p:cNvSpPr/>
          <p:nvPr/>
        </p:nvSpPr>
        <p:spPr>
          <a:xfrm>
            <a:off x="1572840" y="167328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What does Omar like?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6"/>
          <p:cNvSpPr/>
          <p:nvPr/>
        </p:nvSpPr>
        <p:spPr>
          <a:xfrm>
            <a:off x="1078920" y="2203560"/>
            <a:ext cx="4288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1 drawing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2 running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3 cooking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7"/>
          <p:cNvSpPr/>
          <p:nvPr/>
        </p:nvSpPr>
        <p:spPr>
          <a:xfrm>
            <a:off x="6400800" y="1417320"/>
            <a:ext cx="4800240" cy="1554120"/>
          </a:xfrm>
          <a:prstGeom prst="roundRect">
            <a:avLst>
              <a:gd name="adj" fmla="val 8235"/>
            </a:avLst>
          </a:prstGeom>
          <a:solidFill>
            <a:srgbClr val="dff7ef"/>
          </a:solidFill>
          <a:ln w="1512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8"/>
          <p:cNvSpPr/>
          <p:nvPr/>
        </p:nvSpPr>
        <p:spPr>
          <a:xfrm>
            <a:off x="6629400" y="161856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💬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9"/>
          <p:cNvSpPr/>
          <p:nvPr/>
        </p:nvSpPr>
        <p:spPr>
          <a:xfrm>
            <a:off x="7150680" y="167328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Why does Omar like it?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10"/>
          <p:cNvSpPr/>
          <p:nvPr/>
        </p:nvSpPr>
        <p:spPr>
          <a:xfrm>
            <a:off x="6656760" y="2203560"/>
            <a:ext cx="4288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1 creative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2 noisy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3 boring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11"/>
          <p:cNvSpPr/>
          <p:nvPr/>
        </p:nvSpPr>
        <p:spPr>
          <a:xfrm>
            <a:off x="822960" y="3429000"/>
            <a:ext cx="4800240" cy="1554120"/>
          </a:xfrm>
          <a:prstGeom prst="roundRect">
            <a:avLst>
              <a:gd name="adj" fmla="val 8235"/>
            </a:avLst>
          </a:prstGeom>
          <a:solidFill>
            <a:srgbClr val="fff3c4"/>
          </a:solidFill>
          <a:ln w="15120">
            <a:solidFill>
              <a:srgbClr val="ffb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12"/>
          <p:cNvSpPr/>
          <p:nvPr/>
        </p:nvSpPr>
        <p:spPr>
          <a:xfrm>
            <a:off x="1051560" y="363024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🎵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13"/>
          <p:cNvSpPr/>
          <p:nvPr/>
        </p:nvSpPr>
        <p:spPr>
          <a:xfrm>
            <a:off x="1572840" y="368496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What does Mia like?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14"/>
          <p:cNvSpPr/>
          <p:nvPr/>
        </p:nvSpPr>
        <p:spPr>
          <a:xfrm>
            <a:off x="1078920" y="4215240"/>
            <a:ext cx="4288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1 music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2 spiders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3 football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15"/>
          <p:cNvSpPr/>
          <p:nvPr/>
        </p:nvSpPr>
        <p:spPr>
          <a:xfrm>
            <a:off x="6400800" y="3429000"/>
            <a:ext cx="4800240" cy="1554120"/>
          </a:xfrm>
          <a:prstGeom prst="roundRect">
            <a:avLst>
              <a:gd name="adj" fmla="val 8235"/>
            </a:avLst>
          </a:prstGeom>
          <a:solidFill>
            <a:srgbClr val="ffe6ee"/>
          </a:solidFill>
          <a:ln w="15120">
            <a:solidFill>
              <a:srgbClr val="ef47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16"/>
          <p:cNvSpPr/>
          <p:nvPr/>
        </p:nvSpPr>
        <p:spPr>
          <a:xfrm>
            <a:off x="6629400" y="363024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✅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17"/>
          <p:cNvSpPr/>
          <p:nvPr/>
        </p:nvSpPr>
        <p:spPr>
          <a:xfrm>
            <a:off x="7150680" y="368496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What does Omar say at the end?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18"/>
          <p:cNvSpPr/>
          <p:nvPr/>
        </p:nvSpPr>
        <p:spPr>
          <a:xfrm>
            <a:off x="6656760" y="4215240"/>
            <a:ext cx="4288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1 Me too!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2 Goodbye!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3 I hate it!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19"/>
          <p:cNvSpPr/>
          <p:nvPr/>
        </p:nvSpPr>
        <p:spPr>
          <a:xfrm>
            <a:off x="2834640" y="5623560"/>
            <a:ext cx="6583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ef476f"/>
                </a:solidFill>
                <a:effectLst/>
                <a:uFillTx/>
                <a:latin typeface="Aptos Display"/>
                <a:ea typeface="Aptos Display"/>
              </a:rPr>
              <a:t>Fast correction: Say the full answer together.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20"/>
          <p:cNvSpPr/>
          <p:nvPr/>
        </p:nvSpPr>
        <p:spPr>
          <a:xfrm>
            <a:off x="502920" y="6583680"/>
            <a:ext cx="5668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Likes and Reasons · Day 4 · Speaking &amp; Listening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21"/>
          <p:cNvSpPr/>
          <p:nvPr/>
        </p:nvSpPr>
        <p:spPr>
          <a:xfrm>
            <a:off x="11585520" y="6583680"/>
            <a:ext cx="273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12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Shape 0"/>
          <p:cNvSpPr/>
          <p:nvPr/>
        </p:nvSpPr>
        <p:spPr>
          <a:xfrm>
            <a:off x="0" y="6546960"/>
            <a:ext cx="12191400" cy="360"/>
          </a:xfrm>
          <a:prstGeom prst="line">
            <a:avLst/>
          </a:prstGeom>
          <a:ln w="12600">
            <a:solidFill>
              <a:srgbClr val="bde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1"/>
          <p:cNvSpPr/>
          <p:nvPr/>
        </p:nvSpPr>
        <p:spPr>
          <a:xfrm>
            <a:off x="502920" y="329040"/>
            <a:ext cx="6217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Speaking Game: Reason Chain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2"/>
          <p:cNvSpPr/>
          <p:nvPr/>
        </p:nvSpPr>
        <p:spPr>
          <a:xfrm>
            <a:off x="539640" y="914400"/>
            <a:ext cx="7497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Students build a longer answer together.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3"/>
          <p:cNvSpPr/>
          <p:nvPr/>
        </p:nvSpPr>
        <p:spPr>
          <a:xfrm>
            <a:off x="960120" y="1874520"/>
            <a:ext cx="2057040" cy="2194200"/>
          </a:xfrm>
          <a:prstGeom prst="roundRect">
            <a:avLst>
              <a:gd name="adj" fmla="val 4444"/>
            </a:avLst>
          </a:prstGeom>
          <a:solidFill>
            <a:srgbClr val="ddf3ff"/>
          </a:solidFill>
          <a:ln w="126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4"/>
          <p:cNvSpPr/>
          <p:nvPr/>
        </p:nvSpPr>
        <p:spPr>
          <a:xfrm>
            <a:off x="960120" y="1984320"/>
            <a:ext cx="2057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73a52"/>
                </a:solidFill>
                <a:effectLst/>
                <a:uFillTx/>
                <a:latin typeface="Aptos"/>
                <a:ea typeface="Aptos"/>
              </a:rPr>
              <a:t>1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5"/>
          <p:cNvSpPr/>
          <p:nvPr/>
        </p:nvSpPr>
        <p:spPr>
          <a:xfrm>
            <a:off x="1069920" y="2240280"/>
            <a:ext cx="1837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Pick a card.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6"/>
          <p:cNvSpPr/>
          <p:nvPr/>
        </p:nvSpPr>
        <p:spPr>
          <a:xfrm>
            <a:off x="1097280" y="3740040"/>
            <a:ext cx="1782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pizza / soccer / music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7"/>
          <p:cNvSpPr/>
          <p:nvPr/>
        </p:nvSpPr>
        <p:spPr>
          <a:xfrm>
            <a:off x="3657600" y="1874520"/>
            <a:ext cx="2057040" cy="2194200"/>
          </a:xfrm>
          <a:prstGeom prst="roundRect">
            <a:avLst>
              <a:gd name="adj" fmla="val 4444"/>
            </a:avLst>
          </a:prstGeom>
          <a:solidFill>
            <a:srgbClr val="dff7ef"/>
          </a:solidFill>
          <a:ln w="126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8"/>
          <p:cNvSpPr/>
          <p:nvPr/>
        </p:nvSpPr>
        <p:spPr>
          <a:xfrm>
            <a:off x="3657600" y="1984320"/>
            <a:ext cx="2057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73a52"/>
                </a:solidFill>
                <a:effectLst/>
                <a:uFillTx/>
                <a:latin typeface="Aptos"/>
                <a:ea typeface="Aptos"/>
              </a:rPr>
              <a:t>2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9"/>
          <p:cNvSpPr/>
          <p:nvPr/>
        </p:nvSpPr>
        <p:spPr>
          <a:xfrm>
            <a:off x="3767400" y="2240280"/>
            <a:ext cx="1837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Say your like.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10"/>
          <p:cNvSpPr/>
          <p:nvPr/>
        </p:nvSpPr>
        <p:spPr>
          <a:xfrm>
            <a:off x="3794760" y="3740040"/>
            <a:ext cx="1782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I like _____.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11"/>
          <p:cNvSpPr/>
          <p:nvPr/>
        </p:nvSpPr>
        <p:spPr>
          <a:xfrm>
            <a:off x="6355080" y="1874520"/>
            <a:ext cx="2057040" cy="2194200"/>
          </a:xfrm>
          <a:prstGeom prst="roundRect">
            <a:avLst>
              <a:gd name="adj" fmla="val 4444"/>
            </a:avLst>
          </a:prstGeom>
          <a:solidFill>
            <a:srgbClr val="fff3c4"/>
          </a:solidFill>
          <a:ln w="12600">
            <a:solidFill>
              <a:srgbClr val="ffb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12"/>
          <p:cNvSpPr/>
          <p:nvPr/>
        </p:nvSpPr>
        <p:spPr>
          <a:xfrm>
            <a:off x="6355080" y="1984320"/>
            <a:ext cx="2057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73a52"/>
                </a:solidFill>
                <a:effectLst/>
                <a:uFillTx/>
                <a:latin typeface="Aptos"/>
                <a:ea typeface="Aptos"/>
              </a:rPr>
              <a:t>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13"/>
          <p:cNvSpPr/>
          <p:nvPr/>
        </p:nvSpPr>
        <p:spPr>
          <a:xfrm>
            <a:off x="6464880" y="2240280"/>
            <a:ext cx="1837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Partner asks why.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14"/>
          <p:cNvSpPr/>
          <p:nvPr/>
        </p:nvSpPr>
        <p:spPr>
          <a:xfrm>
            <a:off x="6492240" y="3740040"/>
            <a:ext cx="1782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Why?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15"/>
          <p:cNvSpPr/>
          <p:nvPr/>
        </p:nvSpPr>
        <p:spPr>
          <a:xfrm>
            <a:off x="9052560" y="1874520"/>
            <a:ext cx="2057040" cy="2194200"/>
          </a:xfrm>
          <a:prstGeom prst="roundRect">
            <a:avLst>
              <a:gd name="adj" fmla="val 4444"/>
            </a:avLst>
          </a:prstGeom>
          <a:solidFill>
            <a:srgbClr val="ffe6ee"/>
          </a:solidFill>
          <a:ln w="12600">
            <a:solidFill>
              <a:srgbClr val="ef47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16"/>
          <p:cNvSpPr/>
          <p:nvPr/>
        </p:nvSpPr>
        <p:spPr>
          <a:xfrm>
            <a:off x="9052560" y="1984320"/>
            <a:ext cx="2057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73a52"/>
                </a:solidFill>
                <a:effectLst/>
                <a:uFillTx/>
                <a:latin typeface="Aptos"/>
                <a:ea typeface="Aptos"/>
              </a:rPr>
              <a:t>4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17"/>
          <p:cNvSpPr/>
          <p:nvPr/>
        </p:nvSpPr>
        <p:spPr>
          <a:xfrm>
            <a:off x="9162360" y="2240280"/>
            <a:ext cx="1837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Give a reason.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18"/>
          <p:cNvSpPr/>
          <p:nvPr/>
        </p:nvSpPr>
        <p:spPr>
          <a:xfrm>
            <a:off x="9189720" y="3740040"/>
            <a:ext cx="17827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Because it is _____.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19"/>
          <p:cNvSpPr/>
          <p:nvPr/>
        </p:nvSpPr>
        <p:spPr>
          <a:xfrm>
            <a:off x="2286000" y="5257800"/>
            <a:ext cx="7589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ef476f"/>
                </a:solidFill>
                <a:effectLst/>
                <a:uFillTx/>
                <a:latin typeface="Aptos Display"/>
                <a:ea typeface="Aptos Display"/>
              </a:rPr>
              <a:t>Use English only. Use gestures if you forget a word!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20"/>
          <p:cNvSpPr/>
          <p:nvPr/>
        </p:nvSpPr>
        <p:spPr>
          <a:xfrm>
            <a:off x="502920" y="6583680"/>
            <a:ext cx="5668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Likes and Reasons · Day 4 · Speaking &amp; Listening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21"/>
          <p:cNvSpPr/>
          <p:nvPr/>
        </p:nvSpPr>
        <p:spPr>
          <a:xfrm>
            <a:off x="11585520" y="6583680"/>
            <a:ext cx="273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13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Shape 0"/>
          <p:cNvSpPr/>
          <p:nvPr/>
        </p:nvSpPr>
        <p:spPr>
          <a:xfrm>
            <a:off x="0" y="6546960"/>
            <a:ext cx="12191400" cy="360"/>
          </a:xfrm>
          <a:prstGeom prst="line">
            <a:avLst/>
          </a:prstGeom>
          <a:ln w="12600">
            <a:solidFill>
              <a:srgbClr val="bde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1"/>
          <p:cNvSpPr/>
          <p:nvPr/>
        </p:nvSpPr>
        <p:spPr>
          <a:xfrm>
            <a:off x="502920" y="329040"/>
            <a:ext cx="6217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Dialogue Model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2"/>
          <p:cNvSpPr/>
          <p:nvPr/>
        </p:nvSpPr>
        <p:spPr>
          <a:xfrm>
            <a:off x="539640" y="914400"/>
            <a:ext cx="7497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Students practice a short, safe conversation.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3"/>
          <p:cNvSpPr/>
          <p:nvPr/>
        </p:nvSpPr>
        <p:spPr>
          <a:xfrm>
            <a:off x="1097280" y="1554480"/>
            <a:ext cx="9875160" cy="3337200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12600">
            <a:solidFill>
              <a:srgbClr val="cbe9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4"/>
          <p:cNvSpPr/>
          <p:nvPr/>
        </p:nvSpPr>
        <p:spPr>
          <a:xfrm>
            <a:off x="1645920" y="1874520"/>
            <a:ext cx="8869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A: What do you like?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5"/>
          <p:cNvSpPr/>
          <p:nvPr/>
        </p:nvSpPr>
        <p:spPr>
          <a:xfrm>
            <a:off x="1645920" y="2377440"/>
            <a:ext cx="8869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B: I like basketball.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6"/>
          <p:cNvSpPr/>
          <p:nvPr/>
        </p:nvSpPr>
        <p:spPr>
          <a:xfrm>
            <a:off x="1645920" y="2880360"/>
            <a:ext cx="8869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ef476f"/>
                </a:solidFill>
                <a:effectLst/>
                <a:uFillTx/>
                <a:latin typeface="Aptos Display"/>
                <a:ea typeface="Aptos Display"/>
              </a:rPr>
              <a:t>A: Why?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7"/>
          <p:cNvSpPr/>
          <p:nvPr/>
        </p:nvSpPr>
        <p:spPr>
          <a:xfrm>
            <a:off x="1645920" y="3383280"/>
            <a:ext cx="8869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B: Because it is exciting.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8"/>
          <p:cNvSpPr/>
          <p:nvPr/>
        </p:nvSpPr>
        <p:spPr>
          <a:xfrm>
            <a:off x="1645920" y="3886200"/>
            <a:ext cx="8869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A: Me too! I like basketball.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9"/>
          <p:cNvSpPr/>
          <p:nvPr/>
        </p:nvSpPr>
        <p:spPr>
          <a:xfrm>
            <a:off x="1965960" y="54406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Practice 3 times: slow voice → normal voice → acting voice.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10"/>
          <p:cNvSpPr/>
          <p:nvPr/>
        </p:nvSpPr>
        <p:spPr>
          <a:xfrm>
            <a:off x="502920" y="6583680"/>
            <a:ext cx="5668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Likes and Reasons · Day 4 · Speaking &amp; Listening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11"/>
          <p:cNvSpPr/>
          <p:nvPr/>
        </p:nvSpPr>
        <p:spPr>
          <a:xfrm>
            <a:off x="11585520" y="6583680"/>
            <a:ext cx="273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14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Shape 0"/>
          <p:cNvSpPr/>
          <p:nvPr/>
        </p:nvSpPr>
        <p:spPr>
          <a:xfrm>
            <a:off x="0" y="6546960"/>
            <a:ext cx="12191400" cy="360"/>
          </a:xfrm>
          <a:prstGeom prst="line">
            <a:avLst/>
          </a:prstGeom>
          <a:ln w="12600">
            <a:solidFill>
              <a:srgbClr val="bde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1"/>
          <p:cNvSpPr/>
          <p:nvPr/>
        </p:nvSpPr>
        <p:spPr>
          <a:xfrm>
            <a:off x="502920" y="329040"/>
            <a:ext cx="6217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Choose a Role-play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2"/>
          <p:cNvSpPr/>
          <p:nvPr/>
        </p:nvSpPr>
        <p:spPr>
          <a:xfrm>
            <a:off x="539640" y="914400"/>
            <a:ext cx="7497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Students make likes and reasons useful in real conversations.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3"/>
          <p:cNvSpPr/>
          <p:nvPr/>
        </p:nvSpPr>
        <p:spPr>
          <a:xfrm>
            <a:off x="822960" y="1417320"/>
            <a:ext cx="4800240" cy="1508400"/>
          </a:xfrm>
          <a:prstGeom prst="roundRect">
            <a:avLst>
              <a:gd name="adj" fmla="val 8485"/>
            </a:avLst>
          </a:prstGeom>
          <a:solidFill>
            <a:srgbClr val="ddf3ff"/>
          </a:solidFill>
          <a:ln w="1512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4"/>
          <p:cNvSpPr/>
          <p:nvPr/>
        </p:nvSpPr>
        <p:spPr>
          <a:xfrm>
            <a:off x="1051560" y="161856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🍽️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5"/>
          <p:cNvSpPr/>
          <p:nvPr/>
        </p:nvSpPr>
        <p:spPr>
          <a:xfrm>
            <a:off x="1572840" y="167328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Problem 1 · At lunch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6"/>
          <p:cNvSpPr/>
          <p:nvPr/>
        </p:nvSpPr>
        <p:spPr>
          <a:xfrm>
            <a:off x="1078920" y="2203560"/>
            <a:ext cx="4288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Say what food you like and why.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7"/>
          <p:cNvSpPr/>
          <p:nvPr/>
        </p:nvSpPr>
        <p:spPr>
          <a:xfrm>
            <a:off x="6400800" y="1417320"/>
            <a:ext cx="4800240" cy="1508400"/>
          </a:xfrm>
          <a:prstGeom prst="roundRect">
            <a:avLst>
              <a:gd name="adj" fmla="val 8485"/>
            </a:avLst>
          </a:prstGeom>
          <a:solidFill>
            <a:srgbClr val="dff7ef"/>
          </a:solidFill>
          <a:ln w="1512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8"/>
          <p:cNvSpPr/>
          <p:nvPr/>
        </p:nvSpPr>
        <p:spPr>
          <a:xfrm>
            <a:off x="6629400" y="161856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🎮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9"/>
          <p:cNvSpPr/>
          <p:nvPr/>
        </p:nvSpPr>
        <p:spPr>
          <a:xfrm>
            <a:off x="7150680" y="167328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Problem 2 · After school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10"/>
          <p:cNvSpPr/>
          <p:nvPr/>
        </p:nvSpPr>
        <p:spPr>
          <a:xfrm>
            <a:off x="6656760" y="2203560"/>
            <a:ext cx="4288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Ask about games and give a reason.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11"/>
          <p:cNvSpPr/>
          <p:nvPr/>
        </p:nvSpPr>
        <p:spPr>
          <a:xfrm>
            <a:off x="822960" y="3383280"/>
            <a:ext cx="4800240" cy="1508400"/>
          </a:xfrm>
          <a:prstGeom prst="roundRect">
            <a:avLst>
              <a:gd name="adj" fmla="val 8485"/>
            </a:avLst>
          </a:prstGeom>
          <a:solidFill>
            <a:srgbClr val="fff3c4"/>
          </a:solidFill>
          <a:ln w="15120">
            <a:solidFill>
              <a:srgbClr val="ffb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12"/>
          <p:cNvSpPr/>
          <p:nvPr/>
        </p:nvSpPr>
        <p:spPr>
          <a:xfrm>
            <a:off x="1051560" y="358452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📚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13"/>
          <p:cNvSpPr/>
          <p:nvPr/>
        </p:nvSpPr>
        <p:spPr>
          <a:xfrm>
            <a:off x="1572840" y="363924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Problem 3 · Library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14"/>
          <p:cNvSpPr/>
          <p:nvPr/>
        </p:nvSpPr>
        <p:spPr>
          <a:xfrm>
            <a:off x="1078920" y="4169520"/>
            <a:ext cx="4288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Talk about books or subjects.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15"/>
          <p:cNvSpPr/>
          <p:nvPr/>
        </p:nvSpPr>
        <p:spPr>
          <a:xfrm>
            <a:off x="6400800" y="3383280"/>
            <a:ext cx="4800240" cy="1508400"/>
          </a:xfrm>
          <a:prstGeom prst="roundRect">
            <a:avLst>
              <a:gd name="adj" fmla="val 8485"/>
            </a:avLst>
          </a:prstGeom>
          <a:solidFill>
            <a:srgbClr val="ffe6ee"/>
          </a:solidFill>
          <a:ln w="15120">
            <a:solidFill>
              <a:srgbClr val="ef47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16"/>
          <p:cNvSpPr/>
          <p:nvPr/>
        </p:nvSpPr>
        <p:spPr>
          <a:xfrm>
            <a:off x="6629400" y="358452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🏃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17"/>
          <p:cNvSpPr/>
          <p:nvPr/>
        </p:nvSpPr>
        <p:spPr>
          <a:xfrm>
            <a:off x="7150680" y="363924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Problem 4 · Sports club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18"/>
          <p:cNvSpPr/>
          <p:nvPr/>
        </p:nvSpPr>
        <p:spPr>
          <a:xfrm>
            <a:off x="6656760" y="4169520"/>
            <a:ext cx="4288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Say what sport you like and why.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19"/>
          <p:cNvSpPr/>
          <p:nvPr/>
        </p:nvSpPr>
        <p:spPr>
          <a:xfrm>
            <a:off x="1371600" y="5623560"/>
            <a:ext cx="9600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ef476f"/>
                </a:solidFill>
                <a:effectLst/>
                <a:uFillTx/>
                <a:latin typeface="Aptos Display"/>
                <a:ea typeface="Aptos Display"/>
              </a:rPr>
              <a:t>Performance rule: everyone speaks at least one line with “because.”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20"/>
          <p:cNvSpPr/>
          <p:nvPr/>
        </p:nvSpPr>
        <p:spPr>
          <a:xfrm>
            <a:off x="502920" y="6583680"/>
            <a:ext cx="5668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Likes and Reasons · Day 4 · Speaking &amp; Listening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21"/>
          <p:cNvSpPr/>
          <p:nvPr/>
        </p:nvSpPr>
        <p:spPr>
          <a:xfrm>
            <a:off x="11585520" y="6583680"/>
            <a:ext cx="273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15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Shape 0"/>
          <p:cNvSpPr/>
          <p:nvPr/>
        </p:nvSpPr>
        <p:spPr>
          <a:xfrm>
            <a:off x="0" y="6546960"/>
            <a:ext cx="12191400" cy="360"/>
          </a:xfrm>
          <a:prstGeom prst="line">
            <a:avLst/>
          </a:prstGeom>
          <a:ln w="12600">
            <a:solidFill>
              <a:srgbClr val="bde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1"/>
          <p:cNvSpPr/>
          <p:nvPr/>
        </p:nvSpPr>
        <p:spPr>
          <a:xfrm>
            <a:off x="502920" y="329040"/>
            <a:ext cx="6217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Opinion Corners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2"/>
          <p:cNvSpPr/>
          <p:nvPr/>
        </p:nvSpPr>
        <p:spPr>
          <a:xfrm>
            <a:off x="539640" y="914400"/>
            <a:ext cx="7497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Students move, choose, and explain.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3"/>
          <p:cNvSpPr/>
          <p:nvPr/>
        </p:nvSpPr>
        <p:spPr>
          <a:xfrm>
            <a:off x="822960" y="1417320"/>
            <a:ext cx="4800240" cy="1508400"/>
          </a:xfrm>
          <a:prstGeom prst="roundRect">
            <a:avLst>
              <a:gd name="adj" fmla="val 8485"/>
            </a:avLst>
          </a:prstGeom>
          <a:solidFill>
            <a:srgbClr val="ddf3ff"/>
          </a:solidFill>
          <a:ln w="1512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4"/>
          <p:cNvSpPr/>
          <p:nvPr/>
        </p:nvSpPr>
        <p:spPr>
          <a:xfrm>
            <a:off x="1051560" y="161856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🍕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5"/>
          <p:cNvSpPr/>
          <p:nvPr/>
        </p:nvSpPr>
        <p:spPr>
          <a:xfrm>
            <a:off x="1572840" y="167328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Food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6"/>
          <p:cNvSpPr/>
          <p:nvPr/>
        </p:nvSpPr>
        <p:spPr>
          <a:xfrm>
            <a:off x="1078920" y="2203560"/>
            <a:ext cx="4288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I like pizza because it is delicious.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7"/>
          <p:cNvSpPr/>
          <p:nvPr/>
        </p:nvSpPr>
        <p:spPr>
          <a:xfrm>
            <a:off x="6400800" y="1417320"/>
            <a:ext cx="4800240" cy="1508400"/>
          </a:xfrm>
          <a:prstGeom prst="roundRect">
            <a:avLst>
              <a:gd name="adj" fmla="val 8485"/>
            </a:avLst>
          </a:prstGeom>
          <a:solidFill>
            <a:srgbClr val="dff7ef"/>
          </a:solidFill>
          <a:ln w="1512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8"/>
          <p:cNvSpPr/>
          <p:nvPr/>
        </p:nvSpPr>
        <p:spPr>
          <a:xfrm>
            <a:off x="6629400" y="161856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⚽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9"/>
          <p:cNvSpPr/>
          <p:nvPr/>
        </p:nvSpPr>
        <p:spPr>
          <a:xfrm>
            <a:off x="7150680" y="167328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Sports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10"/>
          <p:cNvSpPr/>
          <p:nvPr/>
        </p:nvSpPr>
        <p:spPr>
          <a:xfrm>
            <a:off x="6656760" y="2203560"/>
            <a:ext cx="4288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I like soccer because it is exciting.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11"/>
          <p:cNvSpPr/>
          <p:nvPr/>
        </p:nvSpPr>
        <p:spPr>
          <a:xfrm>
            <a:off x="822960" y="3383280"/>
            <a:ext cx="4800240" cy="1508400"/>
          </a:xfrm>
          <a:prstGeom prst="roundRect">
            <a:avLst>
              <a:gd name="adj" fmla="val 8485"/>
            </a:avLst>
          </a:prstGeom>
          <a:solidFill>
            <a:srgbClr val="fff3c4"/>
          </a:solidFill>
          <a:ln w="15120">
            <a:solidFill>
              <a:srgbClr val="ffb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12"/>
          <p:cNvSpPr/>
          <p:nvPr/>
        </p:nvSpPr>
        <p:spPr>
          <a:xfrm>
            <a:off x="1051560" y="358452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🎨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13"/>
          <p:cNvSpPr/>
          <p:nvPr/>
        </p:nvSpPr>
        <p:spPr>
          <a:xfrm>
            <a:off x="1572840" y="363924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Art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14"/>
          <p:cNvSpPr/>
          <p:nvPr/>
        </p:nvSpPr>
        <p:spPr>
          <a:xfrm>
            <a:off x="1078920" y="4169520"/>
            <a:ext cx="4288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I like drawing because it is creative.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Shape 15"/>
          <p:cNvSpPr/>
          <p:nvPr/>
        </p:nvSpPr>
        <p:spPr>
          <a:xfrm>
            <a:off x="6400800" y="3383280"/>
            <a:ext cx="4800240" cy="1508400"/>
          </a:xfrm>
          <a:prstGeom prst="roundRect">
            <a:avLst>
              <a:gd name="adj" fmla="val 8485"/>
            </a:avLst>
          </a:prstGeom>
          <a:solidFill>
            <a:srgbClr val="ffe6ee"/>
          </a:solidFill>
          <a:ln w="15120">
            <a:solidFill>
              <a:srgbClr val="ef47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Text 16"/>
          <p:cNvSpPr/>
          <p:nvPr/>
        </p:nvSpPr>
        <p:spPr>
          <a:xfrm>
            <a:off x="6629400" y="358452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🎮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17"/>
          <p:cNvSpPr/>
          <p:nvPr/>
        </p:nvSpPr>
        <p:spPr>
          <a:xfrm>
            <a:off x="7150680" y="363924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Games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18"/>
          <p:cNvSpPr/>
          <p:nvPr/>
        </p:nvSpPr>
        <p:spPr>
          <a:xfrm>
            <a:off x="6656760" y="4169520"/>
            <a:ext cx="4288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I like games because they are fun.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19"/>
          <p:cNvSpPr/>
          <p:nvPr/>
        </p:nvSpPr>
        <p:spPr>
          <a:xfrm>
            <a:off x="1097280" y="5577840"/>
            <a:ext cx="10058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ef476f"/>
                </a:solidFill>
                <a:effectLst/>
                <a:uFillTx/>
                <a:latin typeface="Aptos Display"/>
                <a:ea typeface="Aptos Display"/>
              </a:rPr>
              <a:t>Rule: Move to a corner → tell one friend your reason → change corner.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20"/>
          <p:cNvSpPr/>
          <p:nvPr/>
        </p:nvSpPr>
        <p:spPr>
          <a:xfrm>
            <a:off x="502920" y="6583680"/>
            <a:ext cx="5668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Likes and Reasons · Day 4 · Speaking &amp; Listening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21"/>
          <p:cNvSpPr/>
          <p:nvPr/>
        </p:nvSpPr>
        <p:spPr>
          <a:xfrm>
            <a:off x="11585520" y="6583680"/>
            <a:ext cx="273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16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Shape 0"/>
          <p:cNvSpPr/>
          <p:nvPr/>
        </p:nvSpPr>
        <p:spPr>
          <a:xfrm>
            <a:off x="0" y="6546960"/>
            <a:ext cx="12191400" cy="360"/>
          </a:xfrm>
          <a:prstGeom prst="line">
            <a:avLst/>
          </a:prstGeom>
          <a:ln w="12600">
            <a:solidFill>
              <a:srgbClr val="bde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1"/>
          <p:cNvSpPr/>
          <p:nvPr/>
        </p:nvSpPr>
        <p:spPr>
          <a:xfrm>
            <a:off x="502920" y="329040"/>
            <a:ext cx="6217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Mingle Survey: Ask 4 Friends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2"/>
          <p:cNvSpPr/>
          <p:nvPr/>
        </p:nvSpPr>
        <p:spPr>
          <a:xfrm>
            <a:off x="539640" y="914400"/>
            <a:ext cx="7497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Students ask, answer, and remember reasons.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Shape 3"/>
          <p:cNvSpPr/>
          <p:nvPr/>
        </p:nvSpPr>
        <p:spPr>
          <a:xfrm>
            <a:off x="822960" y="1417320"/>
            <a:ext cx="1828440" cy="594000"/>
          </a:xfrm>
          <a:prstGeom prst="roundRect">
            <a:avLst>
              <a:gd name="adj" fmla="val 7692"/>
            </a:avLst>
          </a:prstGeom>
          <a:solidFill>
            <a:srgbClr val="173a52"/>
          </a:solidFill>
          <a:ln w="12600">
            <a:solidFill>
              <a:srgbClr val="173a5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4"/>
          <p:cNvSpPr/>
          <p:nvPr/>
        </p:nvSpPr>
        <p:spPr>
          <a:xfrm>
            <a:off x="822960" y="1618560"/>
            <a:ext cx="18284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Name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5"/>
          <p:cNvSpPr/>
          <p:nvPr/>
        </p:nvSpPr>
        <p:spPr>
          <a:xfrm>
            <a:off x="3108960" y="1417320"/>
            <a:ext cx="1919880" cy="594000"/>
          </a:xfrm>
          <a:prstGeom prst="roundRect">
            <a:avLst>
              <a:gd name="adj" fmla="val 7692"/>
            </a:avLst>
          </a:prstGeom>
          <a:solidFill>
            <a:srgbClr val="173a52"/>
          </a:solidFill>
          <a:ln w="12600">
            <a:solidFill>
              <a:srgbClr val="173a5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6"/>
          <p:cNvSpPr/>
          <p:nvPr/>
        </p:nvSpPr>
        <p:spPr>
          <a:xfrm>
            <a:off x="3108960" y="1618560"/>
            <a:ext cx="1919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Likes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7"/>
          <p:cNvSpPr/>
          <p:nvPr/>
        </p:nvSpPr>
        <p:spPr>
          <a:xfrm>
            <a:off x="5394960" y="1417320"/>
            <a:ext cx="1919880" cy="594000"/>
          </a:xfrm>
          <a:prstGeom prst="roundRect">
            <a:avLst>
              <a:gd name="adj" fmla="val 7692"/>
            </a:avLst>
          </a:prstGeom>
          <a:solidFill>
            <a:srgbClr val="173a52"/>
          </a:solidFill>
          <a:ln w="12600">
            <a:solidFill>
              <a:srgbClr val="173a5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8"/>
          <p:cNvSpPr/>
          <p:nvPr/>
        </p:nvSpPr>
        <p:spPr>
          <a:xfrm>
            <a:off x="5394960" y="1618560"/>
            <a:ext cx="1919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Reason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9"/>
          <p:cNvSpPr/>
          <p:nvPr/>
        </p:nvSpPr>
        <p:spPr>
          <a:xfrm>
            <a:off x="7680960" y="1417320"/>
            <a:ext cx="1919880" cy="594000"/>
          </a:xfrm>
          <a:prstGeom prst="roundRect">
            <a:avLst>
              <a:gd name="adj" fmla="val 7692"/>
            </a:avLst>
          </a:prstGeom>
          <a:solidFill>
            <a:srgbClr val="173a52"/>
          </a:solidFill>
          <a:ln w="12600">
            <a:solidFill>
              <a:srgbClr val="173a5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10"/>
          <p:cNvSpPr/>
          <p:nvPr/>
        </p:nvSpPr>
        <p:spPr>
          <a:xfrm>
            <a:off x="7680960" y="1618560"/>
            <a:ext cx="1919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Me too?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11"/>
          <p:cNvSpPr/>
          <p:nvPr/>
        </p:nvSpPr>
        <p:spPr>
          <a:xfrm>
            <a:off x="9966960" y="1417320"/>
            <a:ext cx="1919880" cy="594000"/>
          </a:xfrm>
          <a:prstGeom prst="roundRect">
            <a:avLst>
              <a:gd name="adj" fmla="val 7692"/>
            </a:avLst>
          </a:prstGeom>
          <a:solidFill>
            <a:srgbClr val="173a52"/>
          </a:solidFill>
          <a:ln w="12600">
            <a:solidFill>
              <a:srgbClr val="173a5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12"/>
          <p:cNvSpPr/>
          <p:nvPr/>
        </p:nvSpPr>
        <p:spPr>
          <a:xfrm>
            <a:off x="9966960" y="1618560"/>
            <a:ext cx="19198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New word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13"/>
          <p:cNvSpPr/>
          <p:nvPr/>
        </p:nvSpPr>
        <p:spPr>
          <a:xfrm>
            <a:off x="822960" y="2148840"/>
            <a:ext cx="1828440" cy="529920"/>
          </a:xfrm>
          <a:prstGeom prst="roundRect">
            <a:avLst>
              <a:gd name="adj" fmla="val 8621"/>
            </a:avLst>
          </a:prstGeom>
          <a:solidFill>
            <a:srgbClr val="ddf3ff"/>
          </a:solidFill>
          <a:ln w="10080">
            <a:solidFill>
              <a:srgbClr val="d8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14"/>
          <p:cNvSpPr/>
          <p:nvPr/>
        </p:nvSpPr>
        <p:spPr>
          <a:xfrm>
            <a:off x="3108960" y="2148840"/>
            <a:ext cx="1919880" cy="529920"/>
          </a:xfrm>
          <a:prstGeom prst="roundRect">
            <a:avLst>
              <a:gd name="adj" fmla="val 8621"/>
            </a:avLst>
          </a:prstGeom>
          <a:solidFill>
            <a:srgbClr val="ddf3ff"/>
          </a:solidFill>
          <a:ln w="10080">
            <a:solidFill>
              <a:srgbClr val="d8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15"/>
          <p:cNvSpPr/>
          <p:nvPr/>
        </p:nvSpPr>
        <p:spPr>
          <a:xfrm>
            <a:off x="5394960" y="2148840"/>
            <a:ext cx="1919880" cy="529920"/>
          </a:xfrm>
          <a:prstGeom prst="roundRect">
            <a:avLst>
              <a:gd name="adj" fmla="val 8621"/>
            </a:avLst>
          </a:prstGeom>
          <a:solidFill>
            <a:srgbClr val="ddf3ff"/>
          </a:solidFill>
          <a:ln w="10080">
            <a:solidFill>
              <a:srgbClr val="d8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Shape 16"/>
          <p:cNvSpPr/>
          <p:nvPr/>
        </p:nvSpPr>
        <p:spPr>
          <a:xfrm>
            <a:off x="7680960" y="2148840"/>
            <a:ext cx="1919880" cy="529920"/>
          </a:xfrm>
          <a:prstGeom prst="roundRect">
            <a:avLst>
              <a:gd name="adj" fmla="val 8621"/>
            </a:avLst>
          </a:prstGeom>
          <a:solidFill>
            <a:srgbClr val="ddf3ff"/>
          </a:solidFill>
          <a:ln w="10080">
            <a:solidFill>
              <a:srgbClr val="d8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Shape 17"/>
          <p:cNvSpPr/>
          <p:nvPr/>
        </p:nvSpPr>
        <p:spPr>
          <a:xfrm>
            <a:off x="9966960" y="2148840"/>
            <a:ext cx="1919880" cy="529920"/>
          </a:xfrm>
          <a:prstGeom prst="roundRect">
            <a:avLst>
              <a:gd name="adj" fmla="val 8621"/>
            </a:avLst>
          </a:prstGeom>
          <a:solidFill>
            <a:srgbClr val="ddf3ff"/>
          </a:solidFill>
          <a:ln w="10080">
            <a:solidFill>
              <a:srgbClr val="d8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18"/>
          <p:cNvSpPr/>
          <p:nvPr/>
        </p:nvSpPr>
        <p:spPr>
          <a:xfrm>
            <a:off x="822960" y="2926080"/>
            <a:ext cx="1828440" cy="529920"/>
          </a:xfrm>
          <a:prstGeom prst="roundRect">
            <a:avLst>
              <a:gd name="adj" fmla="val 8621"/>
            </a:avLst>
          </a:prstGeom>
          <a:solidFill>
            <a:srgbClr val="dff7ef"/>
          </a:solidFill>
          <a:ln w="10080">
            <a:solidFill>
              <a:srgbClr val="d8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19"/>
          <p:cNvSpPr/>
          <p:nvPr/>
        </p:nvSpPr>
        <p:spPr>
          <a:xfrm>
            <a:off x="3108960" y="2926080"/>
            <a:ext cx="1919880" cy="529920"/>
          </a:xfrm>
          <a:prstGeom prst="roundRect">
            <a:avLst>
              <a:gd name="adj" fmla="val 8621"/>
            </a:avLst>
          </a:prstGeom>
          <a:solidFill>
            <a:srgbClr val="dff7ef"/>
          </a:solidFill>
          <a:ln w="10080">
            <a:solidFill>
              <a:srgbClr val="d8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20"/>
          <p:cNvSpPr/>
          <p:nvPr/>
        </p:nvSpPr>
        <p:spPr>
          <a:xfrm>
            <a:off x="5394960" y="2926080"/>
            <a:ext cx="1919880" cy="529920"/>
          </a:xfrm>
          <a:prstGeom prst="roundRect">
            <a:avLst>
              <a:gd name="adj" fmla="val 8621"/>
            </a:avLst>
          </a:prstGeom>
          <a:solidFill>
            <a:srgbClr val="dff7ef"/>
          </a:solidFill>
          <a:ln w="10080">
            <a:solidFill>
              <a:srgbClr val="d8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Shape 21"/>
          <p:cNvSpPr/>
          <p:nvPr/>
        </p:nvSpPr>
        <p:spPr>
          <a:xfrm>
            <a:off x="7680960" y="2926080"/>
            <a:ext cx="1919880" cy="529920"/>
          </a:xfrm>
          <a:prstGeom prst="roundRect">
            <a:avLst>
              <a:gd name="adj" fmla="val 8621"/>
            </a:avLst>
          </a:prstGeom>
          <a:solidFill>
            <a:srgbClr val="dff7ef"/>
          </a:solidFill>
          <a:ln w="10080">
            <a:solidFill>
              <a:srgbClr val="d8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22"/>
          <p:cNvSpPr/>
          <p:nvPr/>
        </p:nvSpPr>
        <p:spPr>
          <a:xfrm>
            <a:off x="9966960" y="2926080"/>
            <a:ext cx="1919880" cy="529920"/>
          </a:xfrm>
          <a:prstGeom prst="roundRect">
            <a:avLst>
              <a:gd name="adj" fmla="val 8621"/>
            </a:avLst>
          </a:prstGeom>
          <a:solidFill>
            <a:srgbClr val="dff7ef"/>
          </a:solidFill>
          <a:ln w="10080">
            <a:solidFill>
              <a:srgbClr val="d8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Shape 23"/>
          <p:cNvSpPr/>
          <p:nvPr/>
        </p:nvSpPr>
        <p:spPr>
          <a:xfrm>
            <a:off x="822960" y="3703320"/>
            <a:ext cx="1828440" cy="529920"/>
          </a:xfrm>
          <a:prstGeom prst="roundRect">
            <a:avLst>
              <a:gd name="adj" fmla="val 8621"/>
            </a:avLst>
          </a:prstGeom>
          <a:solidFill>
            <a:srgbClr val="fff3c4"/>
          </a:solidFill>
          <a:ln w="10080">
            <a:solidFill>
              <a:srgbClr val="d8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24"/>
          <p:cNvSpPr/>
          <p:nvPr/>
        </p:nvSpPr>
        <p:spPr>
          <a:xfrm>
            <a:off x="3108960" y="3703320"/>
            <a:ext cx="1919880" cy="529920"/>
          </a:xfrm>
          <a:prstGeom prst="roundRect">
            <a:avLst>
              <a:gd name="adj" fmla="val 8621"/>
            </a:avLst>
          </a:prstGeom>
          <a:solidFill>
            <a:srgbClr val="fff3c4"/>
          </a:solidFill>
          <a:ln w="10080">
            <a:solidFill>
              <a:srgbClr val="d8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25"/>
          <p:cNvSpPr/>
          <p:nvPr/>
        </p:nvSpPr>
        <p:spPr>
          <a:xfrm>
            <a:off x="5394960" y="3703320"/>
            <a:ext cx="1919880" cy="529920"/>
          </a:xfrm>
          <a:prstGeom prst="roundRect">
            <a:avLst>
              <a:gd name="adj" fmla="val 8621"/>
            </a:avLst>
          </a:prstGeom>
          <a:solidFill>
            <a:srgbClr val="fff3c4"/>
          </a:solidFill>
          <a:ln w="10080">
            <a:solidFill>
              <a:srgbClr val="d8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Shape 26"/>
          <p:cNvSpPr/>
          <p:nvPr/>
        </p:nvSpPr>
        <p:spPr>
          <a:xfrm>
            <a:off x="7680960" y="3703320"/>
            <a:ext cx="1919880" cy="529920"/>
          </a:xfrm>
          <a:prstGeom prst="roundRect">
            <a:avLst>
              <a:gd name="adj" fmla="val 8621"/>
            </a:avLst>
          </a:prstGeom>
          <a:solidFill>
            <a:srgbClr val="fff3c4"/>
          </a:solidFill>
          <a:ln w="10080">
            <a:solidFill>
              <a:srgbClr val="d8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27"/>
          <p:cNvSpPr/>
          <p:nvPr/>
        </p:nvSpPr>
        <p:spPr>
          <a:xfrm>
            <a:off x="9966960" y="3703320"/>
            <a:ext cx="1919880" cy="529920"/>
          </a:xfrm>
          <a:prstGeom prst="roundRect">
            <a:avLst>
              <a:gd name="adj" fmla="val 8621"/>
            </a:avLst>
          </a:prstGeom>
          <a:solidFill>
            <a:srgbClr val="fff3c4"/>
          </a:solidFill>
          <a:ln w="10080">
            <a:solidFill>
              <a:srgbClr val="d8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28"/>
          <p:cNvSpPr/>
          <p:nvPr/>
        </p:nvSpPr>
        <p:spPr>
          <a:xfrm>
            <a:off x="822960" y="4480560"/>
            <a:ext cx="1828440" cy="529920"/>
          </a:xfrm>
          <a:prstGeom prst="roundRect">
            <a:avLst>
              <a:gd name="adj" fmla="val 8621"/>
            </a:avLst>
          </a:prstGeom>
          <a:solidFill>
            <a:srgbClr val="ffe6ee"/>
          </a:solidFill>
          <a:ln w="10080">
            <a:solidFill>
              <a:srgbClr val="d8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Shape 29"/>
          <p:cNvSpPr/>
          <p:nvPr/>
        </p:nvSpPr>
        <p:spPr>
          <a:xfrm>
            <a:off x="3108960" y="4480560"/>
            <a:ext cx="1919880" cy="529920"/>
          </a:xfrm>
          <a:prstGeom prst="roundRect">
            <a:avLst>
              <a:gd name="adj" fmla="val 8621"/>
            </a:avLst>
          </a:prstGeom>
          <a:solidFill>
            <a:srgbClr val="ffe6ee"/>
          </a:solidFill>
          <a:ln w="10080">
            <a:solidFill>
              <a:srgbClr val="d8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Shape 30"/>
          <p:cNvSpPr/>
          <p:nvPr/>
        </p:nvSpPr>
        <p:spPr>
          <a:xfrm>
            <a:off x="5394960" y="4480560"/>
            <a:ext cx="1919880" cy="529920"/>
          </a:xfrm>
          <a:prstGeom prst="roundRect">
            <a:avLst>
              <a:gd name="adj" fmla="val 8621"/>
            </a:avLst>
          </a:prstGeom>
          <a:solidFill>
            <a:srgbClr val="ffe6ee"/>
          </a:solidFill>
          <a:ln w="10080">
            <a:solidFill>
              <a:srgbClr val="d8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Shape 31"/>
          <p:cNvSpPr/>
          <p:nvPr/>
        </p:nvSpPr>
        <p:spPr>
          <a:xfrm>
            <a:off x="7680960" y="4480560"/>
            <a:ext cx="1919880" cy="529920"/>
          </a:xfrm>
          <a:prstGeom prst="roundRect">
            <a:avLst>
              <a:gd name="adj" fmla="val 8621"/>
            </a:avLst>
          </a:prstGeom>
          <a:solidFill>
            <a:srgbClr val="ffe6ee"/>
          </a:solidFill>
          <a:ln w="10080">
            <a:solidFill>
              <a:srgbClr val="d8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Shape 32"/>
          <p:cNvSpPr/>
          <p:nvPr/>
        </p:nvSpPr>
        <p:spPr>
          <a:xfrm>
            <a:off x="9966960" y="4480560"/>
            <a:ext cx="1919880" cy="529920"/>
          </a:xfrm>
          <a:prstGeom prst="roundRect">
            <a:avLst>
              <a:gd name="adj" fmla="val 8621"/>
            </a:avLst>
          </a:prstGeom>
          <a:solidFill>
            <a:srgbClr val="ffe6ee"/>
          </a:solidFill>
          <a:ln w="10080">
            <a:solidFill>
              <a:srgbClr val="d8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33"/>
          <p:cNvSpPr/>
          <p:nvPr/>
        </p:nvSpPr>
        <p:spPr>
          <a:xfrm>
            <a:off x="2011680" y="5440680"/>
            <a:ext cx="81378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ef476f"/>
                </a:solidFill>
                <a:effectLst/>
                <a:uFillTx/>
                <a:latin typeface="Aptos Display"/>
                <a:ea typeface="Aptos Display"/>
              </a:rPr>
              <a:t>Ask: “What do you like?” → “Why?” → Write one reason.</a:t>
            </a:r>
            <a:endParaRPr b="0" lang="en-US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34"/>
          <p:cNvSpPr/>
          <p:nvPr/>
        </p:nvSpPr>
        <p:spPr>
          <a:xfrm>
            <a:off x="502920" y="6583680"/>
            <a:ext cx="5668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Likes and Reasons · Day 4 · Speaking &amp; Listening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35"/>
          <p:cNvSpPr/>
          <p:nvPr/>
        </p:nvSpPr>
        <p:spPr>
          <a:xfrm>
            <a:off x="11585520" y="6583680"/>
            <a:ext cx="273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17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Shape 0"/>
          <p:cNvSpPr/>
          <p:nvPr/>
        </p:nvSpPr>
        <p:spPr>
          <a:xfrm>
            <a:off x="0" y="6546960"/>
            <a:ext cx="12191400" cy="360"/>
          </a:xfrm>
          <a:prstGeom prst="line">
            <a:avLst/>
          </a:prstGeom>
          <a:ln w="12600">
            <a:solidFill>
              <a:srgbClr val="bde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1"/>
          <p:cNvSpPr/>
          <p:nvPr/>
        </p:nvSpPr>
        <p:spPr>
          <a:xfrm>
            <a:off x="502920" y="329040"/>
            <a:ext cx="6217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Listening 2: The Favorite Club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2"/>
          <p:cNvSpPr/>
          <p:nvPr/>
        </p:nvSpPr>
        <p:spPr>
          <a:xfrm>
            <a:off x="539640" y="914400"/>
            <a:ext cx="7497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Students listen for personal information and reasons.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 3"/>
          <p:cNvSpPr/>
          <p:nvPr/>
        </p:nvSpPr>
        <p:spPr>
          <a:xfrm>
            <a:off x="777240" y="129852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Listen and write: name, like, reason, and same/different.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Shape 4"/>
          <p:cNvSpPr/>
          <p:nvPr/>
        </p:nvSpPr>
        <p:spPr>
          <a:xfrm>
            <a:off x="822960" y="1828800"/>
            <a:ext cx="1828440" cy="594000"/>
          </a:xfrm>
          <a:prstGeom prst="roundRect">
            <a:avLst>
              <a:gd name="adj" fmla="val 10769"/>
            </a:avLst>
          </a:prstGeom>
          <a:solidFill>
            <a:srgbClr val="173a52"/>
          </a:solidFill>
          <a:ln w="12600">
            <a:solidFill>
              <a:srgbClr val="173a5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5"/>
          <p:cNvSpPr/>
          <p:nvPr/>
        </p:nvSpPr>
        <p:spPr>
          <a:xfrm>
            <a:off x="822960" y="2030040"/>
            <a:ext cx="18284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Name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6"/>
          <p:cNvSpPr/>
          <p:nvPr/>
        </p:nvSpPr>
        <p:spPr>
          <a:xfrm>
            <a:off x="2743200" y="1828800"/>
            <a:ext cx="2285640" cy="594000"/>
          </a:xfrm>
          <a:prstGeom prst="roundRect">
            <a:avLst>
              <a:gd name="adj" fmla="val 10769"/>
            </a:avLst>
          </a:prstGeom>
          <a:solidFill>
            <a:srgbClr val="173a52"/>
          </a:solidFill>
          <a:ln w="12600">
            <a:solidFill>
              <a:srgbClr val="173a5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7"/>
          <p:cNvSpPr/>
          <p:nvPr/>
        </p:nvSpPr>
        <p:spPr>
          <a:xfrm>
            <a:off x="2743200" y="2030040"/>
            <a:ext cx="2285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Likes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Shape 8"/>
          <p:cNvSpPr/>
          <p:nvPr/>
        </p:nvSpPr>
        <p:spPr>
          <a:xfrm>
            <a:off x="5212080" y="1828800"/>
            <a:ext cx="2651400" cy="594000"/>
          </a:xfrm>
          <a:prstGeom prst="roundRect">
            <a:avLst>
              <a:gd name="adj" fmla="val 10769"/>
            </a:avLst>
          </a:prstGeom>
          <a:solidFill>
            <a:srgbClr val="173a52"/>
          </a:solidFill>
          <a:ln w="12600">
            <a:solidFill>
              <a:srgbClr val="173a5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9"/>
          <p:cNvSpPr/>
          <p:nvPr/>
        </p:nvSpPr>
        <p:spPr>
          <a:xfrm>
            <a:off x="5212080" y="2030040"/>
            <a:ext cx="26514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Reason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Shape 10"/>
          <p:cNvSpPr/>
          <p:nvPr/>
        </p:nvSpPr>
        <p:spPr>
          <a:xfrm>
            <a:off x="8138160" y="1828800"/>
            <a:ext cx="2834280" cy="594000"/>
          </a:xfrm>
          <a:prstGeom prst="roundRect">
            <a:avLst>
              <a:gd name="adj" fmla="val 10769"/>
            </a:avLst>
          </a:prstGeom>
          <a:solidFill>
            <a:srgbClr val="173a52"/>
          </a:solidFill>
          <a:ln w="12600">
            <a:solidFill>
              <a:srgbClr val="173a5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11"/>
          <p:cNvSpPr/>
          <p:nvPr/>
        </p:nvSpPr>
        <p:spPr>
          <a:xfrm>
            <a:off x="8138160" y="2030040"/>
            <a:ext cx="28342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Same or different?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Shape 12"/>
          <p:cNvSpPr/>
          <p:nvPr/>
        </p:nvSpPr>
        <p:spPr>
          <a:xfrm>
            <a:off x="822960" y="2587680"/>
            <a:ext cx="1828440" cy="529920"/>
          </a:xfrm>
          <a:prstGeom prst="roundRect">
            <a:avLst>
              <a:gd name="adj" fmla="val 8621"/>
            </a:avLst>
          </a:prstGeom>
          <a:solidFill>
            <a:srgbClr val="ddf3ff"/>
          </a:solidFill>
          <a:ln w="10080">
            <a:solidFill>
              <a:srgbClr val="d8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Shape 13"/>
          <p:cNvSpPr/>
          <p:nvPr/>
        </p:nvSpPr>
        <p:spPr>
          <a:xfrm>
            <a:off x="2743200" y="2587680"/>
            <a:ext cx="2285640" cy="529920"/>
          </a:xfrm>
          <a:prstGeom prst="roundRect">
            <a:avLst>
              <a:gd name="adj" fmla="val 8621"/>
            </a:avLst>
          </a:prstGeom>
          <a:solidFill>
            <a:srgbClr val="ddf3ff"/>
          </a:solidFill>
          <a:ln w="10080">
            <a:solidFill>
              <a:srgbClr val="d8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Shape 14"/>
          <p:cNvSpPr/>
          <p:nvPr/>
        </p:nvSpPr>
        <p:spPr>
          <a:xfrm>
            <a:off x="5212080" y="2587680"/>
            <a:ext cx="2651400" cy="529920"/>
          </a:xfrm>
          <a:prstGeom prst="roundRect">
            <a:avLst>
              <a:gd name="adj" fmla="val 8621"/>
            </a:avLst>
          </a:prstGeom>
          <a:solidFill>
            <a:srgbClr val="ddf3ff"/>
          </a:solidFill>
          <a:ln w="10080">
            <a:solidFill>
              <a:srgbClr val="d8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Shape 15"/>
          <p:cNvSpPr/>
          <p:nvPr/>
        </p:nvSpPr>
        <p:spPr>
          <a:xfrm>
            <a:off x="8138160" y="2587680"/>
            <a:ext cx="2834280" cy="529920"/>
          </a:xfrm>
          <a:prstGeom prst="roundRect">
            <a:avLst>
              <a:gd name="adj" fmla="val 8621"/>
            </a:avLst>
          </a:prstGeom>
          <a:solidFill>
            <a:srgbClr val="ddf3ff"/>
          </a:solidFill>
          <a:ln w="10080">
            <a:solidFill>
              <a:srgbClr val="d8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16"/>
          <p:cNvSpPr/>
          <p:nvPr/>
        </p:nvSpPr>
        <p:spPr>
          <a:xfrm>
            <a:off x="822960" y="3364920"/>
            <a:ext cx="1828440" cy="529920"/>
          </a:xfrm>
          <a:prstGeom prst="roundRect">
            <a:avLst>
              <a:gd name="adj" fmla="val 8621"/>
            </a:avLst>
          </a:prstGeom>
          <a:solidFill>
            <a:srgbClr val="dff7ef"/>
          </a:solidFill>
          <a:ln w="10080">
            <a:solidFill>
              <a:srgbClr val="d8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Shape 17"/>
          <p:cNvSpPr/>
          <p:nvPr/>
        </p:nvSpPr>
        <p:spPr>
          <a:xfrm>
            <a:off x="2743200" y="3364920"/>
            <a:ext cx="2285640" cy="529920"/>
          </a:xfrm>
          <a:prstGeom prst="roundRect">
            <a:avLst>
              <a:gd name="adj" fmla="val 8621"/>
            </a:avLst>
          </a:prstGeom>
          <a:solidFill>
            <a:srgbClr val="dff7ef"/>
          </a:solidFill>
          <a:ln w="10080">
            <a:solidFill>
              <a:srgbClr val="d8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Shape 18"/>
          <p:cNvSpPr/>
          <p:nvPr/>
        </p:nvSpPr>
        <p:spPr>
          <a:xfrm>
            <a:off x="5212080" y="3364920"/>
            <a:ext cx="2651400" cy="529920"/>
          </a:xfrm>
          <a:prstGeom prst="roundRect">
            <a:avLst>
              <a:gd name="adj" fmla="val 8621"/>
            </a:avLst>
          </a:prstGeom>
          <a:solidFill>
            <a:srgbClr val="dff7ef"/>
          </a:solidFill>
          <a:ln w="10080">
            <a:solidFill>
              <a:srgbClr val="d8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19"/>
          <p:cNvSpPr/>
          <p:nvPr/>
        </p:nvSpPr>
        <p:spPr>
          <a:xfrm>
            <a:off x="8138160" y="3364920"/>
            <a:ext cx="2834280" cy="529920"/>
          </a:xfrm>
          <a:prstGeom prst="roundRect">
            <a:avLst>
              <a:gd name="adj" fmla="val 8621"/>
            </a:avLst>
          </a:prstGeom>
          <a:solidFill>
            <a:srgbClr val="dff7ef"/>
          </a:solidFill>
          <a:ln w="10080">
            <a:solidFill>
              <a:srgbClr val="d8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20"/>
          <p:cNvSpPr/>
          <p:nvPr/>
        </p:nvSpPr>
        <p:spPr>
          <a:xfrm>
            <a:off x="822960" y="4142160"/>
            <a:ext cx="1828440" cy="529920"/>
          </a:xfrm>
          <a:prstGeom prst="roundRect">
            <a:avLst>
              <a:gd name="adj" fmla="val 8621"/>
            </a:avLst>
          </a:prstGeom>
          <a:solidFill>
            <a:srgbClr val="fff3c4"/>
          </a:solidFill>
          <a:ln w="10080">
            <a:solidFill>
              <a:srgbClr val="d8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Shape 21"/>
          <p:cNvSpPr/>
          <p:nvPr/>
        </p:nvSpPr>
        <p:spPr>
          <a:xfrm>
            <a:off x="2743200" y="4142160"/>
            <a:ext cx="2285640" cy="529920"/>
          </a:xfrm>
          <a:prstGeom prst="roundRect">
            <a:avLst>
              <a:gd name="adj" fmla="val 8621"/>
            </a:avLst>
          </a:prstGeom>
          <a:solidFill>
            <a:srgbClr val="fff3c4"/>
          </a:solidFill>
          <a:ln w="10080">
            <a:solidFill>
              <a:srgbClr val="d8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Shape 22"/>
          <p:cNvSpPr/>
          <p:nvPr/>
        </p:nvSpPr>
        <p:spPr>
          <a:xfrm>
            <a:off x="5212080" y="4142160"/>
            <a:ext cx="2651400" cy="529920"/>
          </a:xfrm>
          <a:prstGeom prst="roundRect">
            <a:avLst>
              <a:gd name="adj" fmla="val 8621"/>
            </a:avLst>
          </a:prstGeom>
          <a:solidFill>
            <a:srgbClr val="fff3c4"/>
          </a:solidFill>
          <a:ln w="10080">
            <a:solidFill>
              <a:srgbClr val="d8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Shape 23"/>
          <p:cNvSpPr/>
          <p:nvPr/>
        </p:nvSpPr>
        <p:spPr>
          <a:xfrm>
            <a:off x="8138160" y="4142160"/>
            <a:ext cx="2834280" cy="529920"/>
          </a:xfrm>
          <a:prstGeom prst="roundRect">
            <a:avLst>
              <a:gd name="adj" fmla="val 8621"/>
            </a:avLst>
          </a:prstGeom>
          <a:solidFill>
            <a:srgbClr val="fff3c4"/>
          </a:solidFill>
          <a:ln w="10080">
            <a:solidFill>
              <a:srgbClr val="d8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24"/>
          <p:cNvSpPr/>
          <p:nvPr/>
        </p:nvSpPr>
        <p:spPr>
          <a:xfrm>
            <a:off x="2194560" y="5440680"/>
            <a:ext cx="7680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Share answers with your partner before teacher feedback.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25"/>
          <p:cNvSpPr/>
          <p:nvPr/>
        </p:nvSpPr>
        <p:spPr>
          <a:xfrm>
            <a:off x="502920" y="6583680"/>
            <a:ext cx="5668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Likes and Reasons · Day 4 · Speaking &amp; Listening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 26"/>
          <p:cNvSpPr/>
          <p:nvPr/>
        </p:nvSpPr>
        <p:spPr>
          <a:xfrm>
            <a:off x="11585520" y="6583680"/>
            <a:ext cx="273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18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Shape 0"/>
          <p:cNvSpPr/>
          <p:nvPr/>
        </p:nvSpPr>
        <p:spPr>
          <a:xfrm>
            <a:off x="0" y="6546960"/>
            <a:ext cx="12191400" cy="360"/>
          </a:xfrm>
          <a:prstGeom prst="line">
            <a:avLst/>
          </a:prstGeom>
          <a:ln w="12600">
            <a:solidFill>
              <a:srgbClr val="bde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1"/>
          <p:cNvSpPr/>
          <p:nvPr/>
        </p:nvSpPr>
        <p:spPr>
          <a:xfrm>
            <a:off x="502920" y="329040"/>
            <a:ext cx="6217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What Do They Like?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2"/>
          <p:cNvSpPr/>
          <p:nvPr/>
        </p:nvSpPr>
        <p:spPr>
          <a:xfrm>
            <a:off x="539640" y="914400"/>
            <a:ext cx="7497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Look at the picture. Choose a reason.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Shape 3"/>
          <p:cNvSpPr/>
          <p:nvPr/>
        </p:nvSpPr>
        <p:spPr>
          <a:xfrm>
            <a:off x="640080" y="1234440"/>
            <a:ext cx="5577480" cy="4114440"/>
          </a:xfrm>
          <a:prstGeom prst="roundRect">
            <a:avLst>
              <a:gd name="adj" fmla="val 3778"/>
            </a:avLst>
          </a:prstGeom>
          <a:solidFill>
            <a:srgbClr val="ffffff"/>
          </a:solidFill>
          <a:ln w="12600">
            <a:solidFill>
              <a:srgbClr val="cbe9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2" name="Image 0" descr="/mnt/data/a_colorful_cartoon_illustration_of_a_classroom_sce_batch_3.png"/>
          <p:cNvPicPr/>
          <p:nvPr/>
        </p:nvPicPr>
        <p:blipFill>
          <a:blip r:embed="rId1"/>
          <a:srcRect l="0" t="1110" r="0" b="1110"/>
          <a:stretch/>
        </p:blipFill>
        <p:spPr>
          <a:xfrm>
            <a:off x="685800" y="1280160"/>
            <a:ext cx="5486040" cy="402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3" name="Text 4"/>
          <p:cNvSpPr/>
          <p:nvPr/>
        </p:nvSpPr>
        <p:spPr>
          <a:xfrm>
            <a:off x="685800" y="5376600"/>
            <a:ext cx="5486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New picture prompt: students share favorites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5"/>
          <p:cNvSpPr/>
          <p:nvPr/>
        </p:nvSpPr>
        <p:spPr>
          <a:xfrm>
            <a:off x="6629400" y="1417320"/>
            <a:ext cx="4388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Choose one sentence: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6"/>
          <p:cNvSpPr/>
          <p:nvPr/>
        </p:nvSpPr>
        <p:spPr>
          <a:xfrm>
            <a:off x="6629400" y="1965960"/>
            <a:ext cx="4617360" cy="566640"/>
          </a:xfrm>
          <a:prstGeom prst="roundRect">
            <a:avLst>
              <a:gd name="adj" fmla="val 22581"/>
            </a:avLst>
          </a:prstGeom>
          <a:solidFill>
            <a:srgbClr val="ddf3ff"/>
          </a:solidFill>
          <a:ln w="1512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7"/>
          <p:cNvSpPr/>
          <p:nvPr/>
        </p:nvSpPr>
        <p:spPr>
          <a:xfrm>
            <a:off x="6858000" y="216720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🎮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8"/>
          <p:cNvSpPr/>
          <p:nvPr/>
        </p:nvSpPr>
        <p:spPr>
          <a:xfrm>
            <a:off x="7379280" y="222192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She likes games because they are fun.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9"/>
          <p:cNvSpPr/>
          <p:nvPr/>
        </p:nvSpPr>
        <p:spPr>
          <a:xfrm>
            <a:off x="6885360" y="2359080"/>
            <a:ext cx="410544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endParaRPr b="0" lang="en-US" sz="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9" name="Shape 10"/>
          <p:cNvSpPr/>
          <p:nvPr/>
        </p:nvSpPr>
        <p:spPr>
          <a:xfrm>
            <a:off x="6629400" y="2743200"/>
            <a:ext cx="4617360" cy="566640"/>
          </a:xfrm>
          <a:prstGeom prst="roundRect">
            <a:avLst>
              <a:gd name="adj" fmla="val 22581"/>
            </a:avLst>
          </a:prstGeom>
          <a:solidFill>
            <a:srgbClr val="dff7ef"/>
          </a:solidFill>
          <a:ln w="1512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11"/>
          <p:cNvSpPr/>
          <p:nvPr/>
        </p:nvSpPr>
        <p:spPr>
          <a:xfrm>
            <a:off x="6858000" y="294444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🎵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12"/>
          <p:cNvSpPr/>
          <p:nvPr/>
        </p:nvSpPr>
        <p:spPr>
          <a:xfrm>
            <a:off x="7379280" y="299916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He likes music because it is cool.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Text 13"/>
          <p:cNvSpPr/>
          <p:nvPr/>
        </p:nvSpPr>
        <p:spPr>
          <a:xfrm>
            <a:off x="6885360" y="3136320"/>
            <a:ext cx="410544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endParaRPr b="0" lang="en-US" sz="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3" name="Shape 14"/>
          <p:cNvSpPr/>
          <p:nvPr/>
        </p:nvSpPr>
        <p:spPr>
          <a:xfrm>
            <a:off x="6629400" y="3520440"/>
            <a:ext cx="4617360" cy="566640"/>
          </a:xfrm>
          <a:prstGeom prst="roundRect">
            <a:avLst>
              <a:gd name="adj" fmla="val 22581"/>
            </a:avLst>
          </a:prstGeom>
          <a:solidFill>
            <a:srgbClr val="fff3c4"/>
          </a:solidFill>
          <a:ln w="15120">
            <a:solidFill>
              <a:srgbClr val="ffb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15"/>
          <p:cNvSpPr/>
          <p:nvPr/>
        </p:nvSpPr>
        <p:spPr>
          <a:xfrm>
            <a:off x="6858000" y="372168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📚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16"/>
          <p:cNvSpPr/>
          <p:nvPr/>
        </p:nvSpPr>
        <p:spPr>
          <a:xfrm>
            <a:off x="7379280" y="377640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She likes books because they are interesting.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 17"/>
          <p:cNvSpPr/>
          <p:nvPr/>
        </p:nvSpPr>
        <p:spPr>
          <a:xfrm>
            <a:off x="6885360" y="3913560"/>
            <a:ext cx="410544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endParaRPr b="0" lang="en-US" sz="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7" name="Shape 18"/>
          <p:cNvSpPr/>
          <p:nvPr/>
        </p:nvSpPr>
        <p:spPr>
          <a:xfrm>
            <a:off x="6629400" y="4297680"/>
            <a:ext cx="4617360" cy="566640"/>
          </a:xfrm>
          <a:prstGeom prst="roundRect">
            <a:avLst>
              <a:gd name="adj" fmla="val 22581"/>
            </a:avLst>
          </a:prstGeom>
          <a:solidFill>
            <a:srgbClr val="ffe6ee"/>
          </a:solidFill>
          <a:ln w="15120">
            <a:solidFill>
              <a:srgbClr val="ef47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19"/>
          <p:cNvSpPr/>
          <p:nvPr/>
        </p:nvSpPr>
        <p:spPr>
          <a:xfrm>
            <a:off x="6858000" y="449892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⚽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20"/>
          <p:cNvSpPr/>
          <p:nvPr/>
        </p:nvSpPr>
        <p:spPr>
          <a:xfrm>
            <a:off x="7379280" y="455364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He likes sports because they are exciting.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 21"/>
          <p:cNvSpPr/>
          <p:nvPr/>
        </p:nvSpPr>
        <p:spPr>
          <a:xfrm>
            <a:off x="6885360" y="4690800"/>
            <a:ext cx="4105440" cy="39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endParaRPr b="0" lang="en-US" sz="1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21" name="Text 22"/>
          <p:cNvSpPr/>
          <p:nvPr/>
        </p:nvSpPr>
        <p:spPr>
          <a:xfrm>
            <a:off x="6629400" y="5321880"/>
            <a:ext cx="4617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trike="noStrike" u="none">
                <a:solidFill>
                  <a:srgbClr val="ef476f"/>
                </a:solidFill>
                <a:effectLst/>
                <a:uFillTx/>
                <a:latin typeface="Aptos Display"/>
                <a:ea typeface="Aptos Display"/>
              </a:rPr>
              <a:t>Pair talk: “I think she likes… because…”</a:t>
            </a:r>
            <a:endParaRPr b="0" lang="en-US" sz="14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23"/>
          <p:cNvSpPr/>
          <p:nvPr/>
        </p:nvSpPr>
        <p:spPr>
          <a:xfrm>
            <a:off x="502920" y="6583680"/>
            <a:ext cx="5668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Likes and Reasons · Day 4 · Speaking &amp; Listening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24"/>
          <p:cNvSpPr/>
          <p:nvPr/>
        </p:nvSpPr>
        <p:spPr>
          <a:xfrm>
            <a:off x="11585520" y="6583680"/>
            <a:ext cx="273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19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Shape 0"/>
          <p:cNvSpPr/>
          <p:nvPr/>
        </p:nvSpPr>
        <p:spPr>
          <a:xfrm>
            <a:off x="0" y="6546960"/>
            <a:ext cx="12191400" cy="360"/>
          </a:xfrm>
          <a:prstGeom prst="line">
            <a:avLst/>
          </a:prstGeom>
          <a:ln w="12600">
            <a:solidFill>
              <a:srgbClr val="bde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1"/>
          <p:cNvSpPr/>
          <p:nvPr/>
        </p:nvSpPr>
        <p:spPr>
          <a:xfrm>
            <a:off x="502920" y="329040"/>
            <a:ext cx="6217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Team Challenge: Reason Race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2"/>
          <p:cNvSpPr/>
          <p:nvPr/>
        </p:nvSpPr>
        <p:spPr>
          <a:xfrm>
            <a:off x="539640" y="914400"/>
            <a:ext cx="7497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A fast review game before the final speaking task.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Shape 3"/>
          <p:cNvSpPr/>
          <p:nvPr/>
        </p:nvSpPr>
        <p:spPr>
          <a:xfrm>
            <a:off x="868680" y="1691640"/>
            <a:ext cx="3245760" cy="2834280"/>
          </a:xfrm>
          <a:prstGeom prst="roundRect">
            <a:avLst>
              <a:gd name="adj" fmla="val 4516"/>
            </a:avLst>
          </a:prstGeom>
          <a:solidFill>
            <a:srgbClr val="ddf3ff"/>
          </a:solidFill>
          <a:ln w="1512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 4"/>
          <p:cNvSpPr/>
          <p:nvPr/>
        </p:nvSpPr>
        <p:spPr>
          <a:xfrm>
            <a:off x="1097280" y="189288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🎭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5"/>
          <p:cNvSpPr/>
          <p:nvPr/>
        </p:nvSpPr>
        <p:spPr>
          <a:xfrm>
            <a:off x="1618560" y="194760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Round 1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 6"/>
          <p:cNvSpPr/>
          <p:nvPr/>
        </p:nvSpPr>
        <p:spPr>
          <a:xfrm>
            <a:off x="1124640" y="2477880"/>
            <a:ext cx="2733840" cy="187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Teacher shows a card. Team says: I like… because…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Shape 7"/>
          <p:cNvSpPr/>
          <p:nvPr/>
        </p:nvSpPr>
        <p:spPr>
          <a:xfrm>
            <a:off x="4617720" y="1691640"/>
            <a:ext cx="3245760" cy="2834280"/>
          </a:xfrm>
          <a:prstGeom prst="roundRect">
            <a:avLst>
              <a:gd name="adj" fmla="val 4516"/>
            </a:avLst>
          </a:prstGeom>
          <a:solidFill>
            <a:srgbClr val="dff7ef"/>
          </a:solidFill>
          <a:ln w="1512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8"/>
          <p:cNvSpPr/>
          <p:nvPr/>
        </p:nvSpPr>
        <p:spPr>
          <a:xfrm>
            <a:off x="4846320" y="189288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👂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9"/>
          <p:cNvSpPr/>
          <p:nvPr/>
        </p:nvSpPr>
        <p:spPr>
          <a:xfrm>
            <a:off x="5367600" y="194760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Round 2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 10"/>
          <p:cNvSpPr/>
          <p:nvPr/>
        </p:nvSpPr>
        <p:spPr>
          <a:xfrm>
            <a:off x="4873680" y="2477880"/>
            <a:ext cx="2733840" cy="187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Teacher says a reason. Team guesses the thing.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Shape 11"/>
          <p:cNvSpPr/>
          <p:nvPr/>
        </p:nvSpPr>
        <p:spPr>
          <a:xfrm>
            <a:off x="8366760" y="1691640"/>
            <a:ext cx="3245760" cy="2834280"/>
          </a:xfrm>
          <a:prstGeom prst="roundRect">
            <a:avLst>
              <a:gd name="adj" fmla="val 4516"/>
            </a:avLst>
          </a:prstGeom>
          <a:solidFill>
            <a:srgbClr val="fff3c4"/>
          </a:solidFill>
          <a:ln w="15120">
            <a:solidFill>
              <a:srgbClr val="ffb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 12"/>
          <p:cNvSpPr/>
          <p:nvPr/>
        </p:nvSpPr>
        <p:spPr>
          <a:xfrm>
            <a:off x="8595360" y="189288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💬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13"/>
          <p:cNvSpPr/>
          <p:nvPr/>
        </p:nvSpPr>
        <p:spPr>
          <a:xfrm>
            <a:off x="9116640" y="194760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Round 3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 14"/>
          <p:cNvSpPr/>
          <p:nvPr/>
        </p:nvSpPr>
        <p:spPr>
          <a:xfrm>
            <a:off x="8622720" y="2477880"/>
            <a:ext cx="2733840" cy="187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One student asks Why? Another gives a reason.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15"/>
          <p:cNvSpPr/>
          <p:nvPr/>
        </p:nvSpPr>
        <p:spPr>
          <a:xfrm>
            <a:off x="960120" y="5303520"/>
            <a:ext cx="10332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trike="noStrike" u="none">
                <a:solidFill>
                  <a:srgbClr val="ef476f"/>
                </a:solidFill>
                <a:effectLst/>
                <a:uFillTx/>
                <a:latin typeface="Aptos Display"/>
                <a:ea typeface="Aptos Display"/>
              </a:rPr>
              <a:t>Scoring: 1 point for clear English · 1 point for a reason · 1 point for teamwork</a:t>
            </a:r>
            <a:endParaRPr b="0" lang="en-US" sz="15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 16"/>
          <p:cNvSpPr/>
          <p:nvPr/>
        </p:nvSpPr>
        <p:spPr>
          <a:xfrm>
            <a:off x="502920" y="6583680"/>
            <a:ext cx="5668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Likes and Reasons · Day 4 · Speaking &amp; Listening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 17"/>
          <p:cNvSpPr/>
          <p:nvPr/>
        </p:nvSpPr>
        <p:spPr>
          <a:xfrm>
            <a:off x="11585520" y="6583680"/>
            <a:ext cx="273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20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Shape 0"/>
          <p:cNvSpPr/>
          <p:nvPr/>
        </p:nvSpPr>
        <p:spPr>
          <a:xfrm>
            <a:off x="0" y="6546960"/>
            <a:ext cx="12191400" cy="360"/>
          </a:xfrm>
          <a:prstGeom prst="line">
            <a:avLst/>
          </a:prstGeom>
          <a:ln w="12600">
            <a:solidFill>
              <a:srgbClr val="bde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 1"/>
          <p:cNvSpPr/>
          <p:nvPr/>
        </p:nvSpPr>
        <p:spPr>
          <a:xfrm>
            <a:off x="502920" y="329040"/>
            <a:ext cx="6217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Mini Presentation: My Favorite Thing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Text 2"/>
          <p:cNvSpPr/>
          <p:nvPr/>
        </p:nvSpPr>
        <p:spPr>
          <a:xfrm>
            <a:off x="539640" y="914400"/>
            <a:ext cx="7497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Students speak for 20–30 seconds.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Shape 3"/>
          <p:cNvSpPr/>
          <p:nvPr/>
        </p:nvSpPr>
        <p:spPr>
          <a:xfrm>
            <a:off x="914400" y="1463040"/>
            <a:ext cx="10332360" cy="21027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600">
            <a:solidFill>
              <a:srgbClr val="cbe9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 4"/>
          <p:cNvSpPr/>
          <p:nvPr/>
        </p:nvSpPr>
        <p:spPr>
          <a:xfrm>
            <a:off x="1234440" y="1783080"/>
            <a:ext cx="96008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Hello. My name is ____.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I like ____ because it is ____.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My friend ____ likes ____ because it is ____.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Thank you.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Shape 5"/>
          <p:cNvSpPr/>
          <p:nvPr/>
        </p:nvSpPr>
        <p:spPr>
          <a:xfrm>
            <a:off x="960120" y="4069080"/>
            <a:ext cx="1691280" cy="1188360"/>
          </a:xfrm>
          <a:prstGeom prst="roundRect">
            <a:avLst>
              <a:gd name="adj" fmla="val 7692"/>
            </a:avLst>
          </a:prstGeom>
          <a:solidFill>
            <a:srgbClr val="ddf3ff"/>
          </a:solidFill>
          <a:ln w="1260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Text 6"/>
          <p:cNvSpPr/>
          <p:nvPr/>
        </p:nvSpPr>
        <p:spPr>
          <a:xfrm>
            <a:off x="960120" y="4178880"/>
            <a:ext cx="1691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73a52"/>
                </a:solidFill>
                <a:effectLst/>
                <a:uFillTx/>
                <a:latin typeface="Aptos"/>
                <a:ea typeface="Aptos"/>
              </a:rPr>
              <a:t>👀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 7"/>
          <p:cNvSpPr/>
          <p:nvPr/>
        </p:nvSpPr>
        <p:spPr>
          <a:xfrm>
            <a:off x="1069920" y="4434840"/>
            <a:ext cx="1471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Look up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 8"/>
          <p:cNvSpPr/>
          <p:nvPr/>
        </p:nvSpPr>
        <p:spPr>
          <a:xfrm>
            <a:off x="1097280" y="4928760"/>
            <a:ext cx="1416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Audience listens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Shape 9"/>
          <p:cNvSpPr/>
          <p:nvPr/>
        </p:nvSpPr>
        <p:spPr>
          <a:xfrm>
            <a:off x="3108960" y="4069080"/>
            <a:ext cx="1691280" cy="1188360"/>
          </a:xfrm>
          <a:prstGeom prst="roundRect">
            <a:avLst>
              <a:gd name="adj" fmla="val 7692"/>
            </a:avLst>
          </a:prstGeom>
          <a:solidFill>
            <a:srgbClr val="dff7ef"/>
          </a:solidFill>
          <a:ln w="1260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Text 10"/>
          <p:cNvSpPr/>
          <p:nvPr/>
        </p:nvSpPr>
        <p:spPr>
          <a:xfrm>
            <a:off x="3108960" y="4178880"/>
            <a:ext cx="1691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73a52"/>
                </a:solidFill>
                <a:effectLst/>
                <a:uFillTx/>
                <a:latin typeface="Aptos"/>
                <a:ea typeface="Aptos"/>
              </a:rPr>
              <a:t>🗣️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Text 11"/>
          <p:cNvSpPr/>
          <p:nvPr/>
        </p:nvSpPr>
        <p:spPr>
          <a:xfrm>
            <a:off x="3218760" y="4434840"/>
            <a:ext cx="1471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Speak clearly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 12"/>
          <p:cNvSpPr/>
          <p:nvPr/>
        </p:nvSpPr>
        <p:spPr>
          <a:xfrm>
            <a:off x="3246120" y="4928760"/>
            <a:ext cx="1416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Audience listens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Shape 13"/>
          <p:cNvSpPr/>
          <p:nvPr/>
        </p:nvSpPr>
        <p:spPr>
          <a:xfrm>
            <a:off x="5257800" y="4069080"/>
            <a:ext cx="1691280" cy="1188360"/>
          </a:xfrm>
          <a:prstGeom prst="roundRect">
            <a:avLst>
              <a:gd name="adj" fmla="val 7692"/>
            </a:avLst>
          </a:prstGeom>
          <a:solidFill>
            <a:srgbClr val="fff3c4"/>
          </a:solidFill>
          <a:ln w="12600">
            <a:solidFill>
              <a:srgbClr val="ffb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 14"/>
          <p:cNvSpPr/>
          <p:nvPr/>
        </p:nvSpPr>
        <p:spPr>
          <a:xfrm>
            <a:off x="5257800" y="4178880"/>
            <a:ext cx="1691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73a52"/>
                </a:solidFill>
                <a:effectLst/>
                <a:uFillTx/>
                <a:latin typeface="Aptos"/>
                <a:ea typeface="Aptos"/>
              </a:rPr>
              <a:t>💡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15"/>
          <p:cNvSpPr/>
          <p:nvPr/>
        </p:nvSpPr>
        <p:spPr>
          <a:xfrm>
            <a:off x="5367600" y="4434840"/>
            <a:ext cx="1471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Use because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16"/>
          <p:cNvSpPr/>
          <p:nvPr/>
        </p:nvSpPr>
        <p:spPr>
          <a:xfrm>
            <a:off x="5394960" y="4928760"/>
            <a:ext cx="1416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Audience listens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Shape 17"/>
          <p:cNvSpPr/>
          <p:nvPr/>
        </p:nvSpPr>
        <p:spPr>
          <a:xfrm>
            <a:off x="7406640" y="4069080"/>
            <a:ext cx="1691280" cy="1188360"/>
          </a:xfrm>
          <a:prstGeom prst="roundRect">
            <a:avLst>
              <a:gd name="adj" fmla="val 7692"/>
            </a:avLst>
          </a:prstGeom>
          <a:solidFill>
            <a:srgbClr val="ffe6ee"/>
          </a:solidFill>
          <a:ln w="12600">
            <a:solidFill>
              <a:srgbClr val="ef47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Text 18"/>
          <p:cNvSpPr/>
          <p:nvPr/>
        </p:nvSpPr>
        <p:spPr>
          <a:xfrm>
            <a:off x="7406640" y="4178880"/>
            <a:ext cx="1691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73a52"/>
                </a:solidFill>
                <a:effectLst/>
                <a:uFillTx/>
                <a:latin typeface="Aptos"/>
                <a:ea typeface="Aptos"/>
              </a:rPr>
              <a:t>😊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 19"/>
          <p:cNvSpPr/>
          <p:nvPr/>
        </p:nvSpPr>
        <p:spPr>
          <a:xfrm>
            <a:off x="7516440" y="4434840"/>
            <a:ext cx="1471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Smile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 20"/>
          <p:cNvSpPr/>
          <p:nvPr/>
        </p:nvSpPr>
        <p:spPr>
          <a:xfrm>
            <a:off x="7543800" y="4928760"/>
            <a:ext cx="1416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Audience listens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Shape 21"/>
          <p:cNvSpPr/>
          <p:nvPr/>
        </p:nvSpPr>
        <p:spPr>
          <a:xfrm>
            <a:off x="9555480" y="4069080"/>
            <a:ext cx="1691280" cy="1188360"/>
          </a:xfrm>
          <a:prstGeom prst="roundRect">
            <a:avLst>
              <a:gd name="adj" fmla="val 7692"/>
            </a:avLst>
          </a:prstGeom>
          <a:solidFill>
            <a:srgbClr val="efe7ff"/>
          </a:solidFill>
          <a:ln w="1260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 22"/>
          <p:cNvSpPr/>
          <p:nvPr/>
        </p:nvSpPr>
        <p:spPr>
          <a:xfrm>
            <a:off x="9555480" y="4178880"/>
            <a:ext cx="1691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trike="noStrike" u="none">
                <a:solidFill>
                  <a:srgbClr val="173a52"/>
                </a:solidFill>
                <a:effectLst/>
                <a:uFillTx/>
                <a:latin typeface="Aptos"/>
                <a:ea typeface="Aptos"/>
              </a:rPr>
              <a:t>🙏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 23"/>
          <p:cNvSpPr/>
          <p:nvPr/>
        </p:nvSpPr>
        <p:spPr>
          <a:xfrm>
            <a:off x="9665280" y="4434840"/>
            <a:ext cx="14716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Say thank you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Text 24"/>
          <p:cNvSpPr/>
          <p:nvPr/>
        </p:nvSpPr>
        <p:spPr>
          <a:xfrm>
            <a:off x="9692640" y="4928760"/>
            <a:ext cx="141696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Audience listens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 25"/>
          <p:cNvSpPr/>
          <p:nvPr/>
        </p:nvSpPr>
        <p:spPr>
          <a:xfrm>
            <a:off x="502920" y="6583680"/>
            <a:ext cx="5668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Likes and Reasons · Day 4 · Speaking &amp; Listening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 26"/>
          <p:cNvSpPr/>
          <p:nvPr/>
        </p:nvSpPr>
        <p:spPr>
          <a:xfrm>
            <a:off x="11585520" y="6583680"/>
            <a:ext cx="273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21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Shape 0"/>
          <p:cNvSpPr/>
          <p:nvPr/>
        </p:nvSpPr>
        <p:spPr>
          <a:xfrm>
            <a:off x="0" y="6546960"/>
            <a:ext cx="12191400" cy="360"/>
          </a:xfrm>
          <a:prstGeom prst="line">
            <a:avLst/>
          </a:prstGeom>
          <a:ln w="12600">
            <a:solidFill>
              <a:srgbClr val="bde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 1"/>
          <p:cNvSpPr/>
          <p:nvPr/>
        </p:nvSpPr>
        <p:spPr>
          <a:xfrm>
            <a:off x="502920" y="329040"/>
            <a:ext cx="6217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Our Speaking Class Rules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 2"/>
          <p:cNvSpPr/>
          <p:nvPr/>
        </p:nvSpPr>
        <p:spPr>
          <a:xfrm>
            <a:off x="539640" y="914400"/>
            <a:ext cx="7497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Create a safe classroom when sharing opinions.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Shape 3"/>
          <p:cNvSpPr/>
          <p:nvPr/>
        </p:nvSpPr>
        <p:spPr>
          <a:xfrm>
            <a:off x="822960" y="1508760"/>
            <a:ext cx="4800240" cy="1508400"/>
          </a:xfrm>
          <a:prstGeom prst="roundRect">
            <a:avLst>
              <a:gd name="adj" fmla="val 8485"/>
            </a:avLst>
          </a:prstGeom>
          <a:solidFill>
            <a:srgbClr val="ddf3ff"/>
          </a:solidFill>
          <a:ln w="1512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 4"/>
          <p:cNvSpPr/>
          <p:nvPr/>
        </p:nvSpPr>
        <p:spPr>
          <a:xfrm>
            <a:off x="1051560" y="171000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🌱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 5"/>
          <p:cNvSpPr/>
          <p:nvPr/>
        </p:nvSpPr>
        <p:spPr>
          <a:xfrm>
            <a:off x="1572840" y="176472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Use English first.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6"/>
          <p:cNvSpPr/>
          <p:nvPr/>
        </p:nvSpPr>
        <p:spPr>
          <a:xfrm>
            <a:off x="1078920" y="2295000"/>
            <a:ext cx="4288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Even one word + because is okay.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Shape 7"/>
          <p:cNvSpPr/>
          <p:nvPr/>
        </p:nvSpPr>
        <p:spPr>
          <a:xfrm>
            <a:off x="6400800" y="1508760"/>
            <a:ext cx="4800240" cy="1508400"/>
          </a:xfrm>
          <a:prstGeom prst="roundRect">
            <a:avLst>
              <a:gd name="adj" fmla="val 8485"/>
            </a:avLst>
          </a:prstGeom>
          <a:solidFill>
            <a:srgbClr val="dff7ef"/>
          </a:solidFill>
          <a:ln w="1512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 8"/>
          <p:cNvSpPr/>
          <p:nvPr/>
        </p:nvSpPr>
        <p:spPr>
          <a:xfrm>
            <a:off x="6629400" y="171000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🤝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 9"/>
          <p:cNvSpPr/>
          <p:nvPr/>
        </p:nvSpPr>
        <p:spPr>
          <a:xfrm>
            <a:off x="7150680" y="176472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Respect different likes.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 10"/>
          <p:cNvSpPr/>
          <p:nvPr/>
        </p:nvSpPr>
        <p:spPr>
          <a:xfrm>
            <a:off x="6656760" y="2295000"/>
            <a:ext cx="4288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We do not laugh at opinions.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Shape 11"/>
          <p:cNvSpPr/>
          <p:nvPr/>
        </p:nvSpPr>
        <p:spPr>
          <a:xfrm>
            <a:off x="822960" y="3474720"/>
            <a:ext cx="4800240" cy="1508400"/>
          </a:xfrm>
          <a:prstGeom prst="roundRect">
            <a:avLst>
              <a:gd name="adj" fmla="val 8485"/>
            </a:avLst>
          </a:prstGeom>
          <a:solidFill>
            <a:srgbClr val="fff3c4"/>
          </a:solidFill>
          <a:ln w="15120">
            <a:solidFill>
              <a:srgbClr val="ffb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Text 12"/>
          <p:cNvSpPr/>
          <p:nvPr/>
        </p:nvSpPr>
        <p:spPr>
          <a:xfrm>
            <a:off x="1051560" y="367596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👂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Text 13"/>
          <p:cNvSpPr/>
          <p:nvPr/>
        </p:nvSpPr>
        <p:spPr>
          <a:xfrm>
            <a:off x="1572840" y="373068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Ask “Why?” kindly.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 14"/>
          <p:cNvSpPr/>
          <p:nvPr/>
        </p:nvSpPr>
        <p:spPr>
          <a:xfrm>
            <a:off x="1078920" y="4260960"/>
            <a:ext cx="4288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Listen to the reason.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Shape 15"/>
          <p:cNvSpPr/>
          <p:nvPr/>
        </p:nvSpPr>
        <p:spPr>
          <a:xfrm>
            <a:off x="6400800" y="3474720"/>
            <a:ext cx="4800240" cy="1508400"/>
          </a:xfrm>
          <a:prstGeom prst="roundRect">
            <a:avLst>
              <a:gd name="adj" fmla="val 8485"/>
            </a:avLst>
          </a:prstGeom>
          <a:solidFill>
            <a:srgbClr val="ffe6ee"/>
          </a:solidFill>
          <a:ln w="15120">
            <a:solidFill>
              <a:srgbClr val="ef47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Text 16"/>
          <p:cNvSpPr/>
          <p:nvPr/>
        </p:nvSpPr>
        <p:spPr>
          <a:xfrm>
            <a:off x="6629400" y="367596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⭐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Text 17"/>
          <p:cNvSpPr/>
          <p:nvPr/>
        </p:nvSpPr>
        <p:spPr>
          <a:xfrm>
            <a:off x="7150680" y="3730680"/>
            <a:ext cx="3840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Mistakes help us learn.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Text 18"/>
          <p:cNvSpPr/>
          <p:nvPr/>
        </p:nvSpPr>
        <p:spPr>
          <a:xfrm>
            <a:off x="6656760" y="4260960"/>
            <a:ext cx="4288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Try again with a smile.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Text 19"/>
          <p:cNvSpPr/>
          <p:nvPr/>
        </p:nvSpPr>
        <p:spPr>
          <a:xfrm>
            <a:off x="2194560" y="5577840"/>
            <a:ext cx="7680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ef476f"/>
                </a:solidFill>
                <a:effectLst/>
                <a:uFillTx/>
                <a:latin typeface="Aptos Display"/>
                <a:ea typeface="Aptos Display"/>
              </a:rPr>
              <a:t>Class chant: “Like it. Say why. Listen. Smile.”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Text 20"/>
          <p:cNvSpPr/>
          <p:nvPr/>
        </p:nvSpPr>
        <p:spPr>
          <a:xfrm>
            <a:off x="502920" y="6583680"/>
            <a:ext cx="5668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Likes and Reasons · Day 4 · Speaking &amp; Listening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 21"/>
          <p:cNvSpPr/>
          <p:nvPr/>
        </p:nvSpPr>
        <p:spPr>
          <a:xfrm>
            <a:off x="11585520" y="6583680"/>
            <a:ext cx="273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22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Shape 0"/>
          <p:cNvSpPr/>
          <p:nvPr/>
        </p:nvSpPr>
        <p:spPr>
          <a:xfrm>
            <a:off x="0" y="6546960"/>
            <a:ext cx="12191400" cy="360"/>
          </a:xfrm>
          <a:prstGeom prst="line">
            <a:avLst/>
          </a:prstGeom>
          <a:ln w="12600">
            <a:solidFill>
              <a:srgbClr val="bde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 1"/>
          <p:cNvSpPr/>
          <p:nvPr/>
        </p:nvSpPr>
        <p:spPr>
          <a:xfrm>
            <a:off x="502920" y="329040"/>
            <a:ext cx="6217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Speaking Passport: Day 4 Stamp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Text 2"/>
          <p:cNvSpPr/>
          <p:nvPr/>
        </p:nvSpPr>
        <p:spPr>
          <a:xfrm>
            <a:off x="539640" y="914400"/>
            <a:ext cx="7497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Self-check at the end.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Text 3"/>
          <p:cNvSpPr/>
          <p:nvPr/>
        </p:nvSpPr>
        <p:spPr>
          <a:xfrm>
            <a:off x="868680" y="1371600"/>
            <a:ext cx="30171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Today I can…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Shape 4"/>
          <p:cNvSpPr/>
          <p:nvPr/>
        </p:nvSpPr>
        <p:spPr>
          <a:xfrm>
            <a:off x="914400" y="1828800"/>
            <a:ext cx="4571640" cy="959760"/>
          </a:xfrm>
          <a:prstGeom prst="roundRect">
            <a:avLst>
              <a:gd name="adj" fmla="val 13333"/>
            </a:avLst>
          </a:prstGeom>
          <a:solidFill>
            <a:srgbClr val="ddf3ff"/>
          </a:solidFill>
          <a:ln w="1512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 5"/>
          <p:cNvSpPr/>
          <p:nvPr/>
        </p:nvSpPr>
        <p:spPr>
          <a:xfrm>
            <a:off x="1143000" y="203004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❤️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Text 6"/>
          <p:cNvSpPr/>
          <p:nvPr/>
        </p:nvSpPr>
        <p:spPr>
          <a:xfrm>
            <a:off x="1664280" y="2084760"/>
            <a:ext cx="3611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say what I like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Text 7"/>
          <p:cNvSpPr/>
          <p:nvPr/>
        </p:nvSpPr>
        <p:spPr>
          <a:xfrm>
            <a:off x="1170360" y="2615040"/>
            <a:ext cx="405972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250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I like drawing.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Shape 8"/>
          <p:cNvSpPr/>
          <p:nvPr/>
        </p:nvSpPr>
        <p:spPr>
          <a:xfrm>
            <a:off x="6217920" y="1828800"/>
            <a:ext cx="4571640" cy="959760"/>
          </a:xfrm>
          <a:prstGeom prst="roundRect">
            <a:avLst>
              <a:gd name="adj" fmla="val 13333"/>
            </a:avLst>
          </a:prstGeom>
          <a:solidFill>
            <a:srgbClr val="dff7ef"/>
          </a:solidFill>
          <a:ln w="1512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Text 9"/>
          <p:cNvSpPr/>
          <p:nvPr/>
        </p:nvSpPr>
        <p:spPr>
          <a:xfrm>
            <a:off x="6446520" y="203004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❓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Text 10"/>
          <p:cNvSpPr/>
          <p:nvPr/>
        </p:nvSpPr>
        <p:spPr>
          <a:xfrm>
            <a:off x="6967800" y="2084760"/>
            <a:ext cx="3611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ask a friend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Text 11"/>
          <p:cNvSpPr/>
          <p:nvPr/>
        </p:nvSpPr>
        <p:spPr>
          <a:xfrm>
            <a:off x="6473880" y="2615040"/>
            <a:ext cx="405972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250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What do you like?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Shape 12"/>
          <p:cNvSpPr/>
          <p:nvPr/>
        </p:nvSpPr>
        <p:spPr>
          <a:xfrm>
            <a:off x="914400" y="3246120"/>
            <a:ext cx="4571640" cy="959760"/>
          </a:xfrm>
          <a:prstGeom prst="roundRect">
            <a:avLst>
              <a:gd name="adj" fmla="val 13333"/>
            </a:avLst>
          </a:prstGeom>
          <a:solidFill>
            <a:srgbClr val="fff3c4"/>
          </a:solidFill>
          <a:ln w="15120">
            <a:solidFill>
              <a:srgbClr val="ffb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Text 13"/>
          <p:cNvSpPr/>
          <p:nvPr/>
        </p:nvSpPr>
        <p:spPr>
          <a:xfrm>
            <a:off x="1143000" y="344736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💡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 14"/>
          <p:cNvSpPr/>
          <p:nvPr/>
        </p:nvSpPr>
        <p:spPr>
          <a:xfrm>
            <a:off x="1664280" y="3502080"/>
            <a:ext cx="3611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ask for a reason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Text 15"/>
          <p:cNvSpPr/>
          <p:nvPr/>
        </p:nvSpPr>
        <p:spPr>
          <a:xfrm>
            <a:off x="1170360" y="4032360"/>
            <a:ext cx="405972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250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Why?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Shape 16"/>
          <p:cNvSpPr/>
          <p:nvPr/>
        </p:nvSpPr>
        <p:spPr>
          <a:xfrm>
            <a:off x="6217920" y="3246120"/>
            <a:ext cx="4571640" cy="959760"/>
          </a:xfrm>
          <a:prstGeom prst="roundRect">
            <a:avLst>
              <a:gd name="adj" fmla="val 13333"/>
            </a:avLst>
          </a:prstGeom>
          <a:solidFill>
            <a:srgbClr val="ffe6ee"/>
          </a:solidFill>
          <a:ln w="15120">
            <a:solidFill>
              <a:srgbClr val="ef47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 17"/>
          <p:cNvSpPr/>
          <p:nvPr/>
        </p:nvSpPr>
        <p:spPr>
          <a:xfrm>
            <a:off x="6446520" y="344736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✅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 18"/>
          <p:cNvSpPr/>
          <p:nvPr/>
        </p:nvSpPr>
        <p:spPr>
          <a:xfrm>
            <a:off x="6967800" y="3502080"/>
            <a:ext cx="3611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give a reason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Text 19"/>
          <p:cNvSpPr/>
          <p:nvPr/>
        </p:nvSpPr>
        <p:spPr>
          <a:xfrm>
            <a:off x="6473880" y="4032360"/>
            <a:ext cx="405972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 fontScale="250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because it is fun.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Text 20"/>
          <p:cNvSpPr/>
          <p:nvPr/>
        </p:nvSpPr>
        <p:spPr>
          <a:xfrm>
            <a:off x="1325880" y="5303520"/>
            <a:ext cx="96008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ef476f"/>
                </a:solidFill>
                <a:effectLst/>
                <a:uFillTx/>
                <a:latin typeface="Aptos Display"/>
                <a:ea typeface="Aptos Display"/>
              </a:rPr>
              <a:t>Circle one:  🙂 I can do it   😐 I need practice   🙁 I need help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Text 21"/>
          <p:cNvSpPr/>
          <p:nvPr/>
        </p:nvSpPr>
        <p:spPr>
          <a:xfrm>
            <a:off x="502920" y="6583680"/>
            <a:ext cx="5668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Likes and Reasons · Day 4 · Speaking &amp; Listening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 22"/>
          <p:cNvSpPr/>
          <p:nvPr/>
        </p:nvSpPr>
        <p:spPr>
          <a:xfrm>
            <a:off x="11585520" y="6583680"/>
            <a:ext cx="273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23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Shape 0"/>
          <p:cNvSpPr/>
          <p:nvPr/>
        </p:nvSpPr>
        <p:spPr>
          <a:xfrm>
            <a:off x="0" y="6546960"/>
            <a:ext cx="12191400" cy="360"/>
          </a:xfrm>
          <a:prstGeom prst="line">
            <a:avLst/>
          </a:prstGeom>
          <a:ln w="12600">
            <a:solidFill>
              <a:srgbClr val="bde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Text 1"/>
          <p:cNvSpPr/>
          <p:nvPr/>
        </p:nvSpPr>
        <p:spPr>
          <a:xfrm>
            <a:off x="502920" y="329040"/>
            <a:ext cx="6217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Exit Ticket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 2"/>
          <p:cNvSpPr/>
          <p:nvPr/>
        </p:nvSpPr>
        <p:spPr>
          <a:xfrm>
            <a:off x="539640" y="914400"/>
            <a:ext cx="7497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A quick closing routine.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Shape 3"/>
          <p:cNvSpPr/>
          <p:nvPr/>
        </p:nvSpPr>
        <p:spPr>
          <a:xfrm>
            <a:off x="1051560" y="1508760"/>
            <a:ext cx="2971440" cy="3108600"/>
          </a:xfrm>
          <a:prstGeom prst="roundRect">
            <a:avLst>
              <a:gd name="adj" fmla="val 4308"/>
            </a:avLst>
          </a:prstGeom>
          <a:solidFill>
            <a:srgbClr val="ddf3ff"/>
          </a:solidFill>
          <a:ln w="1512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Text 4"/>
          <p:cNvSpPr/>
          <p:nvPr/>
        </p:nvSpPr>
        <p:spPr>
          <a:xfrm>
            <a:off x="1280160" y="171000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💬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Text 5"/>
          <p:cNvSpPr/>
          <p:nvPr/>
        </p:nvSpPr>
        <p:spPr>
          <a:xfrm>
            <a:off x="1801440" y="1764720"/>
            <a:ext cx="2011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Say one like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Text 6"/>
          <p:cNvSpPr/>
          <p:nvPr/>
        </p:nvSpPr>
        <p:spPr>
          <a:xfrm>
            <a:off x="1307520" y="2295000"/>
            <a:ext cx="2459520" cy="21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“I like music.”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Shape 7"/>
          <p:cNvSpPr/>
          <p:nvPr/>
        </p:nvSpPr>
        <p:spPr>
          <a:xfrm>
            <a:off x="4617720" y="1508760"/>
            <a:ext cx="2971440" cy="3108600"/>
          </a:xfrm>
          <a:prstGeom prst="roundRect">
            <a:avLst>
              <a:gd name="adj" fmla="val 4308"/>
            </a:avLst>
          </a:prstGeom>
          <a:solidFill>
            <a:srgbClr val="fff3c4"/>
          </a:solidFill>
          <a:ln w="15120">
            <a:solidFill>
              <a:srgbClr val="ffb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Text 8"/>
          <p:cNvSpPr/>
          <p:nvPr/>
        </p:nvSpPr>
        <p:spPr>
          <a:xfrm>
            <a:off x="4846320" y="171000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💡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 9"/>
          <p:cNvSpPr/>
          <p:nvPr/>
        </p:nvSpPr>
        <p:spPr>
          <a:xfrm>
            <a:off x="5367600" y="1764720"/>
            <a:ext cx="2011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Give one reason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Text 10"/>
          <p:cNvSpPr/>
          <p:nvPr/>
        </p:nvSpPr>
        <p:spPr>
          <a:xfrm>
            <a:off x="4873680" y="2295000"/>
            <a:ext cx="2459520" cy="21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“because it is cool.”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Shape 11"/>
          <p:cNvSpPr/>
          <p:nvPr/>
        </p:nvSpPr>
        <p:spPr>
          <a:xfrm>
            <a:off x="8183880" y="1508760"/>
            <a:ext cx="2971440" cy="3108600"/>
          </a:xfrm>
          <a:prstGeom prst="roundRect">
            <a:avLst>
              <a:gd name="adj" fmla="val 4308"/>
            </a:avLst>
          </a:prstGeom>
          <a:solidFill>
            <a:srgbClr val="dff7ef"/>
          </a:solidFill>
          <a:ln w="1512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Text 12"/>
          <p:cNvSpPr/>
          <p:nvPr/>
        </p:nvSpPr>
        <p:spPr>
          <a:xfrm>
            <a:off x="8412480" y="171000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👥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Text 13"/>
          <p:cNvSpPr/>
          <p:nvPr/>
        </p:nvSpPr>
        <p:spPr>
          <a:xfrm>
            <a:off x="8933760" y="1764720"/>
            <a:ext cx="2011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775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Tell one friend fact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Text 14"/>
          <p:cNvSpPr/>
          <p:nvPr/>
        </p:nvSpPr>
        <p:spPr>
          <a:xfrm>
            <a:off x="8439840" y="2295000"/>
            <a:ext cx="2459520" cy="214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“Mina likes art.”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Text 15"/>
          <p:cNvSpPr/>
          <p:nvPr/>
        </p:nvSpPr>
        <p:spPr>
          <a:xfrm>
            <a:off x="2011680" y="544068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Teacher says goodbye using each student’s name when possible.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Text 16"/>
          <p:cNvSpPr/>
          <p:nvPr/>
        </p:nvSpPr>
        <p:spPr>
          <a:xfrm>
            <a:off x="502920" y="6583680"/>
            <a:ext cx="5668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Likes and Reasons · Day 4 · Speaking &amp; Listening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Text 17"/>
          <p:cNvSpPr/>
          <p:nvPr/>
        </p:nvSpPr>
        <p:spPr>
          <a:xfrm>
            <a:off x="11585520" y="6583680"/>
            <a:ext cx="273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24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Shape 0"/>
          <p:cNvSpPr/>
          <p:nvPr/>
        </p:nvSpPr>
        <p:spPr>
          <a:xfrm>
            <a:off x="0" y="6546960"/>
            <a:ext cx="12191400" cy="360"/>
          </a:xfrm>
          <a:prstGeom prst="line">
            <a:avLst/>
          </a:prstGeom>
          <a:ln w="12600">
            <a:solidFill>
              <a:srgbClr val="bde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Text 1"/>
          <p:cNvSpPr/>
          <p:nvPr/>
        </p:nvSpPr>
        <p:spPr>
          <a:xfrm>
            <a:off x="502920" y="329040"/>
            <a:ext cx="6217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Teacher Quick Assessment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Text 2"/>
          <p:cNvSpPr/>
          <p:nvPr/>
        </p:nvSpPr>
        <p:spPr>
          <a:xfrm>
            <a:off x="539640" y="914400"/>
            <a:ext cx="7497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Use this to understand your students after class 4.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Shape 3"/>
          <p:cNvSpPr/>
          <p:nvPr/>
        </p:nvSpPr>
        <p:spPr>
          <a:xfrm>
            <a:off x="640080" y="1280160"/>
            <a:ext cx="4617360" cy="3520080"/>
          </a:xfrm>
          <a:prstGeom prst="roundRect">
            <a:avLst>
              <a:gd name="adj" fmla="val 4416"/>
            </a:avLst>
          </a:prstGeom>
          <a:solidFill>
            <a:srgbClr val="ffffff"/>
          </a:solidFill>
          <a:ln w="12600">
            <a:solidFill>
              <a:srgbClr val="cbe9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6" name="Image 0" descr="/mnt/data/a_colorful_cartoon_illustration_of_a_lively_elemen_batch_5.png"/>
          <p:cNvPicPr/>
          <p:nvPr/>
        </p:nvPicPr>
        <p:blipFill>
          <a:blip r:embed="rId1"/>
          <a:srcRect l="501" t="0" r="501" b="0"/>
          <a:stretch/>
        </p:blipFill>
        <p:spPr>
          <a:xfrm>
            <a:off x="685800" y="1325880"/>
            <a:ext cx="4525920" cy="3428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7" name="Text 4"/>
          <p:cNvSpPr/>
          <p:nvPr/>
        </p:nvSpPr>
        <p:spPr>
          <a:xfrm>
            <a:off x="685800" y="4827960"/>
            <a:ext cx="4525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New image: survey speaking activity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Shape 5"/>
          <p:cNvSpPr/>
          <p:nvPr/>
        </p:nvSpPr>
        <p:spPr>
          <a:xfrm>
            <a:off x="5577840" y="1417320"/>
            <a:ext cx="2102760" cy="529920"/>
          </a:xfrm>
          <a:prstGeom prst="roundRect">
            <a:avLst>
              <a:gd name="adj" fmla="val 8621"/>
            </a:avLst>
          </a:prstGeom>
          <a:solidFill>
            <a:srgbClr val="173a52"/>
          </a:solidFill>
          <a:ln w="12600">
            <a:solidFill>
              <a:srgbClr val="173a5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9" name="Text 6"/>
          <p:cNvSpPr/>
          <p:nvPr/>
        </p:nvSpPr>
        <p:spPr>
          <a:xfrm>
            <a:off x="5577840" y="1600200"/>
            <a:ext cx="21027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80" strike="noStrike" u="non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Student name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Shape 7"/>
          <p:cNvSpPr/>
          <p:nvPr/>
        </p:nvSpPr>
        <p:spPr>
          <a:xfrm>
            <a:off x="7818120" y="1417320"/>
            <a:ext cx="1325520" cy="529920"/>
          </a:xfrm>
          <a:prstGeom prst="roundRect">
            <a:avLst>
              <a:gd name="adj" fmla="val 8621"/>
            </a:avLst>
          </a:prstGeom>
          <a:solidFill>
            <a:srgbClr val="173a52"/>
          </a:solidFill>
          <a:ln w="12600">
            <a:solidFill>
              <a:srgbClr val="173a5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1" name="Text 8"/>
          <p:cNvSpPr/>
          <p:nvPr/>
        </p:nvSpPr>
        <p:spPr>
          <a:xfrm>
            <a:off x="7818120" y="1600200"/>
            <a:ext cx="132552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80" strike="noStrike" u="non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Can say like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Shape 9"/>
          <p:cNvSpPr/>
          <p:nvPr/>
        </p:nvSpPr>
        <p:spPr>
          <a:xfrm>
            <a:off x="9281160" y="1417320"/>
            <a:ext cx="1508400" cy="529920"/>
          </a:xfrm>
          <a:prstGeom prst="roundRect">
            <a:avLst>
              <a:gd name="adj" fmla="val 8621"/>
            </a:avLst>
          </a:prstGeom>
          <a:solidFill>
            <a:srgbClr val="173a52"/>
          </a:solidFill>
          <a:ln w="12600">
            <a:solidFill>
              <a:srgbClr val="173a5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3" name="Text 10"/>
          <p:cNvSpPr/>
          <p:nvPr/>
        </p:nvSpPr>
        <p:spPr>
          <a:xfrm>
            <a:off x="9281160" y="1600200"/>
            <a:ext cx="150840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80" strike="noStrike" u="non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Can give reason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Shape 11"/>
          <p:cNvSpPr/>
          <p:nvPr/>
        </p:nvSpPr>
        <p:spPr>
          <a:xfrm>
            <a:off x="10927080" y="1417320"/>
            <a:ext cx="959760" cy="529920"/>
          </a:xfrm>
          <a:prstGeom prst="roundRect">
            <a:avLst>
              <a:gd name="adj" fmla="val 8621"/>
            </a:avLst>
          </a:prstGeom>
          <a:solidFill>
            <a:srgbClr val="173a52"/>
          </a:solidFill>
          <a:ln w="12600">
            <a:solidFill>
              <a:srgbClr val="173a5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5" name="Text 12"/>
          <p:cNvSpPr/>
          <p:nvPr/>
        </p:nvSpPr>
        <p:spPr>
          <a:xfrm>
            <a:off x="10927080" y="1600200"/>
            <a:ext cx="959760" cy="14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85000"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80" strike="noStrike" u="non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Support needed</a:t>
            </a:r>
            <a:endParaRPr b="0" lang="en-US" sz="10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Shape 13"/>
          <p:cNvSpPr/>
          <p:nvPr/>
        </p:nvSpPr>
        <p:spPr>
          <a:xfrm>
            <a:off x="5577840" y="2148840"/>
            <a:ext cx="2102760" cy="475200"/>
          </a:xfrm>
          <a:prstGeom prst="roundRect">
            <a:avLst>
              <a:gd name="adj" fmla="val 9615"/>
            </a:avLst>
          </a:prstGeom>
          <a:solidFill>
            <a:srgbClr val="ddf3ff"/>
          </a:solidFill>
          <a:ln w="10080">
            <a:solidFill>
              <a:srgbClr val="d8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Shape 14"/>
          <p:cNvSpPr/>
          <p:nvPr/>
        </p:nvSpPr>
        <p:spPr>
          <a:xfrm>
            <a:off x="7818120" y="2148840"/>
            <a:ext cx="1325520" cy="475200"/>
          </a:xfrm>
          <a:prstGeom prst="roundRect">
            <a:avLst>
              <a:gd name="adj" fmla="val 9615"/>
            </a:avLst>
          </a:prstGeom>
          <a:solidFill>
            <a:srgbClr val="ddf3ff"/>
          </a:solidFill>
          <a:ln w="10080">
            <a:solidFill>
              <a:srgbClr val="d8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Shape 15"/>
          <p:cNvSpPr/>
          <p:nvPr/>
        </p:nvSpPr>
        <p:spPr>
          <a:xfrm>
            <a:off x="9281160" y="2148840"/>
            <a:ext cx="1508400" cy="475200"/>
          </a:xfrm>
          <a:prstGeom prst="roundRect">
            <a:avLst>
              <a:gd name="adj" fmla="val 9615"/>
            </a:avLst>
          </a:prstGeom>
          <a:solidFill>
            <a:srgbClr val="ddf3ff"/>
          </a:solidFill>
          <a:ln w="10080">
            <a:solidFill>
              <a:srgbClr val="d8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Shape 16"/>
          <p:cNvSpPr/>
          <p:nvPr/>
        </p:nvSpPr>
        <p:spPr>
          <a:xfrm>
            <a:off x="10927080" y="2148840"/>
            <a:ext cx="959760" cy="475200"/>
          </a:xfrm>
          <a:prstGeom prst="roundRect">
            <a:avLst>
              <a:gd name="adj" fmla="val 9615"/>
            </a:avLst>
          </a:prstGeom>
          <a:solidFill>
            <a:srgbClr val="ddf3ff"/>
          </a:solidFill>
          <a:ln w="10080">
            <a:solidFill>
              <a:srgbClr val="d8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Shape 17"/>
          <p:cNvSpPr/>
          <p:nvPr/>
        </p:nvSpPr>
        <p:spPr>
          <a:xfrm>
            <a:off x="5577840" y="2834640"/>
            <a:ext cx="2102760" cy="475200"/>
          </a:xfrm>
          <a:prstGeom prst="roundRect">
            <a:avLst>
              <a:gd name="adj" fmla="val 9615"/>
            </a:avLst>
          </a:prstGeom>
          <a:solidFill>
            <a:srgbClr val="dff7ef"/>
          </a:solidFill>
          <a:ln w="10080">
            <a:solidFill>
              <a:srgbClr val="d8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Shape 18"/>
          <p:cNvSpPr/>
          <p:nvPr/>
        </p:nvSpPr>
        <p:spPr>
          <a:xfrm>
            <a:off x="7818120" y="2834640"/>
            <a:ext cx="1325520" cy="475200"/>
          </a:xfrm>
          <a:prstGeom prst="roundRect">
            <a:avLst>
              <a:gd name="adj" fmla="val 9615"/>
            </a:avLst>
          </a:prstGeom>
          <a:solidFill>
            <a:srgbClr val="dff7ef"/>
          </a:solidFill>
          <a:ln w="10080">
            <a:solidFill>
              <a:srgbClr val="d8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Shape 19"/>
          <p:cNvSpPr/>
          <p:nvPr/>
        </p:nvSpPr>
        <p:spPr>
          <a:xfrm>
            <a:off x="9281160" y="2834640"/>
            <a:ext cx="1508400" cy="475200"/>
          </a:xfrm>
          <a:prstGeom prst="roundRect">
            <a:avLst>
              <a:gd name="adj" fmla="val 9615"/>
            </a:avLst>
          </a:prstGeom>
          <a:solidFill>
            <a:srgbClr val="dff7ef"/>
          </a:solidFill>
          <a:ln w="10080">
            <a:solidFill>
              <a:srgbClr val="d8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Shape 20"/>
          <p:cNvSpPr/>
          <p:nvPr/>
        </p:nvSpPr>
        <p:spPr>
          <a:xfrm>
            <a:off x="10927080" y="2834640"/>
            <a:ext cx="959760" cy="475200"/>
          </a:xfrm>
          <a:prstGeom prst="roundRect">
            <a:avLst>
              <a:gd name="adj" fmla="val 9615"/>
            </a:avLst>
          </a:prstGeom>
          <a:solidFill>
            <a:srgbClr val="dff7ef"/>
          </a:solidFill>
          <a:ln w="10080">
            <a:solidFill>
              <a:srgbClr val="d8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Shape 21"/>
          <p:cNvSpPr/>
          <p:nvPr/>
        </p:nvSpPr>
        <p:spPr>
          <a:xfrm>
            <a:off x="5577840" y="3520440"/>
            <a:ext cx="2102760" cy="475200"/>
          </a:xfrm>
          <a:prstGeom prst="roundRect">
            <a:avLst>
              <a:gd name="adj" fmla="val 9615"/>
            </a:avLst>
          </a:prstGeom>
          <a:solidFill>
            <a:srgbClr val="fff3c4"/>
          </a:solidFill>
          <a:ln w="10080">
            <a:solidFill>
              <a:srgbClr val="d8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Shape 22"/>
          <p:cNvSpPr/>
          <p:nvPr/>
        </p:nvSpPr>
        <p:spPr>
          <a:xfrm>
            <a:off x="7818120" y="3520440"/>
            <a:ext cx="1325520" cy="475200"/>
          </a:xfrm>
          <a:prstGeom prst="roundRect">
            <a:avLst>
              <a:gd name="adj" fmla="val 9615"/>
            </a:avLst>
          </a:prstGeom>
          <a:solidFill>
            <a:srgbClr val="fff3c4"/>
          </a:solidFill>
          <a:ln w="10080">
            <a:solidFill>
              <a:srgbClr val="d8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Shape 23"/>
          <p:cNvSpPr/>
          <p:nvPr/>
        </p:nvSpPr>
        <p:spPr>
          <a:xfrm>
            <a:off x="9281160" y="3520440"/>
            <a:ext cx="1508400" cy="475200"/>
          </a:xfrm>
          <a:prstGeom prst="roundRect">
            <a:avLst>
              <a:gd name="adj" fmla="val 9615"/>
            </a:avLst>
          </a:prstGeom>
          <a:solidFill>
            <a:srgbClr val="fff3c4"/>
          </a:solidFill>
          <a:ln w="10080">
            <a:solidFill>
              <a:srgbClr val="d8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Shape 24"/>
          <p:cNvSpPr/>
          <p:nvPr/>
        </p:nvSpPr>
        <p:spPr>
          <a:xfrm>
            <a:off x="10927080" y="3520440"/>
            <a:ext cx="959760" cy="475200"/>
          </a:xfrm>
          <a:prstGeom prst="roundRect">
            <a:avLst>
              <a:gd name="adj" fmla="val 9615"/>
            </a:avLst>
          </a:prstGeom>
          <a:solidFill>
            <a:srgbClr val="fff3c4"/>
          </a:solidFill>
          <a:ln w="10080">
            <a:solidFill>
              <a:srgbClr val="d8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Shape 25"/>
          <p:cNvSpPr/>
          <p:nvPr/>
        </p:nvSpPr>
        <p:spPr>
          <a:xfrm>
            <a:off x="5577840" y="4206240"/>
            <a:ext cx="2102760" cy="475200"/>
          </a:xfrm>
          <a:prstGeom prst="roundRect">
            <a:avLst>
              <a:gd name="adj" fmla="val 9615"/>
            </a:avLst>
          </a:prstGeom>
          <a:solidFill>
            <a:srgbClr val="ffe6ee"/>
          </a:solidFill>
          <a:ln w="10080">
            <a:solidFill>
              <a:srgbClr val="d8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Shape 26"/>
          <p:cNvSpPr/>
          <p:nvPr/>
        </p:nvSpPr>
        <p:spPr>
          <a:xfrm>
            <a:off x="7818120" y="4206240"/>
            <a:ext cx="1325520" cy="475200"/>
          </a:xfrm>
          <a:prstGeom prst="roundRect">
            <a:avLst>
              <a:gd name="adj" fmla="val 9615"/>
            </a:avLst>
          </a:prstGeom>
          <a:solidFill>
            <a:srgbClr val="ffe6ee"/>
          </a:solidFill>
          <a:ln w="10080">
            <a:solidFill>
              <a:srgbClr val="d8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Shape 27"/>
          <p:cNvSpPr/>
          <p:nvPr/>
        </p:nvSpPr>
        <p:spPr>
          <a:xfrm>
            <a:off x="9281160" y="4206240"/>
            <a:ext cx="1508400" cy="475200"/>
          </a:xfrm>
          <a:prstGeom prst="roundRect">
            <a:avLst>
              <a:gd name="adj" fmla="val 9615"/>
            </a:avLst>
          </a:prstGeom>
          <a:solidFill>
            <a:srgbClr val="ffe6ee"/>
          </a:solidFill>
          <a:ln w="10080">
            <a:solidFill>
              <a:srgbClr val="d8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Shape 28"/>
          <p:cNvSpPr/>
          <p:nvPr/>
        </p:nvSpPr>
        <p:spPr>
          <a:xfrm>
            <a:off x="10927080" y="4206240"/>
            <a:ext cx="959760" cy="475200"/>
          </a:xfrm>
          <a:prstGeom prst="roundRect">
            <a:avLst>
              <a:gd name="adj" fmla="val 9615"/>
            </a:avLst>
          </a:prstGeom>
          <a:solidFill>
            <a:srgbClr val="ffe6ee"/>
          </a:solidFill>
          <a:ln w="10080">
            <a:solidFill>
              <a:srgbClr val="d8eaf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Text 29"/>
          <p:cNvSpPr/>
          <p:nvPr/>
        </p:nvSpPr>
        <p:spPr>
          <a:xfrm>
            <a:off x="5577840" y="5257800"/>
            <a:ext cx="6263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2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After class, group students by confidence and reason-word control.</a:t>
            </a:r>
            <a:endParaRPr b="0" lang="en-US" sz="122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Text 30"/>
          <p:cNvSpPr/>
          <p:nvPr/>
        </p:nvSpPr>
        <p:spPr>
          <a:xfrm>
            <a:off x="502920" y="6583680"/>
            <a:ext cx="5668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Likes and Reasons · Day 4 · Speaking &amp; Listening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Text 31"/>
          <p:cNvSpPr/>
          <p:nvPr/>
        </p:nvSpPr>
        <p:spPr>
          <a:xfrm>
            <a:off x="11585520" y="6583680"/>
            <a:ext cx="273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25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Shape 0"/>
          <p:cNvSpPr/>
          <p:nvPr/>
        </p:nvSpPr>
        <p:spPr>
          <a:xfrm>
            <a:off x="0" y="6546960"/>
            <a:ext cx="12191400" cy="360"/>
          </a:xfrm>
          <a:prstGeom prst="line">
            <a:avLst/>
          </a:prstGeom>
          <a:ln w="12600">
            <a:solidFill>
              <a:srgbClr val="bde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Text 1"/>
          <p:cNvSpPr/>
          <p:nvPr/>
        </p:nvSpPr>
        <p:spPr>
          <a:xfrm>
            <a:off x="502920" y="329040"/>
            <a:ext cx="6217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Printable Cards: Likes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Text 2"/>
          <p:cNvSpPr/>
          <p:nvPr/>
        </p:nvSpPr>
        <p:spPr>
          <a:xfrm>
            <a:off x="539640" y="914400"/>
            <a:ext cx="7497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Print this slide and cut into cards.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Shape 3"/>
          <p:cNvSpPr/>
          <p:nvPr/>
        </p:nvSpPr>
        <p:spPr>
          <a:xfrm>
            <a:off x="685800" y="1417320"/>
            <a:ext cx="2331360" cy="1371240"/>
          </a:xfrm>
          <a:prstGeom prst="roundRect">
            <a:avLst>
              <a:gd name="adj" fmla="val 9333"/>
            </a:avLst>
          </a:prstGeom>
          <a:solidFill>
            <a:srgbClr val="ddf3ff"/>
          </a:solidFill>
          <a:ln w="1512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Text 4"/>
          <p:cNvSpPr/>
          <p:nvPr/>
        </p:nvSpPr>
        <p:spPr>
          <a:xfrm>
            <a:off x="914400" y="161856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🍕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Text 5"/>
          <p:cNvSpPr/>
          <p:nvPr/>
        </p:nvSpPr>
        <p:spPr>
          <a:xfrm>
            <a:off x="1435680" y="167328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I like pizza.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Text 6"/>
          <p:cNvSpPr/>
          <p:nvPr/>
        </p:nvSpPr>
        <p:spPr>
          <a:xfrm>
            <a:off x="941760" y="2203560"/>
            <a:ext cx="1819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Ask: Why?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Shape 7"/>
          <p:cNvSpPr/>
          <p:nvPr/>
        </p:nvSpPr>
        <p:spPr>
          <a:xfrm>
            <a:off x="3474720" y="1417320"/>
            <a:ext cx="2331360" cy="1371240"/>
          </a:xfrm>
          <a:prstGeom prst="roundRect">
            <a:avLst>
              <a:gd name="adj" fmla="val 9333"/>
            </a:avLst>
          </a:prstGeom>
          <a:solidFill>
            <a:srgbClr val="dff7ef"/>
          </a:solidFill>
          <a:ln w="1512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Text 8"/>
          <p:cNvSpPr/>
          <p:nvPr/>
        </p:nvSpPr>
        <p:spPr>
          <a:xfrm>
            <a:off x="3703320" y="161856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⚽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Text 9"/>
          <p:cNvSpPr/>
          <p:nvPr/>
        </p:nvSpPr>
        <p:spPr>
          <a:xfrm>
            <a:off x="4224600" y="167328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I like soccer.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Text 10"/>
          <p:cNvSpPr/>
          <p:nvPr/>
        </p:nvSpPr>
        <p:spPr>
          <a:xfrm>
            <a:off x="3730680" y="2203560"/>
            <a:ext cx="1819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Ask: Why?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Shape 11"/>
          <p:cNvSpPr/>
          <p:nvPr/>
        </p:nvSpPr>
        <p:spPr>
          <a:xfrm>
            <a:off x="6263640" y="1417320"/>
            <a:ext cx="2331360" cy="1371240"/>
          </a:xfrm>
          <a:prstGeom prst="roundRect">
            <a:avLst>
              <a:gd name="adj" fmla="val 9333"/>
            </a:avLst>
          </a:prstGeom>
          <a:solidFill>
            <a:srgbClr val="fff3c4"/>
          </a:solidFill>
          <a:ln w="15120">
            <a:solidFill>
              <a:srgbClr val="ffb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Text 12"/>
          <p:cNvSpPr/>
          <p:nvPr/>
        </p:nvSpPr>
        <p:spPr>
          <a:xfrm>
            <a:off x="6492240" y="161856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🎮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Text 13"/>
          <p:cNvSpPr/>
          <p:nvPr/>
        </p:nvSpPr>
        <p:spPr>
          <a:xfrm>
            <a:off x="7013520" y="167328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I like games.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Text 14"/>
          <p:cNvSpPr/>
          <p:nvPr/>
        </p:nvSpPr>
        <p:spPr>
          <a:xfrm>
            <a:off x="6519600" y="2203560"/>
            <a:ext cx="1819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Ask: Why?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Shape 15"/>
          <p:cNvSpPr/>
          <p:nvPr/>
        </p:nvSpPr>
        <p:spPr>
          <a:xfrm>
            <a:off x="9052560" y="1417320"/>
            <a:ext cx="2331360" cy="1371240"/>
          </a:xfrm>
          <a:prstGeom prst="roundRect">
            <a:avLst>
              <a:gd name="adj" fmla="val 9333"/>
            </a:avLst>
          </a:prstGeom>
          <a:solidFill>
            <a:srgbClr val="ffe6ee"/>
          </a:solidFill>
          <a:ln w="15120">
            <a:solidFill>
              <a:srgbClr val="ef47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Text 16"/>
          <p:cNvSpPr/>
          <p:nvPr/>
        </p:nvSpPr>
        <p:spPr>
          <a:xfrm>
            <a:off x="9281160" y="161856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🎵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Text 17"/>
          <p:cNvSpPr/>
          <p:nvPr/>
        </p:nvSpPr>
        <p:spPr>
          <a:xfrm>
            <a:off x="9802440" y="167328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I like music.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Text 18"/>
          <p:cNvSpPr/>
          <p:nvPr/>
        </p:nvSpPr>
        <p:spPr>
          <a:xfrm>
            <a:off x="9308520" y="2203560"/>
            <a:ext cx="1819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Ask: Why?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Shape 19"/>
          <p:cNvSpPr/>
          <p:nvPr/>
        </p:nvSpPr>
        <p:spPr>
          <a:xfrm>
            <a:off x="685800" y="3337560"/>
            <a:ext cx="2331360" cy="1371240"/>
          </a:xfrm>
          <a:prstGeom prst="roundRect">
            <a:avLst>
              <a:gd name="adj" fmla="val 9333"/>
            </a:avLst>
          </a:prstGeom>
          <a:solidFill>
            <a:srgbClr val="ddf3ff"/>
          </a:solidFill>
          <a:ln w="1512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Text 20"/>
          <p:cNvSpPr/>
          <p:nvPr/>
        </p:nvSpPr>
        <p:spPr>
          <a:xfrm>
            <a:off x="914400" y="353880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📚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Text 21"/>
          <p:cNvSpPr/>
          <p:nvPr/>
        </p:nvSpPr>
        <p:spPr>
          <a:xfrm>
            <a:off x="1435680" y="359352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I like books.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Text 22"/>
          <p:cNvSpPr/>
          <p:nvPr/>
        </p:nvSpPr>
        <p:spPr>
          <a:xfrm>
            <a:off x="941760" y="4123800"/>
            <a:ext cx="1819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Ask: Why?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Shape 23"/>
          <p:cNvSpPr/>
          <p:nvPr/>
        </p:nvSpPr>
        <p:spPr>
          <a:xfrm>
            <a:off x="3474720" y="3337560"/>
            <a:ext cx="2331360" cy="1371240"/>
          </a:xfrm>
          <a:prstGeom prst="roundRect">
            <a:avLst>
              <a:gd name="adj" fmla="val 9333"/>
            </a:avLst>
          </a:prstGeom>
          <a:solidFill>
            <a:srgbClr val="dff7ef"/>
          </a:solidFill>
          <a:ln w="1512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Text 24"/>
          <p:cNvSpPr/>
          <p:nvPr/>
        </p:nvSpPr>
        <p:spPr>
          <a:xfrm>
            <a:off x="3703320" y="353880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🎨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Text 25"/>
          <p:cNvSpPr/>
          <p:nvPr/>
        </p:nvSpPr>
        <p:spPr>
          <a:xfrm>
            <a:off x="4224600" y="359352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I like drawing.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Text 26"/>
          <p:cNvSpPr/>
          <p:nvPr/>
        </p:nvSpPr>
        <p:spPr>
          <a:xfrm>
            <a:off x="3730680" y="4123800"/>
            <a:ext cx="1819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Ask: Why?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Shape 27"/>
          <p:cNvSpPr/>
          <p:nvPr/>
        </p:nvSpPr>
        <p:spPr>
          <a:xfrm>
            <a:off x="6263640" y="3337560"/>
            <a:ext cx="2331360" cy="1371240"/>
          </a:xfrm>
          <a:prstGeom prst="roundRect">
            <a:avLst>
              <a:gd name="adj" fmla="val 9333"/>
            </a:avLst>
          </a:prstGeom>
          <a:solidFill>
            <a:srgbClr val="fff3c4"/>
          </a:solidFill>
          <a:ln w="15120">
            <a:solidFill>
              <a:srgbClr val="ffb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Text 28"/>
          <p:cNvSpPr/>
          <p:nvPr/>
        </p:nvSpPr>
        <p:spPr>
          <a:xfrm>
            <a:off x="6492240" y="353880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🐶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Text 29"/>
          <p:cNvSpPr/>
          <p:nvPr/>
        </p:nvSpPr>
        <p:spPr>
          <a:xfrm>
            <a:off x="7013520" y="359352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I like dogs.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Text 30"/>
          <p:cNvSpPr/>
          <p:nvPr/>
        </p:nvSpPr>
        <p:spPr>
          <a:xfrm>
            <a:off x="6519600" y="4123800"/>
            <a:ext cx="1819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Ask: Why?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Shape 31"/>
          <p:cNvSpPr/>
          <p:nvPr/>
        </p:nvSpPr>
        <p:spPr>
          <a:xfrm>
            <a:off x="9052560" y="3337560"/>
            <a:ext cx="2331360" cy="1371240"/>
          </a:xfrm>
          <a:prstGeom prst="roundRect">
            <a:avLst>
              <a:gd name="adj" fmla="val 9333"/>
            </a:avLst>
          </a:prstGeom>
          <a:solidFill>
            <a:srgbClr val="efe7ff"/>
          </a:solidFill>
          <a:ln w="1512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Text 32"/>
          <p:cNvSpPr/>
          <p:nvPr/>
        </p:nvSpPr>
        <p:spPr>
          <a:xfrm>
            <a:off x="9281160" y="353880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🍦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Text 33"/>
          <p:cNvSpPr/>
          <p:nvPr/>
        </p:nvSpPr>
        <p:spPr>
          <a:xfrm>
            <a:off x="9802440" y="359352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I like ice cream.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Text 34"/>
          <p:cNvSpPr/>
          <p:nvPr/>
        </p:nvSpPr>
        <p:spPr>
          <a:xfrm>
            <a:off x="9308520" y="4123800"/>
            <a:ext cx="1819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Ask: Why?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Text 35"/>
          <p:cNvSpPr/>
          <p:nvPr/>
        </p:nvSpPr>
        <p:spPr>
          <a:xfrm>
            <a:off x="1920240" y="562356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Teacher idea: Give one card to each student. They must add “because.”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Text 36"/>
          <p:cNvSpPr/>
          <p:nvPr/>
        </p:nvSpPr>
        <p:spPr>
          <a:xfrm>
            <a:off x="502920" y="6583680"/>
            <a:ext cx="5668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Likes and Reasons · Day 4 · Speaking &amp; Listening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Text 37"/>
          <p:cNvSpPr/>
          <p:nvPr/>
        </p:nvSpPr>
        <p:spPr>
          <a:xfrm>
            <a:off x="11585520" y="6583680"/>
            <a:ext cx="273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26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Shape 0"/>
          <p:cNvSpPr/>
          <p:nvPr/>
        </p:nvSpPr>
        <p:spPr>
          <a:xfrm>
            <a:off x="0" y="6546960"/>
            <a:ext cx="12191400" cy="360"/>
          </a:xfrm>
          <a:prstGeom prst="line">
            <a:avLst/>
          </a:prstGeom>
          <a:ln w="12600">
            <a:solidFill>
              <a:srgbClr val="bde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Text 1"/>
          <p:cNvSpPr/>
          <p:nvPr/>
        </p:nvSpPr>
        <p:spPr>
          <a:xfrm>
            <a:off x="502920" y="329040"/>
            <a:ext cx="6217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Printable Cards: Reason Words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Text 2"/>
          <p:cNvSpPr/>
          <p:nvPr/>
        </p:nvSpPr>
        <p:spPr>
          <a:xfrm>
            <a:off x="539640" y="914400"/>
            <a:ext cx="7497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Students pick a reason and finish the sentence.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Shape 3"/>
          <p:cNvSpPr/>
          <p:nvPr/>
        </p:nvSpPr>
        <p:spPr>
          <a:xfrm>
            <a:off x="685800" y="1417320"/>
            <a:ext cx="2331360" cy="1371240"/>
          </a:xfrm>
          <a:prstGeom prst="roundRect">
            <a:avLst>
              <a:gd name="adj" fmla="val 9333"/>
            </a:avLst>
          </a:prstGeom>
          <a:solidFill>
            <a:srgbClr val="ddf3ff"/>
          </a:solidFill>
          <a:ln w="1512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Text 4"/>
          <p:cNvSpPr/>
          <p:nvPr/>
        </p:nvSpPr>
        <p:spPr>
          <a:xfrm>
            <a:off x="914400" y="161856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🎉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Text 5"/>
          <p:cNvSpPr/>
          <p:nvPr/>
        </p:nvSpPr>
        <p:spPr>
          <a:xfrm>
            <a:off x="1435680" y="167328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fun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Text 6"/>
          <p:cNvSpPr/>
          <p:nvPr/>
        </p:nvSpPr>
        <p:spPr>
          <a:xfrm>
            <a:off x="941760" y="2203560"/>
            <a:ext cx="1819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because it is ____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Shape 7"/>
          <p:cNvSpPr/>
          <p:nvPr/>
        </p:nvSpPr>
        <p:spPr>
          <a:xfrm>
            <a:off x="3474720" y="1417320"/>
            <a:ext cx="2331360" cy="1371240"/>
          </a:xfrm>
          <a:prstGeom prst="roundRect">
            <a:avLst>
              <a:gd name="adj" fmla="val 9333"/>
            </a:avLst>
          </a:prstGeom>
          <a:solidFill>
            <a:srgbClr val="dff7ef"/>
          </a:solidFill>
          <a:ln w="1512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Text 8"/>
          <p:cNvSpPr/>
          <p:nvPr/>
        </p:nvSpPr>
        <p:spPr>
          <a:xfrm>
            <a:off x="3703320" y="161856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😋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Text 9"/>
          <p:cNvSpPr/>
          <p:nvPr/>
        </p:nvSpPr>
        <p:spPr>
          <a:xfrm>
            <a:off x="4224600" y="167328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delicious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Text 10"/>
          <p:cNvSpPr/>
          <p:nvPr/>
        </p:nvSpPr>
        <p:spPr>
          <a:xfrm>
            <a:off x="3730680" y="2203560"/>
            <a:ext cx="1819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because it is ____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Shape 11"/>
          <p:cNvSpPr/>
          <p:nvPr/>
        </p:nvSpPr>
        <p:spPr>
          <a:xfrm>
            <a:off x="6263640" y="1417320"/>
            <a:ext cx="2331360" cy="1371240"/>
          </a:xfrm>
          <a:prstGeom prst="roundRect">
            <a:avLst>
              <a:gd name="adj" fmla="val 9333"/>
            </a:avLst>
          </a:prstGeom>
          <a:solidFill>
            <a:srgbClr val="fff3c4"/>
          </a:solidFill>
          <a:ln w="15120">
            <a:solidFill>
              <a:srgbClr val="ffb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Text 12"/>
          <p:cNvSpPr/>
          <p:nvPr/>
        </p:nvSpPr>
        <p:spPr>
          <a:xfrm>
            <a:off x="6492240" y="161856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✨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Text 13"/>
          <p:cNvSpPr/>
          <p:nvPr/>
        </p:nvSpPr>
        <p:spPr>
          <a:xfrm>
            <a:off x="7013520" y="167328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interesting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Text 14"/>
          <p:cNvSpPr/>
          <p:nvPr/>
        </p:nvSpPr>
        <p:spPr>
          <a:xfrm>
            <a:off x="6519600" y="2203560"/>
            <a:ext cx="1819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because it is ____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Shape 15"/>
          <p:cNvSpPr/>
          <p:nvPr/>
        </p:nvSpPr>
        <p:spPr>
          <a:xfrm>
            <a:off x="9052560" y="1417320"/>
            <a:ext cx="2331360" cy="1371240"/>
          </a:xfrm>
          <a:prstGeom prst="roundRect">
            <a:avLst>
              <a:gd name="adj" fmla="val 9333"/>
            </a:avLst>
          </a:prstGeom>
          <a:solidFill>
            <a:srgbClr val="ffe6ee"/>
          </a:solidFill>
          <a:ln w="15120">
            <a:solidFill>
              <a:srgbClr val="ef47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Text 16"/>
          <p:cNvSpPr/>
          <p:nvPr/>
        </p:nvSpPr>
        <p:spPr>
          <a:xfrm>
            <a:off x="9281160" y="161856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😎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Text 17"/>
          <p:cNvSpPr/>
          <p:nvPr/>
        </p:nvSpPr>
        <p:spPr>
          <a:xfrm>
            <a:off x="9802440" y="167328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cool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Text 18"/>
          <p:cNvSpPr/>
          <p:nvPr/>
        </p:nvSpPr>
        <p:spPr>
          <a:xfrm>
            <a:off x="9308520" y="2203560"/>
            <a:ext cx="1819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because it is ____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Shape 19"/>
          <p:cNvSpPr/>
          <p:nvPr/>
        </p:nvSpPr>
        <p:spPr>
          <a:xfrm>
            <a:off x="685800" y="3337560"/>
            <a:ext cx="2331360" cy="1371240"/>
          </a:xfrm>
          <a:prstGeom prst="roundRect">
            <a:avLst>
              <a:gd name="adj" fmla="val 9333"/>
            </a:avLst>
          </a:prstGeom>
          <a:solidFill>
            <a:srgbClr val="ddf3ff"/>
          </a:solidFill>
          <a:ln w="1512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3" name="Text 20"/>
          <p:cNvSpPr/>
          <p:nvPr/>
        </p:nvSpPr>
        <p:spPr>
          <a:xfrm>
            <a:off x="914400" y="353880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🧠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Text 21"/>
          <p:cNvSpPr/>
          <p:nvPr/>
        </p:nvSpPr>
        <p:spPr>
          <a:xfrm>
            <a:off x="1435680" y="359352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easy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Text 22"/>
          <p:cNvSpPr/>
          <p:nvPr/>
        </p:nvSpPr>
        <p:spPr>
          <a:xfrm>
            <a:off x="941760" y="4123800"/>
            <a:ext cx="1819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because it is ____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Shape 23"/>
          <p:cNvSpPr/>
          <p:nvPr/>
        </p:nvSpPr>
        <p:spPr>
          <a:xfrm>
            <a:off x="3474720" y="3337560"/>
            <a:ext cx="2331360" cy="1371240"/>
          </a:xfrm>
          <a:prstGeom prst="roundRect">
            <a:avLst>
              <a:gd name="adj" fmla="val 9333"/>
            </a:avLst>
          </a:prstGeom>
          <a:solidFill>
            <a:srgbClr val="dff7ef"/>
          </a:solidFill>
          <a:ln w="1512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Text 24"/>
          <p:cNvSpPr/>
          <p:nvPr/>
        </p:nvSpPr>
        <p:spPr>
          <a:xfrm>
            <a:off x="3703320" y="353880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💪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Text 25"/>
          <p:cNvSpPr/>
          <p:nvPr/>
        </p:nvSpPr>
        <p:spPr>
          <a:xfrm>
            <a:off x="4224600" y="359352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healthy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9" name="Text 26"/>
          <p:cNvSpPr/>
          <p:nvPr/>
        </p:nvSpPr>
        <p:spPr>
          <a:xfrm>
            <a:off x="3730680" y="4123800"/>
            <a:ext cx="1819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because it is ____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Shape 27"/>
          <p:cNvSpPr/>
          <p:nvPr/>
        </p:nvSpPr>
        <p:spPr>
          <a:xfrm>
            <a:off x="6263640" y="3337560"/>
            <a:ext cx="2331360" cy="1371240"/>
          </a:xfrm>
          <a:prstGeom prst="roundRect">
            <a:avLst>
              <a:gd name="adj" fmla="val 9333"/>
            </a:avLst>
          </a:prstGeom>
          <a:solidFill>
            <a:srgbClr val="fff3c4"/>
          </a:solidFill>
          <a:ln w="15120">
            <a:solidFill>
              <a:srgbClr val="ffb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Text 28"/>
          <p:cNvSpPr/>
          <p:nvPr/>
        </p:nvSpPr>
        <p:spPr>
          <a:xfrm>
            <a:off x="6492240" y="353880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🎨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Text 29"/>
          <p:cNvSpPr/>
          <p:nvPr/>
        </p:nvSpPr>
        <p:spPr>
          <a:xfrm>
            <a:off x="7013520" y="359352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creative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Text 30"/>
          <p:cNvSpPr/>
          <p:nvPr/>
        </p:nvSpPr>
        <p:spPr>
          <a:xfrm>
            <a:off x="6519600" y="4123800"/>
            <a:ext cx="1819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because it is ____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Shape 31"/>
          <p:cNvSpPr/>
          <p:nvPr/>
        </p:nvSpPr>
        <p:spPr>
          <a:xfrm>
            <a:off x="9052560" y="3337560"/>
            <a:ext cx="2331360" cy="1371240"/>
          </a:xfrm>
          <a:prstGeom prst="roundRect">
            <a:avLst>
              <a:gd name="adj" fmla="val 9333"/>
            </a:avLst>
          </a:prstGeom>
          <a:solidFill>
            <a:srgbClr val="efe7ff"/>
          </a:solidFill>
          <a:ln w="1512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Text 32"/>
          <p:cNvSpPr/>
          <p:nvPr/>
        </p:nvSpPr>
        <p:spPr>
          <a:xfrm>
            <a:off x="9281160" y="353880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🐱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Text 33"/>
          <p:cNvSpPr/>
          <p:nvPr/>
        </p:nvSpPr>
        <p:spPr>
          <a:xfrm>
            <a:off x="9802440" y="359352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cute</a:t>
            </a:r>
            <a:endParaRPr b="0" lang="en-US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Text 34"/>
          <p:cNvSpPr/>
          <p:nvPr/>
        </p:nvSpPr>
        <p:spPr>
          <a:xfrm>
            <a:off x="9308520" y="4123800"/>
            <a:ext cx="1819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because it is ____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Text 35"/>
          <p:cNvSpPr/>
          <p:nvPr/>
        </p:nvSpPr>
        <p:spPr>
          <a:xfrm>
            <a:off x="2834640" y="5623560"/>
            <a:ext cx="6583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Extension: Students create one new reason card.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Text 36"/>
          <p:cNvSpPr/>
          <p:nvPr/>
        </p:nvSpPr>
        <p:spPr>
          <a:xfrm>
            <a:off x="502920" y="6583680"/>
            <a:ext cx="5668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Likes and Reasons · Day 4 · Speaking &amp; Listening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Text 37"/>
          <p:cNvSpPr/>
          <p:nvPr/>
        </p:nvSpPr>
        <p:spPr>
          <a:xfrm>
            <a:off x="11585520" y="6583680"/>
            <a:ext cx="273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27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Shape 0"/>
          <p:cNvSpPr/>
          <p:nvPr/>
        </p:nvSpPr>
        <p:spPr>
          <a:xfrm>
            <a:off x="0" y="6546960"/>
            <a:ext cx="12191400" cy="360"/>
          </a:xfrm>
          <a:prstGeom prst="line">
            <a:avLst/>
          </a:prstGeom>
          <a:ln w="12600">
            <a:solidFill>
              <a:srgbClr val="bde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Text 1"/>
          <p:cNvSpPr/>
          <p:nvPr/>
        </p:nvSpPr>
        <p:spPr>
          <a:xfrm>
            <a:off x="502920" y="329040"/>
            <a:ext cx="6217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Printable Cards: Questions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Text 2"/>
          <p:cNvSpPr/>
          <p:nvPr/>
        </p:nvSpPr>
        <p:spPr>
          <a:xfrm>
            <a:off x="539640" y="914400"/>
            <a:ext cx="7497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Use for interviews, mingle, or small-group speaking.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Shape 3"/>
          <p:cNvSpPr/>
          <p:nvPr/>
        </p:nvSpPr>
        <p:spPr>
          <a:xfrm>
            <a:off x="685800" y="1417320"/>
            <a:ext cx="2331360" cy="1371240"/>
          </a:xfrm>
          <a:prstGeom prst="roundRect">
            <a:avLst>
              <a:gd name="adj" fmla="val 9333"/>
            </a:avLst>
          </a:prstGeom>
          <a:solidFill>
            <a:srgbClr val="ddf3ff"/>
          </a:solidFill>
          <a:ln w="1512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Text 4"/>
          <p:cNvSpPr/>
          <p:nvPr/>
        </p:nvSpPr>
        <p:spPr>
          <a:xfrm>
            <a:off x="914400" y="161856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🍕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Text 5"/>
          <p:cNvSpPr/>
          <p:nvPr/>
        </p:nvSpPr>
        <p:spPr>
          <a:xfrm>
            <a:off x="1435680" y="167328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What food do you like?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Text 6"/>
          <p:cNvSpPr/>
          <p:nvPr/>
        </p:nvSpPr>
        <p:spPr>
          <a:xfrm>
            <a:off x="941760" y="2203560"/>
            <a:ext cx="1819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Answer + because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Shape 7"/>
          <p:cNvSpPr/>
          <p:nvPr/>
        </p:nvSpPr>
        <p:spPr>
          <a:xfrm>
            <a:off x="3474720" y="1417320"/>
            <a:ext cx="2331360" cy="1371240"/>
          </a:xfrm>
          <a:prstGeom prst="roundRect">
            <a:avLst>
              <a:gd name="adj" fmla="val 9333"/>
            </a:avLst>
          </a:prstGeom>
          <a:solidFill>
            <a:srgbClr val="dff7ef"/>
          </a:solidFill>
          <a:ln w="1512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Text 8"/>
          <p:cNvSpPr/>
          <p:nvPr/>
        </p:nvSpPr>
        <p:spPr>
          <a:xfrm>
            <a:off x="3703320" y="161856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🎮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Text 9"/>
          <p:cNvSpPr/>
          <p:nvPr/>
        </p:nvSpPr>
        <p:spPr>
          <a:xfrm>
            <a:off x="4224600" y="167328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What game do you like?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Text 10"/>
          <p:cNvSpPr/>
          <p:nvPr/>
        </p:nvSpPr>
        <p:spPr>
          <a:xfrm>
            <a:off x="3730680" y="2203560"/>
            <a:ext cx="1819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Answer + because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Shape 11"/>
          <p:cNvSpPr/>
          <p:nvPr/>
        </p:nvSpPr>
        <p:spPr>
          <a:xfrm>
            <a:off x="6263640" y="1417320"/>
            <a:ext cx="2331360" cy="1371240"/>
          </a:xfrm>
          <a:prstGeom prst="roundRect">
            <a:avLst>
              <a:gd name="adj" fmla="val 9333"/>
            </a:avLst>
          </a:prstGeom>
          <a:solidFill>
            <a:srgbClr val="fff3c4"/>
          </a:solidFill>
          <a:ln w="15120">
            <a:solidFill>
              <a:srgbClr val="ffb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Text 12"/>
          <p:cNvSpPr/>
          <p:nvPr/>
        </p:nvSpPr>
        <p:spPr>
          <a:xfrm>
            <a:off x="6492240" y="161856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🎨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Text 13"/>
          <p:cNvSpPr/>
          <p:nvPr/>
        </p:nvSpPr>
        <p:spPr>
          <a:xfrm>
            <a:off x="7013520" y="167328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What activity do you like?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Text 14"/>
          <p:cNvSpPr/>
          <p:nvPr/>
        </p:nvSpPr>
        <p:spPr>
          <a:xfrm>
            <a:off x="6519600" y="2203560"/>
            <a:ext cx="1819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Answer + because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Shape 15"/>
          <p:cNvSpPr/>
          <p:nvPr/>
        </p:nvSpPr>
        <p:spPr>
          <a:xfrm>
            <a:off x="9052560" y="1417320"/>
            <a:ext cx="2331360" cy="1371240"/>
          </a:xfrm>
          <a:prstGeom prst="roundRect">
            <a:avLst>
              <a:gd name="adj" fmla="val 9333"/>
            </a:avLst>
          </a:prstGeom>
          <a:solidFill>
            <a:srgbClr val="ffe6ee"/>
          </a:solidFill>
          <a:ln w="15120">
            <a:solidFill>
              <a:srgbClr val="ef47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Text 16"/>
          <p:cNvSpPr/>
          <p:nvPr/>
        </p:nvSpPr>
        <p:spPr>
          <a:xfrm>
            <a:off x="9281160" y="161856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📚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Text 17"/>
          <p:cNvSpPr/>
          <p:nvPr/>
        </p:nvSpPr>
        <p:spPr>
          <a:xfrm>
            <a:off x="9802440" y="167328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What subject do you like?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Text 18"/>
          <p:cNvSpPr/>
          <p:nvPr/>
        </p:nvSpPr>
        <p:spPr>
          <a:xfrm>
            <a:off x="9308520" y="2203560"/>
            <a:ext cx="1819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Answer + because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Shape 19"/>
          <p:cNvSpPr/>
          <p:nvPr/>
        </p:nvSpPr>
        <p:spPr>
          <a:xfrm>
            <a:off x="685800" y="3337560"/>
            <a:ext cx="2331360" cy="1371240"/>
          </a:xfrm>
          <a:prstGeom prst="roundRect">
            <a:avLst>
              <a:gd name="adj" fmla="val 9333"/>
            </a:avLst>
          </a:prstGeom>
          <a:solidFill>
            <a:srgbClr val="ddf3ff"/>
          </a:solidFill>
          <a:ln w="1512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Text 20"/>
          <p:cNvSpPr/>
          <p:nvPr/>
        </p:nvSpPr>
        <p:spPr>
          <a:xfrm>
            <a:off x="914400" y="353880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🎵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Text 21"/>
          <p:cNvSpPr/>
          <p:nvPr/>
        </p:nvSpPr>
        <p:spPr>
          <a:xfrm>
            <a:off x="1435680" y="359352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What music do you like?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Text 22"/>
          <p:cNvSpPr/>
          <p:nvPr/>
        </p:nvSpPr>
        <p:spPr>
          <a:xfrm>
            <a:off x="941760" y="4123800"/>
            <a:ext cx="1819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Answer + because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Shape 23"/>
          <p:cNvSpPr/>
          <p:nvPr/>
        </p:nvSpPr>
        <p:spPr>
          <a:xfrm>
            <a:off x="3474720" y="3337560"/>
            <a:ext cx="2331360" cy="1371240"/>
          </a:xfrm>
          <a:prstGeom prst="roundRect">
            <a:avLst>
              <a:gd name="adj" fmla="val 9333"/>
            </a:avLst>
          </a:prstGeom>
          <a:solidFill>
            <a:srgbClr val="dff7ef"/>
          </a:solidFill>
          <a:ln w="1512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5" name="Text 24"/>
          <p:cNvSpPr/>
          <p:nvPr/>
        </p:nvSpPr>
        <p:spPr>
          <a:xfrm>
            <a:off x="3703320" y="353880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🐶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Text 25"/>
          <p:cNvSpPr/>
          <p:nvPr/>
        </p:nvSpPr>
        <p:spPr>
          <a:xfrm>
            <a:off x="4224600" y="359352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1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What animal do you like?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Text 26"/>
          <p:cNvSpPr/>
          <p:nvPr/>
        </p:nvSpPr>
        <p:spPr>
          <a:xfrm>
            <a:off x="3730680" y="4123800"/>
            <a:ext cx="1819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Answer + because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Shape 27"/>
          <p:cNvSpPr/>
          <p:nvPr/>
        </p:nvSpPr>
        <p:spPr>
          <a:xfrm>
            <a:off x="6263640" y="3337560"/>
            <a:ext cx="2331360" cy="1371240"/>
          </a:xfrm>
          <a:prstGeom prst="roundRect">
            <a:avLst>
              <a:gd name="adj" fmla="val 9333"/>
            </a:avLst>
          </a:prstGeom>
          <a:solidFill>
            <a:srgbClr val="fff3c4"/>
          </a:solidFill>
          <a:ln w="15120">
            <a:solidFill>
              <a:srgbClr val="ffb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Text 28"/>
          <p:cNvSpPr/>
          <p:nvPr/>
        </p:nvSpPr>
        <p:spPr>
          <a:xfrm>
            <a:off x="6492240" y="353880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❓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Text 29"/>
          <p:cNvSpPr/>
          <p:nvPr/>
        </p:nvSpPr>
        <p:spPr>
          <a:xfrm>
            <a:off x="7013520" y="359352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Why?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Text 30"/>
          <p:cNvSpPr/>
          <p:nvPr/>
        </p:nvSpPr>
        <p:spPr>
          <a:xfrm>
            <a:off x="6519600" y="4123800"/>
            <a:ext cx="1819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Answer + because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Shape 31"/>
          <p:cNvSpPr/>
          <p:nvPr/>
        </p:nvSpPr>
        <p:spPr>
          <a:xfrm>
            <a:off x="9052560" y="3337560"/>
            <a:ext cx="2331360" cy="1371240"/>
          </a:xfrm>
          <a:prstGeom prst="roundRect">
            <a:avLst>
              <a:gd name="adj" fmla="val 9333"/>
            </a:avLst>
          </a:prstGeom>
          <a:solidFill>
            <a:srgbClr val="efe7ff"/>
          </a:solidFill>
          <a:ln w="15120">
            <a:solidFill>
              <a:srgbClr val="8b5c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Text 32"/>
          <p:cNvSpPr/>
          <p:nvPr/>
        </p:nvSpPr>
        <p:spPr>
          <a:xfrm>
            <a:off x="9281160" y="353880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🤝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Text 33"/>
          <p:cNvSpPr/>
          <p:nvPr/>
        </p:nvSpPr>
        <p:spPr>
          <a:xfrm>
            <a:off x="9802440" y="3593520"/>
            <a:ext cx="137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92500"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Do you like it too?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Text 34"/>
          <p:cNvSpPr/>
          <p:nvPr/>
        </p:nvSpPr>
        <p:spPr>
          <a:xfrm>
            <a:off x="9308520" y="4123800"/>
            <a:ext cx="1819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Answer + because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Text 35"/>
          <p:cNvSpPr/>
          <p:nvPr/>
        </p:nvSpPr>
        <p:spPr>
          <a:xfrm>
            <a:off x="2834640" y="5623560"/>
            <a:ext cx="6583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8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Extension: Students create one new question card.</a:t>
            </a:r>
            <a:endParaRPr b="0" lang="en-US" sz="12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Text 36"/>
          <p:cNvSpPr/>
          <p:nvPr/>
        </p:nvSpPr>
        <p:spPr>
          <a:xfrm>
            <a:off x="502920" y="6583680"/>
            <a:ext cx="5668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Likes and Reasons · Day 4 · Speaking &amp; Listening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Text 37"/>
          <p:cNvSpPr/>
          <p:nvPr/>
        </p:nvSpPr>
        <p:spPr>
          <a:xfrm>
            <a:off x="11585520" y="6583680"/>
            <a:ext cx="273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28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3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Shape 0"/>
          <p:cNvSpPr/>
          <p:nvPr/>
        </p:nvSpPr>
        <p:spPr>
          <a:xfrm>
            <a:off x="0" y="6546960"/>
            <a:ext cx="12191400" cy="360"/>
          </a:xfrm>
          <a:prstGeom prst="line">
            <a:avLst/>
          </a:prstGeom>
          <a:ln w="12600">
            <a:solidFill>
              <a:srgbClr val="bde3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0" name="Text 1"/>
          <p:cNvSpPr/>
          <p:nvPr/>
        </p:nvSpPr>
        <p:spPr>
          <a:xfrm>
            <a:off x="502920" y="329040"/>
            <a:ext cx="62175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Home Practice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Text 2"/>
          <p:cNvSpPr/>
          <p:nvPr/>
        </p:nvSpPr>
        <p:spPr>
          <a:xfrm>
            <a:off x="539640" y="914400"/>
            <a:ext cx="7497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Ask someone at home 3 questions.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Shape 3"/>
          <p:cNvSpPr/>
          <p:nvPr/>
        </p:nvSpPr>
        <p:spPr>
          <a:xfrm>
            <a:off x="658440" y="1325880"/>
            <a:ext cx="10881000" cy="1096920"/>
          </a:xfrm>
          <a:prstGeom prst="roundRect">
            <a:avLst>
              <a:gd name="adj" fmla="val 11667"/>
            </a:avLst>
          </a:prstGeom>
          <a:solidFill>
            <a:srgbClr val="173a52"/>
          </a:solidFill>
          <a:ln w="12600">
            <a:solidFill>
              <a:srgbClr val="173a52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3" name="Text 4"/>
          <p:cNvSpPr/>
          <p:nvPr/>
        </p:nvSpPr>
        <p:spPr>
          <a:xfrm>
            <a:off x="822960" y="1645920"/>
            <a:ext cx="10560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trike="noStrike" u="non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Use English with family or a friend.</a:t>
            </a:r>
            <a:endParaRPr b="0" lang="en-US" sz="2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Shape 5"/>
          <p:cNvSpPr/>
          <p:nvPr/>
        </p:nvSpPr>
        <p:spPr>
          <a:xfrm>
            <a:off x="1097280" y="2788920"/>
            <a:ext cx="2880000" cy="2011320"/>
          </a:xfrm>
          <a:prstGeom prst="roundRect">
            <a:avLst>
              <a:gd name="adj" fmla="val 6364"/>
            </a:avLst>
          </a:prstGeom>
          <a:solidFill>
            <a:srgbClr val="ddf3ff"/>
          </a:solidFill>
          <a:ln w="15120">
            <a:solidFill>
              <a:srgbClr val="0ea5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5" name="Text 6"/>
          <p:cNvSpPr/>
          <p:nvPr/>
        </p:nvSpPr>
        <p:spPr>
          <a:xfrm>
            <a:off x="1325880" y="299016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🍽️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Text 7"/>
          <p:cNvSpPr/>
          <p:nvPr/>
        </p:nvSpPr>
        <p:spPr>
          <a:xfrm>
            <a:off x="1847160" y="3044880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Question 1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Text 8"/>
          <p:cNvSpPr/>
          <p:nvPr/>
        </p:nvSpPr>
        <p:spPr>
          <a:xfrm>
            <a:off x="1353240" y="3575160"/>
            <a:ext cx="23680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What food do you like? Why?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Shape 9"/>
          <p:cNvSpPr/>
          <p:nvPr/>
        </p:nvSpPr>
        <p:spPr>
          <a:xfrm>
            <a:off x="4663440" y="2788920"/>
            <a:ext cx="2880000" cy="2011320"/>
          </a:xfrm>
          <a:prstGeom prst="roundRect">
            <a:avLst>
              <a:gd name="adj" fmla="val 6364"/>
            </a:avLst>
          </a:prstGeom>
          <a:solidFill>
            <a:srgbClr val="fff3c4"/>
          </a:solidFill>
          <a:ln w="15120">
            <a:solidFill>
              <a:srgbClr val="ffb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Text 10"/>
          <p:cNvSpPr/>
          <p:nvPr/>
        </p:nvSpPr>
        <p:spPr>
          <a:xfrm>
            <a:off x="4892040" y="299016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🎵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0" name="Text 11"/>
          <p:cNvSpPr/>
          <p:nvPr/>
        </p:nvSpPr>
        <p:spPr>
          <a:xfrm>
            <a:off x="5413320" y="3044880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Question 2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Text 12"/>
          <p:cNvSpPr/>
          <p:nvPr/>
        </p:nvSpPr>
        <p:spPr>
          <a:xfrm>
            <a:off x="4919400" y="3575160"/>
            <a:ext cx="23680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What music do you like? Why?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Shape 13"/>
          <p:cNvSpPr/>
          <p:nvPr/>
        </p:nvSpPr>
        <p:spPr>
          <a:xfrm>
            <a:off x="8229600" y="2788920"/>
            <a:ext cx="2880000" cy="2011320"/>
          </a:xfrm>
          <a:prstGeom prst="roundRect">
            <a:avLst>
              <a:gd name="adj" fmla="val 6364"/>
            </a:avLst>
          </a:prstGeom>
          <a:solidFill>
            <a:srgbClr val="dff7ef"/>
          </a:solidFill>
          <a:ln w="15120">
            <a:solidFill>
              <a:srgbClr val="00a89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Text 14"/>
          <p:cNvSpPr/>
          <p:nvPr/>
        </p:nvSpPr>
        <p:spPr>
          <a:xfrm>
            <a:off x="8458200" y="2990160"/>
            <a:ext cx="411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100" strike="noStrike" u="none">
                <a:solidFill>
                  <a:srgbClr val="000000"/>
                </a:solidFill>
                <a:effectLst/>
                <a:uFillTx/>
                <a:latin typeface="Segoe UI Emoji"/>
                <a:ea typeface="Segoe UI Emoji"/>
              </a:rPr>
              <a:t>🎮</a:t>
            </a:r>
            <a:endParaRPr b="0" lang="en-US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Text 15"/>
          <p:cNvSpPr/>
          <p:nvPr/>
        </p:nvSpPr>
        <p:spPr>
          <a:xfrm>
            <a:off x="8979480" y="3044880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173a52"/>
                </a:solidFill>
                <a:effectLst/>
                <a:uFillTx/>
                <a:latin typeface="Aptos Display"/>
                <a:ea typeface="Aptos Display"/>
              </a:rPr>
              <a:t>Question 3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Text 16"/>
          <p:cNvSpPr/>
          <p:nvPr/>
        </p:nvSpPr>
        <p:spPr>
          <a:xfrm>
            <a:off x="8485560" y="3575160"/>
            <a:ext cx="2368080" cy="10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1f2a37"/>
                </a:solidFill>
                <a:effectLst/>
                <a:uFillTx/>
                <a:latin typeface="Aptos"/>
                <a:ea typeface="Aptos"/>
              </a:rPr>
              <a:t>What game do you like? Why?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Text 17"/>
          <p:cNvSpPr/>
          <p:nvPr/>
        </p:nvSpPr>
        <p:spPr>
          <a:xfrm>
            <a:off x="3108960" y="5440680"/>
            <a:ext cx="5943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ef476f"/>
                </a:solidFill>
                <a:effectLst/>
                <a:uFillTx/>
                <a:latin typeface="Aptos Display"/>
                <a:ea typeface="Aptos Display"/>
              </a:rPr>
              <a:t>Bring one answer to next class.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Text 18"/>
          <p:cNvSpPr/>
          <p:nvPr/>
        </p:nvSpPr>
        <p:spPr>
          <a:xfrm>
            <a:off x="502920" y="6583680"/>
            <a:ext cx="56689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Likes and Reasons · Day 4 · Speaking &amp; Listening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Text 19"/>
          <p:cNvSpPr/>
          <p:nvPr/>
        </p:nvSpPr>
        <p:spPr>
          <a:xfrm>
            <a:off x="11585520" y="6583680"/>
            <a:ext cx="2739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50" strike="noStrike" u="none">
                <a:solidFill>
                  <a:srgbClr val="5d6b78"/>
                </a:solidFill>
                <a:effectLst/>
                <a:uFillTx/>
                <a:latin typeface="Aptos"/>
                <a:ea typeface="Aptos"/>
              </a:rPr>
              <a:t>29</a:t>
            </a:r>
            <a:endParaRPr b="0" lang="en-US" sz="7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  <Company>OpenAI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2026-07-04T05:09:56Z</dcterms:created>
  <dc:creator>OpenAI</dc:creator>
  <dc:description/>
  <dc:language>en-US</dc:language>
  <cp:lastModifiedBy>OpenAI</cp:lastModifiedBy>
  <dcterms:modified xsi:type="dcterms:W3CDTF">2026-07-04T05:09:56Z</dcterms:modified>
  <cp:revision>1</cp:revision>
  <dc:subject>Day 4 Likes and Reasons</dc:subject>
  <dc:title>Likes and Reasons - Day 4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29</vt:r8>
  </property>
  <property fmtid="{D5CDD505-2E9C-101B-9397-08002B2CF9AE}" pid="3" name="PresentationFormat">
    <vt:lpwstr>On-screen Show (16:9)</vt:lpwstr>
  </property>
  <property fmtid="{D5CDD505-2E9C-101B-9397-08002B2CF9AE}" pid="4" name="Slides">
    <vt:r8>29</vt:r8>
  </property>
</Properties>
</file>